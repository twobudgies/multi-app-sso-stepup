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f94ca34b-9002-7cf2-3d3f-da2da73106b9}">
          <p14:sldIdLst>
            <p14:sldId id="256"/>
            <p14:sldId id="257"/>
            <p14:sldId id="258"/>
          </p14:sldIdLst>
        </p14:section>
        <p14:section name="Basics" id="{59f410eb-1b42-5218-9884-a114f72a07f8}">
          <p14:sldIdLst>
            <p14:sldId id="259"/>
            <p14:sldId id="260"/>
          </p14:sldIdLst>
        </p14:section>
        <p14:section name="Concepts" id="{1135055f-fae6-3b1c-600f-90c30d90fd24}">
          <p14:sldIdLst>
            <p14:sldId id="261"/>
            <p14:sldId id="262"/>
            <p14:sldId id="263"/>
            <p14:sldId id="264"/>
            <p14:sldId id="265"/>
            <p14:sldId id="266"/>
          </p14:sldIdLst>
        </p14:section>
        <p14:section name="Demo" id="{8ab4ee02-59c5-af0e-818f-d6cf004e2bf9}">
          <p14:sldIdLst>
            <p14:sldId id="267"/>
            <p14:sldId id="268"/>
            <p14:sldId id="269"/>
          </p14:sldIdLst>
        </p14:section>
        <p14:section name="IdP" id="{792a0a7b-2d7c-7649-c141-954a6994d448}">
          <p14:sldIdLst>
            <p14:sldId id="270"/>
          </p14:sldIdLst>
        </p14:section>
        <p14:section name="Security" id="{88851713-245a-af22-6c55-be245cdc9eca}">
          <p14:sldIdLst>
            <p14:sldId id="271"/>
            <p14:sldId id="272"/>
          </p14:sldIdLst>
        </p14:section>
        <p14:section name="Close" id="{8c646511-a3cd-04f9-b93d-f2072096501d}">
          <p14:sldIdLst>
            <p14:sldId id="273"/>
            <p14:sldId id="274"/>
          </p14:sldIdLst>
        </p14:section>
        <p14:section name="Appendix" id="{19b3e9b2-501b-aebe-3c0e-26205673eb8b}">
          <p14:sldIdLst>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45 minutes: about 12 of them a live demo. For managers: the one-line takeaway under each slide title is for you. For developers: details are in the appendix and in the repo docs. Everything shown is fake data; only Keycloak was ever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pains. Many apps means many passwords. A password alone is a weak gate for risky actions. But asking for a second factor on every click makes people hate security. We want both: easy by default, strict when it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about 5 min problem and SSO basics, 8 min architecture, tokens and step-up concepts, 12 min live demo, 5 min IdP flexibility, 5 min security and what was verified, 10 min questions and buffer.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Analogy: the reception desk of a building checks your ID once and gives you a badge; every office door then trusts the badge. The identity provider (IdP) is the reception desk. Apps never see your password, only a signed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Acme Bank is fictional, with fake data. Each app is built differently on purpose: React and Angular run in the browser, MVC runs on a server. Same look, same nav bar, same session panel.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apps log users in through Keycloak using the Authorization Code flow with PKCE. They call one shared API with an access token. The API is the only place that decides about step-up. The API fetches Keycloak public keys (JWKS) to check signatures.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tokens. The ID token tells the app who logged in and how. The access token goes to the API and is short lived: 5 minutes here. The refresh token is not used by the apps in this PoC; when the access token ends the apps go through single sign-on again. A refresh would keep the old login time, which we 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LoA1 means a password only. LoA2 means a password plus a code from an authenticator app (TOTP). The token says what level was reached (acr) and when (auth_time). For risky actions the API asks for LoA2 and a recent login.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 clicks a sensitive action. The app calls the API. The API sees the level is too low or too old and answers 401 with a challenge that says which level and how recent. The app shows a clear popup, sends the user to Keycloak for the authenticator code, comes back, and retries. The API checks again; nothing is trusted from the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browser app decided, anyone could edit it in dev tools. So the app just sends the token. The API reads the level and login time from the signed token. Not enough: it refuses and does not perform the action. We ran this: a password-only token and an old token are both refused.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all apps share one identity provider session and the API judges the login time, proving yourself in one app counts for the others for about a minute. In the demo you do the authenticator code once and then use Payments and Back Office with no new prompt, until the countdown ends. The effective window is up to 65 seconds because of a 5 second clock leeway.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this slide: the checklist in demo/run-demo.md is done, private browser window open at the Customer Portal, authenticator app visible, backup screenshots ready. Remember: the window is about a minute (up to 65 s), and a TOTP code cannot be reused, so wait for the next code between step-ups.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ten steps. Step 7 is the wait: use it to talk. If anything breaks, switch to the numbered screenshots 01 to 14 in demo/screenshots and narrate. Tip: after one step-up wait for the next authenticator code before the next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screenshots from a run against live Keycloak. If the live demo fails, narrate from these. Left: the step-up popup that explains why. Right: after the authenticator code, the session panel shows LoA2 and the countdown.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IdPs differ in how you ask for stronger authentication and which claims carry the level and the login time. Those differences live in a small JSON profile. Only Keycloak was tested. Entra, Okta and Cognito profiles are templates built from the providers documentation and have never been run against a real tenant. The API even refuses to start with the Entra template when a time limit is configured, because Entra does not document a login-time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PKCE and the code flow keep tokens out of URLs. Enforcement on the API makes browser tampering useless. Tokens in browser memory are weaker than a backend-for-frontend; we chose simplicity and say so. Known weaknesses: the window is really up to 65 seconds, many small transfers avoid the over 1000 rule, no back-channel logout, everything runs on plain http on localhost.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precise. Run against live Keycloak with a headless browser: 13 end to end checks all passed, 7 negative-path checks all passed (IdP error on return, IdP ignoring the stronger-login request), 9 evaluator cases with shifted clock passed, API checks with curl. Only reviewed or not run: Windows, real tenants of other IdPs, Angular for the ignored-request case, real clock skew between two machines.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proof of concept. Next steps if we continue: try it on the Windows laptop, test one real IdP tenant, move SPA tokens behind a backend-for-frontend, add cumulative limits, add back-channel logout, and consider WebAuthn passkeys.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docs/presentation/rehearsal-guide.md for the ten likely questions and short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only. Not part of the 45 minute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answers. The rehearsal guide has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822960"/>
          </a:xfrm>
          <a:prstGeom prst="rect">
            <a:avLst/>
          </a:prstGeom>
          <a:noFill/>
          <a:ln/>
        </p:spPr>
        <p:txBody>
          <a:bodyPr wrap="square" rtlCol="0"/>
          <a:lstStyle>
            <a:lvl1pPr algn="l" indent="0" marL="0">
              <a:buNone/>
              <a:defRPr lang="en-US" sz="3600" b="1" dirty="0">
                <a:solidFill>
                  <a:srgbClr val="12307A"/>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2607A"/>
                </a:solidFill>
                <a:latin typeface="Calibri"/>
                <a:ea typeface="Calibri"/>
                <a:cs typeface="Calibri"/>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2307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2011680"/>
            <a:ext cx="10515600" cy="1463040"/>
          </a:xfrm>
          <a:prstGeom prst="rect">
            <a:avLst/>
          </a:prstGeom>
          <a:noFill/>
          <a:ln/>
        </p:spPr>
        <p:txBody>
          <a:bodyPr wrap="square" rtlCol="0"/>
          <a:lstStyle>
            <a:lvl1pPr algn="l" indent="0" marL="0">
              <a:buNone/>
              <a:defRPr lang="en-US" sz="48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2607A"/>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822960" y="2011680"/>
            <a:ext cx="10515600" cy="1463040"/>
          </a:xfrm>
          <a:prstGeom prst="rect">
            <a:avLst/>
          </a:prstGeom>
          <a:noFill/>
          <a:ln/>
        </p:spPr>
        <p:txBody>
          <a:bodyPr wrap="square" lIns="0" tIns="0" rIns="0" bIns="0" rtlCol="0" anchor="ctr"/>
          <a:lstStyle/>
          <a:p>
            <a:pPr algn="l" indent="0" marL="0">
              <a:buNone/>
            </a:pPr>
            <a:r>
              <a:rPr lang="en-US" sz="4800" b="1" dirty="0">
                <a:solidFill>
                  <a:srgbClr val="FFFFFF"/>
                </a:solidFill>
                <a:latin typeface="Cambria" pitchFamily="34" charset="0"/>
                <a:ea typeface="Cambria" pitchFamily="34" charset="-122"/>
                <a:cs typeface="Cambria" pitchFamily="34" charset="-120"/>
              </a:rPr>
              <a:t>One login, extra proof only when it matters</a:t>
            </a:r>
            <a:endParaRPr lang="en-US" sz="4800" dirty="0"/>
          </a:p>
        </p:txBody>
      </p:sp>
      <p:sp>
        <p:nvSpPr>
          <p:cNvPr id="3" name="Text 1"/>
          <p:cNvSpPr txBox="1"/>
          <p:nvPr/>
        </p:nvSpPr>
        <p:spPr>
          <a:xfrm>
            <a:off x="822960" y="3566160"/>
            <a:ext cx="10515600" cy="548640"/>
          </a:xfrm>
          <a:prstGeom prst="rect">
            <a:avLst/>
          </a:prstGeom>
          <a:noFill/>
          <a:ln/>
        </p:spPr>
        <p:txBody>
          <a:bodyPr wrap="square" lIns="0" tIns="0" rIns="0" bIns="0" rtlCol="0" anchor="ctr"/>
          <a:lstStyle/>
          <a:p>
            <a:pPr indent="0" marL="0">
              <a:buNone/>
            </a:pPr>
            <a:r>
              <a:rPr lang="en-US" sz="2200" dirty="0">
                <a:solidFill>
                  <a:srgbClr val="CADCFC"/>
                </a:solidFill>
                <a:latin typeface="Calibri" pitchFamily="34" charset="0"/>
                <a:ea typeface="Calibri" pitchFamily="34" charset="-122"/>
                <a:cs typeface="Calibri" pitchFamily="34" charset="-120"/>
              </a:rPr>
              <a:t>Single sign-on and step-up MFA across three apps, with a live demo</a:t>
            </a:r>
            <a:endParaRPr lang="en-US" sz="2200" dirty="0"/>
          </a:p>
        </p:txBody>
      </p:sp>
      <p:sp>
        <p:nvSpPr>
          <p:cNvPr id="4" name="Text 2"/>
          <p:cNvSpPr txBox="1"/>
          <p:nvPr/>
        </p:nvSpPr>
        <p:spPr>
          <a:xfrm>
            <a:off x="822960" y="5852160"/>
            <a:ext cx="10515600" cy="365760"/>
          </a:xfrm>
          <a:prstGeom prst="rect">
            <a:avLst/>
          </a:prstGeom>
          <a:noFill/>
          <a:ln/>
        </p:spPr>
        <p:txBody>
          <a:bodyPr wrap="square" lIns="0" tIns="0" rIns="0" bIns="0" rtlCol="0" anchor="ctr"/>
          <a:lstStyle/>
          <a:p>
            <a:pPr indent="0" marL="0">
              <a:buNone/>
            </a:pPr>
            <a:r>
              <a:rPr lang="en-US" sz="1400" dirty="0">
                <a:solidFill>
                  <a:srgbClr val="9DB3E8"/>
                </a:solidFill>
                <a:latin typeface="Calibri" pitchFamily="34" charset="0"/>
                <a:ea typeface="Calibri" pitchFamily="34" charset="-122"/>
                <a:cs typeface="Calibri" pitchFamily="34" charset="-120"/>
              </a:rPr>
              <a:t>Acme Bank (fictional)  |  Proof of concept  |  Tested with Keycloak only</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822960"/>
          </a:xfrm>
          <a:prstGeom prst="rect">
            <a:avLst/>
          </a:prstGeom>
          <a:noFill/>
          <a:ln/>
        </p:spPr>
        <p:txBody>
          <a:bodyPr wrap="square" lIns="0" tIns="0" rIns="0" bIns="0" rtlCol="0" anchor="ctr"/>
          <a:lstStyle/>
          <a:p>
            <a:pPr algn="l" indent="0" marL="0">
              <a:buNone/>
            </a:pPr>
            <a:r>
              <a:rPr lang="en-US" sz="3600" b="1" dirty="0">
                <a:solidFill>
                  <a:srgbClr val="12307A"/>
                </a:solidFill>
                <a:latin typeface="Cambria" pitchFamily="34" charset="0"/>
                <a:ea typeface="Cambria" pitchFamily="34" charset="-122"/>
                <a:cs typeface="Cambria" pitchFamily="34" charset="-120"/>
              </a:rPr>
              <a:t>The problem: many logins, some risky actions</a:t>
            </a:r>
            <a:endParaRPr lang="en-US" sz="3600" dirty="0"/>
          </a:p>
        </p:txBody>
      </p:sp>
      <p:sp>
        <p:nvSpPr>
          <p:cNvPr id="4" name="Text 1"/>
          <p:cNvSpPr txBox="1"/>
          <p:nvPr/>
        </p:nvSpPr>
        <p:spPr>
          <a:xfrm>
            <a:off x="640080" y="1280160"/>
            <a:ext cx="10881360" cy="457200"/>
          </a:xfrm>
          <a:prstGeom prst="rect">
            <a:avLst/>
          </a:prstGeom>
          <a:noFill/>
          <a:ln/>
        </p:spPr>
        <p:txBody>
          <a:bodyPr wrap="square" lIns="0" tIns="0" rIns="0" bIns="0" rtlCol="0" anchor="ctr"/>
          <a:lstStyle/>
          <a:p>
            <a:pPr indent="0" marL="0">
              <a:buNone/>
            </a:pPr>
            <a:r>
              <a:rPr lang="en-US" sz="1800" dirty="0">
                <a:solidFill>
                  <a:srgbClr val="52607A"/>
                </a:solidFill>
                <a:latin typeface="Calibri" pitchFamily="34" charset="0"/>
                <a:ea typeface="Calibri" pitchFamily="34" charset="-122"/>
                <a:cs typeface="Calibri" pitchFamily="34" charset="-120"/>
              </a:rPr>
              <a:t>For managers: staff and customers want one easy login, but a stolen password must not be enough to move money.</a:t>
            </a:r>
            <a:endParaRPr lang="en-US" sz="1800" dirty="0"/>
          </a:p>
        </p:txBody>
      </p:sp>
      <p:sp>
        <p:nvSpPr>
          <p:cNvPr id="5" name="Shape 2"/>
          <p:cNvSpPr/>
          <p:nvPr/>
        </p:nvSpPr>
        <p:spPr>
          <a:xfrm>
            <a:off x="640080" y="2194560"/>
            <a:ext cx="3474720" cy="3291840"/>
          </a:xfrm>
          <a:prstGeom prst="roundRect">
            <a:avLst>
              <a:gd name="adj" fmla="val 3333"/>
            </a:avLst>
          </a:prstGeom>
          <a:solidFill>
            <a:srgbClr val="F3F6FB"/>
          </a:solidFill>
          <a:ln w="12700">
            <a:solidFill>
              <a:srgbClr val="DDE4EF"/>
            </a:solidFill>
            <a:prstDash val="solid"/>
          </a:ln>
          <a:effectLst>
            <a:outerShdw sx="100000" sy="100000" kx="0" ky="0" algn="bl" rotWithShape="0" blurRad="76200" dist="25400" dir="5400000">
              <a:srgbClr val="000000">
                <a:alpha val="12000"/>
              </a:srgbClr>
            </a:outerShdw>
          </a:effectLst>
        </p:spPr>
      </p:sp>
      <p:sp>
        <p:nvSpPr>
          <p:cNvPr id="6" name="Text 3"/>
          <p:cNvSpPr txBox="1"/>
          <p:nvPr/>
        </p:nvSpPr>
        <p:spPr>
          <a:xfrm>
            <a:off x="868680" y="2359152"/>
            <a:ext cx="3017520" cy="731520"/>
          </a:xfrm>
          <a:prstGeom prst="rect">
            <a:avLst/>
          </a:prstGeom>
          <a:noFill/>
          <a:ln/>
        </p:spPr>
        <p:txBody>
          <a:bodyPr wrap="square" lIns="0" tIns="0" rIns="0" bIns="0" rtlCol="0" anchor="t"/>
          <a:lstStyle/>
          <a:p>
            <a:pPr indent="0" marL="0">
              <a:buNone/>
            </a:pPr>
            <a:r>
              <a:rPr lang="en-US" sz="2000" b="1" dirty="0">
                <a:solidFill>
                  <a:srgbClr val="12307A"/>
                </a:solidFill>
                <a:latin typeface="Cambria" pitchFamily="34" charset="0"/>
                <a:ea typeface="Cambria" pitchFamily="34" charset="-122"/>
                <a:cs typeface="Cambria" pitchFamily="34" charset="-120"/>
              </a:rPr>
              <a:t>Many apps, many logins</a:t>
            </a:r>
            <a:endParaRPr lang="en-US" sz="2000" dirty="0"/>
          </a:p>
        </p:txBody>
      </p:sp>
      <p:sp>
        <p:nvSpPr>
          <p:cNvPr id="7" name="Text 4"/>
          <p:cNvSpPr txBox="1"/>
          <p:nvPr/>
        </p:nvSpPr>
        <p:spPr>
          <a:xfrm>
            <a:off x="868680" y="3154680"/>
            <a:ext cx="3017520" cy="2194560"/>
          </a:xfrm>
          <a:prstGeom prst="rect">
            <a:avLst/>
          </a:prstGeom>
          <a:noFill/>
          <a:ln/>
        </p:spPr>
        <p:txBody>
          <a:bodyPr wrap="square" lIns="0" tIns="0" rIns="0" bIns="0" rtlCol="0" anchor="t"/>
          <a:lstStyle/>
          <a:p>
            <a:pPr indent="0" marL="0">
              <a:spcAft>
                <a:spcPts val="600"/>
              </a:spcAft>
              <a:buNone/>
            </a:pPr>
            <a:r>
              <a:rPr lang="en-US" sz="1800" dirty="0">
                <a:solidFill>
                  <a:srgbClr val="0F1B33"/>
                </a:solidFill>
                <a:latin typeface="Calibri" pitchFamily="34" charset="0"/>
                <a:ea typeface="Calibri" pitchFamily="34" charset="-122"/>
                <a:cs typeface="Calibri" pitchFamily="34" charset="-120"/>
              </a:rPr>
              <a:t>Every app asks again. People reuse passwords or write them down.</a:t>
            </a:r>
            <a:endParaRPr lang="en-US" sz="1800" dirty="0"/>
          </a:p>
        </p:txBody>
      </p:sp>
      <p:sp>
        <p:nvSpPr>
          <p:cNvPr id="8" name="Shape 5"/>
          <p:cNvSpPr/>
          <p:nvPr/>
        </p:nvSpPr>
        <p:spPr>
          <a:xfrm>
            <a:off x="4343400" y="2194560"/>
            <a:ext cx="3474720" cy="3291840"/>
          </a:xfrm>
          <a:prstGeom prst="roundRect">
            <a:avLst>
              <a:gd name="adj" fmla="val 3333"/>
            </a:avLst>
          </a:prstGeom>
          <a:solidFill>
            <a:srgbClr val="F3F6FB"/>
          </a:solidFill>
          <a:ln w="12700">
            <a:solidFill>
              <a:srgbClr val="DDE4EF"/>
            </a:solidFill>
            <a:prstDash val="solid"/>
          </a:ln>
          <a:effectLst>
            <a:outerShdw sx="100000" sy="100000" kx="0" ky="0" algn="bl" rotWithShape="0" blurRad="76200" dist="25400" dir="5400000">
              <a:srgbClr val="000000">
                <a:alpha val="12000"/>
              </a:srgbClr>
            </a:outerShdw>
          </a:effectLst>
        </p:spPr>
      </p:sp>
      <p:sp>
        <p:nvSpPr>
          <p:cNvPr id="9" name="Text 6"/>
          <p:cNvSpPr txBox="1"/>
          <p:nvPr/>
        </p:nvSpPr>
        <p:spPr>
          <a:xfrm>
            <a:off x="4572000" y="2359152"/>
            <a:ext cx="3017520" cy="731520"/>
          </a:xfrm>
          <a:prstGeom prst="rect">
            <a:avLst/>
          </a:prstGeom>
          <a:noFill/>
          <a:ln/>
        </p:spPr>
        <p:txBody>
          <a:bodyPr wrap="square" lIns="0" tIns="0" rIns="0" bIns="0" rtlCol="0" anchor="t"/>
          <a:lstStyle/>
          <a:p>
            <a:pPr indent="0" marL="0">
              <a:buNone/>
            </a:pPr>
            <a:r>
              <a:rPr lang="en-US" sz="2000" b="1" dirty="0">
                <a:solidFill>
                  <a:srgbClr val="12307A"/>
                </a:solidFill>
                <a:latin typeface="Cambria" pitchFamily="34" charset="0"/>
                <a:ea typeface="Cambria" pitchFamily="34" charset="-122"/>
                <a:cs typeface="Cambria" pitchFamily="34" charset="-120"/>
              </a:rPr>
              <a:t>One password is a weak gate</a:t>
            </a:r>
            <a:endParaRPr lang="en-US" sz="2000" dirty="0"/>
          </a:p>
        </p:txBody>
      </p:sp>
      <p:sp>
        <p:nvSpPr>
          <p:cNvPr id="10" name="Text 7"/>
          <p:cNvSpPr txBox="1"/>
          <p:nvPr/>
        </p:nvSpPr>
        <p:spPr>
          <a:xfrm>
            <a:off x="4572000" y="3154680"/>
            <a:ext cx="3017520" cy="2194560"/>
          </a:xfrm>
          <a:prstGeom prst="rect">
            <a:avLst/>
          </a:prstGeom>
          <a:noFill/>
          <a:ln/>
        </p:spPr>
        <p:txBody>
          <a:bodyPr wrap="square" lIns="0" tIns="0" rIns="0" bIns="0" rtlCol="0" anchor="t"/>
          <a:lstStyle/>
          <a:p>
            <a:pPr indent="0" marL="0">
              <a:spcAft>
                <a:spcPts val="600"/>
              </a:spcAft>
              <a:buNone/>
            </a:pPr>
            <a:r>
              <a:rPr lang="en-US" sz="1800" dirty="0">
                <a:solidFill>
                  <a:srgbClr val="0F1B33"/>
                </a:solidFill>
                <a:latin typeface="Calibri" pitchFamily="34" charset="0"/>
                <a:ea typeface="Calibri" pitchFamily="34" charset="-122"/>
                <a:cs typeface="Calibri" pitchFamily="34" charset="-120"/>
              </a:rPr>
              <a:t>A phished password could change contact details or approve a transfer.</a:t>
            </a:r>
            <a:endParaRPr lang="en-US" sz="1800" dirty="0"/>
          </a:p>
        </p:txBody>
      </p:sp>
      <p:sp>
        <p:nvSpPr>
          <p:cNvPr id="11" name="Shape 8"/>
          <p:cNvSpPr/>
          <p:nvPr/>
        </p:nvSpPr>
        <p:spPr>
          <a:xfrm>
            <a:off x="8046720" y="2194560"/>
            <a:ext cx="3474720" cy="3291840"/>
          </a:xfrm>
          <a:prstGeom prst="roundRect">
            <a:avLst>
              <a:gd name="adj" fmla="val 3333"/>
            </a:avLst>
          </a:prstGeom>
          <a:solidFill>
            <a:srgbClr val="F3F6FB"/>
          </a:solidFill>
          <a:ln w="12700">
            <a:solidFill>
              <a:srgbClr val="DDE4EF"/>
            </a:solidFill>
            <a:prstDash val="solid"/>
          </a:ln>
          <a:effectLst>
            <a:outerShdw sx="100000" sy="100000" kx="0" ky="0" algn="bl" rotWithShape="0" blurRad="76200" dist="25400" dir="5400000">
              <a:srgbClr val="000000">
                <a:alpha val="12000"/>
              </a:srgbClr>
            </a:outerShdw>
          </a:effectLst>
        </p:spPr>
      </p:sp>
      <p:sp>
        <p:nvSpPr>
          <p:cNvPr id="12" name="Text 9"/>
          <p:cNvSpPr txBox="1"/>
          <p:nvPr/>
        </p:nvSpPr>
        <p:spPr>
          <a:xfrm>
            <a:off x="8275320" y="2359152"/>
            <a:ext cx="3017520" cy="731520"/>
          </a:xfrm>
          <a:prstGeom prst="rect">
            <a:avLst/>
          </a:prstGeom>
          <a:noFill/>
          <a:ln/>
        </p:spPr>
        <p:txBody>
          <a:bodyPr wrap="square" lIns="0" tIns="0" rIns="0" bIns="0" rtlCol="0" anchor="t"/>
          <a:lstStyle/>
          <a:p>
            <a:pPr indent="0" marL="0">
              <a:buNone/>
            </a:pPr>
            <a:r>
              <a:rPr lang="en-US" sz="2000" b="1" dirty="0">
                <a:solidFill>
                  <a:srgbClr val="12307A"/>
                </a:solidFill>
                <a:latin typeface="Cambria" pitchFamily="34" charset="0"/>
                <a:ea typeface="Cambria" pitchFamily="34" charset="-122"/>
                <a:cs typeface="Cambria" pitchFamily="34" charset="-120"/>
              </a:rPr>
              <a:t>MFA on every click does not work</a:t>
            </a:r>
            <a:endParaRPr lang="en-US" sz="2000" dirty="0"/>
          </a:p>
        </p:txBody>
      </p:sp>
      <p:sp>
        <p:nvSpPr>
          <p:cNvPr id="13" name="Text 10"/>
          <p:cNvSpPr txBox="1"/>
          <p:nvPr/>
        </p:nvSpPr>
        <p:spPr>
          <a:xfrm>
            <a:off x="8275320" y="3154680"/>
            <a:ext cx="3017520" cy="2194560"/>
          </a:xfrm>
          <a:prstGeom prst="rect">
            <a:avLst/>
          </a:prstGeom>
          <a:noFill/>
          <a:ln/>
        </p:spPr>
        <p:txBody>
          <a:bodyPr wrap="square" lIns="0" tIns="0" rIns="0" bIns="0" rtlCol="0" anchor="t"/>
          <a:lstStyle/>
          <a:p>
            <a:pPr indent="0" marL="0">
              <a:spcAft>
                <a:spcPts val="600"/>
              </a:spcAft>
              <a:buNone/>
            </a:pPr>
            <a:r>
              <a:rPr lang="en-US" sz="1800" dirty="0">
                <a:solidFill>
                  <a:srgbClr val="0F1B33"/>
                </a:solidFill>
                <a:latin typeface="Calibri" pitchFamily="34" charset="0"/>
                <a:ea typeface="Calibri" pitchFamily="34" charset="-122"/>
                <a:cs typeface="Calibri" pitchFamily="34" charset="-120"/>
              </a:rPr>
              <a:t>Constant prompts annoy users. Better: extra proof only for risky actions.</a:t>
            </a:r>
            <a:endParaRPr lang="en-US" sz="18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2607A"/>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822960"/>
          </a:xfrm>
          <a:prstGeom prst="rect">
            <a:avLst/>
          </a:prstGeom>
          <a:noFill/>
          <a:ln/>
        </p:spPr>
        <p:txBody>
          <a:bodyPr wrap="square" lIns="0" tIns="0" rIns="0" bIns="0" rtlCol="0" anchor="ctr"/>
          <a:lstStyle/>
          <a:p>
            <a:pPr algn="l" indent="0" marL="0">
              <a:buNone/>
            </a:pPr>
            <a:r>
              <a:rPr lang="en-US" sz="3600" b="1" dirty="0">
                <a:solidFill>
                  <a:srgbClr val="12307A"/>
                </a:solidFill>
                <a:latin typeface="Cambria" pitchFamily="34" charset="0"/>
                <a:ea typeface="Cambria" pitchFamily="34" charset="-122"/>
                <a:cs typeface="Cambria" pitchFamily="34" charset="-120"/>
              </a:rPr>
              <a:t>Today in 45 minutes</a:t>
            </a:r>
            <a:endParaRPr lang="en-US" sz="3600" dirty="0"/>
          </a:p>
        </p:txBody>
      </p:sp>
      <p:sp>
        <p:nvSpPr>
          <p:cNvPr id="4" name="Text 1"/>
          <p:cNvSpPr txBox="1"/>
          <p:nvPr/>
        </p:nvSpPr>
        <p:spPr>
          <a:xfrm>
            <a:off x="640080" y="1280160"/>
            <a:ext cx="10881360" cy="457200"/>
          </a:xfrm>
          <a:prstGeom prst="rect">
            <a:avLst/>
          </a:prstGeom>
          <a:noFill/>
          <a:ln/>
        </p:spPr>
        <p:txBody>
          <a:bodyPr wrap="square" lIns="0" tIns="0" rIns="0" bIns="0" rtlCol="0" anchor="ctr"/>
          <a:lstStyle/>
          <a:p>
            <a:pPr indent="0" marL="0">
              <a:buNone/>
            </a:pPr>
            <a:r>
              <a:rPr lang="en-US" sz="1800" dirty="0">
                <a:solidFill>
                  <a:srgbClr val="52607A"/>
                </a:solidFill>
                <a:latin typeface="Calibri" pitchFamily="34" charset="0"/>
                <a:ea typeface="Calibri" pitchFamily="34" charset="-122"/>
                <a:cs typeface="Calibri" pitchFamily="34" charset="-120"/>
              </a:rPr>
              <a:t>For managers: a short concept part, a live demo in the middle, then trade-offs and honesty about what was tested.</a:t>
            </a:r>
            <a:endParaRPr lang="en-US" sz="1800" dirty="0"/>
          </a:p>
        </p:txBody>
      </p:sp>
      <p:sp>
        <p:nvSpPr>
          <p:cNvPr id="5" name="Text 2"/>
          <p:cNvSpPr txBox="1"/>
          <p:nvPr/>
        </p:nvSpPr>
        <p:spPr>
          <a:xfrm>
            <a:off x="640080" y="2103120"/>
            <a:ext cx="1371600" cy="365760"/>
          </a:xfrm>
          <a:prstGeom prst="roundRect">
            <a:avLst>
              <a:gd name="adj" fmla="val 50000"/>
            </a:avLst>
          </a:prstGeom>
          <a:solidFill>
            <a:srgbClr val="1F56D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 min</a:t>
            </a:r>
            <a:endParaRPr lang="en-US" sz="1400" dirty="0"/>
          </a:p>
        </p:txBody>
      </p:sp>
      <p:sp>
        <p:nvSpPr>
          <p:cNvPr id="6" name="Text 3"/>
          <p:cNvSpPr txBox="1"/>
          <p:nvPr/>
        </p:nvSpPr>
        <p:spPr>
          <a:xfrm>
            <a:off x="2286000" y="2103120"/>
            <a:ext cx="8686800" cy="365760"/>
          </a:xfrm>
          <a:prstGeom prst="rect">
            <a:avLst/>
          </a:prstGeom>
          <a:noFill/>
          <a:ln/>
        </p:spPr>
        <p:txBody>
          <a:bodyPr wrap="square" lIns="0" tIns="0" rIns="0" bIns="0" rtlCol="0" anchor="ctr"/>
          <a:lstStyle/>
          <a:p>
            <a:pPr indent="0" marL="0">
              <a:buNone/>
            </a:pPr>
            <a:r>
              <a:rPr lang="en-US" sz="2000" dirty="0">
                <a:solidFill>
                  <a:srgbClr val="0F1B33"/>
                </a:solidFill>
                <a:latin typeface="Calibri" pitchFamily="34" charset="0"/>
                <a:ea typeface="Calibri" pitchFamily="34" charset="-122"/>
                <a:cs typeface="Calibri" pitchFamily="34" charset="-120"/>
              </a:rPr>
              <a:t>The problem and single sign-on basics</a:t>
            </a:r>
            <a:endParaRPr lang="en-US" sz="2000" dirty="0"/>
          </a:p>
        </p:txBody>
      </p:sp>
      <p:sp>
        <p:nvSpPr>
          <p:cNvPr id="7" name="Text 4"/>
          <p:cNvSpPr txBox="1"/>
          <p:nvPr/>
        </p:nvSpPr>
        <p:spPr>
          <a:xfrm>
            <a:off x="640080" y="2761488"/>
            <a:ext cx="1371600" cy="365760"/>
          </a:xfrm>
          <a:prstGeom prst="roundRect">
            <a:avLst>
              <a:gd name="adj" fmla="val 50000"/>
            </a:avLst>
          </a:prstGeom>
          <a:solidFill>
            <a:srgbClr val="1F56D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 min</a:t>
            </a:r>
            <a:endParaRPr lang="en-US" sz="1400" dirty="0"/>
          </a:p>
        </p:txBody>
      </p:sp>
      <p:sp>
        <p:nvSpPr>
          <p:cNvPr id="8" name="Text 5"/>
          <p:cNvSpPr txBox="1"/>
          <p:nvPr/>
        </p:nvSpPr>
        <p:spPr>
          <a:xfrm>
            <a:off x="2286000" y="2761488"/>
            <a:ext cx="8686800" cy="365760"/>
          </a:xfrm>
          <a:prstGeom prst="rect">
            <a:avLst/>
          </a:prstGeom>
          <a:noFill/>
          <a:ln/>
        </p:spPr>
        <p:txBody>
          <a:bodyPr wrap="square" lIns="0" tIns="0" rIns="0" bIns="0" rtlCol="0" anchor="ctr"/>
          <a:lstStyle/>
          <a:p>
            <a:pPr indent="0" marL="0">
              <a:buNone/>
            </a:pPr>
            <a:r>
              <a:rPr lang="en-US" sz="2000" dirty="0">
                <a:solidFill>
                  <a:srgbClr val="0F1B33"/>
                </a:solidFill>
                <a:latin typeface="Calibri" pitchFamily="34" charset="0"/>
                <a:ea typeface="Calibri" pitchFamily="34" charset="-122"/>
                <a:cs typeface="Calibri" pitchFamily="34" charset="-120"/>
              </a:rPr>
              <a:t>Architecture, tokens and step-up MFA</a:t>
            </a:r>
            <a:endParaRPr lang="en-US" sz="2000" dirty="0"/>
          </a:p>
        </p:txBody>
      </p:sp>
      <p:sp>
        <p:nvSpPr>
          <p:cNvPr id="9" name="Text 6"/>
          <p:cNvSpPr txBox="1"/>
          <p:nvPr/>
        </p:nvSpPr>
        <p:spPr>
          <a:xfrm>
            <a:off x="640080" y="3419856"/>
            <a:ext cx="1371600" cy="365760"/>
          </a:xfrm>
          <a:prstGeom prst="roundRect">
            <a:avLst>
              <a:gd name="adj" fmla="val 50000"/>
            </a:avLst>
          </a:prstGeom>
          <a:solidFill>
            <a:srgbClr val="0FB59A"/>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12 min</a:t>
            </a:r>
            <a:endParaRPr lang="en-US" sz="1400" dirty="0"/>
          </a:p>
        </p:txBody>
      </p:sp>
      <p:sp>
        <p:nvSpPr>
          <p:cNvPr id="10" name="Text 7"/>
          <p:cNvSpPr txBox="1"/>
          <p:nvPr/>
        </p:nvSpPr>
        <p:spPr>
          <a:xfrm>
            <a:off x="2286000" y="3419856"/>
            <a:ext cx="8686800" cy="365760"/>
          </a:xfrm>
          <a:prstGeom prst="rect">
            <a:avLst/>
          </a:prstGeom>
          <a:noFill/>
          <a:ln/>
        </p:spPr>
        <p:txBody>
          <a:bodyPr wrap="square" lIns="0" tIns="0" rIns="0" bIns="0" rtlCol="0" anchor="ctr"/>
          <a:lstStyle/>
          <a:p>
            <a:pPr indent="0" marL="0">
              <a:buNone/>
            </a:pPr>
            <a:r>
              <a:rPr lang="en-US" sz="2000" b="1" dirty="0">
                <a:solidFill>
                  <a:srgbClr val="0F1B33"/>
                </a:solidFill>
                <a:latin typeface="Calibri" pitchFamily="34" charset="0"/>
                <a:ea typeface="Calibri" pitchFamily="34" charset="-122"/>
                <a:cs typeface="Calibri" pitchFamily="34" charset="-120"/>
              </a:rPr>
              <a:t>Live demo: Acme Bank</a:t>
            </a:r>
            <a:endParaRPr lang="en-US" sz="2000" dirty="0"/>
          </a:p>
        </p:txBody>
      </p:sp>
      <p:sp>
        <p:nvSpPr>
          <p:cNvPr id="11" name="Text 8"/>
          <p:cNvSpPr txBox="1"/>
          <p:nvPr/>
        </p:nvSpPr>
        <p:spPr>
          <a:xfrm>
            <a:off x="640080" y="4078224"/>
            <a:ext cx="1371600" cy="365760"/>
          </a:xfrm>
          <a:prstGeom prst="roundRect">
            <a:avLst>
              <a:gd name="adj" fmla="val 50000"/>
            </a:avLst>
          </a:prstGeom>
          <a:solidFill>
            <a:srgbClr val="1F56D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 min</a:t>
            </a:r>
            <a:endParaRPr lang="en-US" sz="1400" dirty="0"/>
          </a:p>
        </p:txBody>
      </p:sp>
      <p:sp>
        <p:nvSpPr>
          <p:cNvPr id="12" name="Text 9"/>
          <p:cNvSpPr txBox="1"/>
          <p:nvPr/>
        </p:nvSpPr>
        <p:spPr>
          <a:xfrm>
            <a:off x="2286000" y="4078224"/>
            <a:ext cx="8686800" cy="365760"/>
          </a:xfrm>
          <a:prstGeom prst="rect">
            <a:avLst/>
          </a:prstGeom>
          <a:noFill/>
          <a:ln/>
        </p:spPr>
        <p:txBody>
          <a:bodyPr wrap="square" lIns="0" tIns="0" rIns="0" bIns="0" rtlCol="0" anchor="ctr"/>
          <a:lstStyle/>
          <a:p>
            <a:pPr indent="0" marL="0">
              <a:buNone/>
            </a:pPr>
            <a:r>
              <a:rPr lang="en-US" sz="2000" dirty="0">
                <a:solidFill>
                  <a:srgbClr val="0F1B33"/>
                </a:solidFill>
                <a:latin typeface="Calibri" pitchFamily="34" charset="0"/>
                <a:ea typeface="Calibri" pitchFamily="34" charset="-122"/>
                <a:cs typeface="Calibri" pitchFamily="34" charset="-120"/>
              </a:rPr>
              <a:t>Connecting any identity provider</a:t>
            </a:r>
            <a:endParaRPr lang="en-US" sz="2000" dirty="0"/>
          </a:p>
        </p:txBody>
      </p:sp>
      <p:sp>
        <p:nvSpPr>
          <p:cNvPr id="13" name="Text 10"/>
          <p:cNvSpPr txBox="1"/>
          <p:nvPr/>
        </p:nvSpPr>
        <p:spPr>
          <a:xfrm>
            <a:off x="640080" y="4736592"/>
            <a:ext cx="1371600" cy="365760"/>
          </a:xfrm>
          <a:prstGeom prst="roundRect">
            <a:avLst>
              <a:gd name="adj" fmla="val 50000"/>
            </a:avLst>
          </a:prstGeom>
          <a:solidFill>
            <a:srgbClr val="1F56D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 min</a:t>
            </a:r>
            <a:endParaRPr lang="en-US" sz="1400" dirty="0"/>
          </a:p>
        </p:txBody>
      </p:sp>
      <p:sp>
        <p:nvSpPr>
          <p:cNvPr id="14" name="Text 11"/>
          <p:cNvSpPr txBox="1"/>
          <p:nvPr/>
        </p:nvSpPr>
        <p:spPr>
          <a:xfrm>
            <a:off x="2286000" y="4736592"/>
            <a:ext cx="8686800" cy="365760"/>
          </a:xfrm>
          <a:prstGeom prst="rect">
            <a:avLst/>
          </a:prstGeom>
          <a:noFill/>
          <a:ln/>
        </p:spPr>
        <p:txBody>
          <a:bodyPr wrap="square" lIns="0" tIns="0" rIns="0" bIns="0" rtlCol="0" anchor="ctr"/>
          <a:lstStyle/>
          <a:p>
            <a:pPr indent="0" marL="0">
              <a:buNone/>
            </a:pPr>
            <a:r>
              <a:rPr lang="en-US" sz="2000" dirty="0">
                <a:solidFill>
                  <a:srgbClr val="0F1B33"/>
                </a:solidFill>
                <a:latin typeface="Calibri" pitchFamily="34" charset="0"/>
                <a:ea typeface="Calibri" pitchFamily="34" charset="-122"/>
                <a:cs typeface="Calibri" pitchFamily="34" charset="-120"/>
              </a:rPr>
              <a:t>Security decisions and what was verified</a:t>
            </a:r>
            <a:endParaRPr lang="en-US" sz="2000" dirty="0"/>
          </a:p>
        </p:txBody>
      </p:sp>
      <p:sp>
        <p:nvSpPr>
          <p:cNvPr id="15" name="Text 12"/>
          <p:cNvSpPr txBox="1"/>
          <p:nvPr/>
        </p:nvSpPr>
        <p:spPr>
          <a:xfrm>
            <a:off x="640080" y="5394960"/>
            <a:ext cx="1371600" cy="365760"/>
          </a:xfrm>
          <a:prstGeom prst="roundRect">
            <a:avLst>
              <a:gd name="adj" fmla="val 50000"/>
            </a:avLst>
          </a:prstGeom>
          <a:solidFill>
            <a:srgbClr val="1F56D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10 min</a:t>
            </a:r>
            <a:endParaRPr lang="en-US" sz="1400" dirty="0"/>
          </a:p>
        </p:txBody>
      </p:sp>
      <p:sp>
        <p:nvSpPr>
          <p:cNvPr id="16" name="Text 13"/>
          <p:cNvSpPr txBox="1"/>
          <p:nvPr/>
        </p:nvSpPr>
        <p:spPr>
          <a:xfrm>
            <a:off x="2286000" y="5394960"/>
            <a:ext cx="8686800" cy="365760"/>
          </a:xfrm>
          <a:prstGeom prst="rect">
            <a:avLst/>
          </a:prstGeom>
          <a:noFill/>
          <a:ln/>
        </p:spPr>
        <p:txBody>
          <a:bodyPr wrap="square" lIns="0" tIns="0" rIns="0" bIns="0" rtlCol="0" anchor="ctr"/>
          <a:lstStyle/>
          <a:p>
            <a:pPr indent="0" marL="0">
              <a:buNone/>
            </a:pPr>
            <a:r>
              <a:rPr lang="en-US" sz="2000" dirty="0">
                <a:solidFill>
                  <a:srgbClr val="0F1B33"/>
                </a:solidFill>
                <a:latin typeface="Calibri" pitchFamily="34" charset="0"/>
                <a:ea typeface="Calibri" pitchFamily="34" charset="-122"/>
                <a:cs typeface="Calibri" pitchFamily="34" charset="-120"/>
              </a:rPr>
              <a:t>Questions and buffer</a:t>
            </a:r>
            <a:endParaRPr lang="en-US" sz="20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2607A"/>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822960"/>
          </a:xfrm>
          <a:prstGeom prst="rect">
            <a:avLst/>
          </a:prstGeom>
          <a:noFill/>
          <a:ln/>
        </p:spPr>
        <p:txBody>
          <a:bodyPr wrap="square" lIns="0" tIns="0" rIns="0" bIns="0" rtlCol="0" anchor="ctr"/>
          <a:lstStyle/>
          <a:p>
            <a:pPr algn="l" indent="0" marL="0">
              <a:buNone/>
            </a:pPr>
            <a:r>
              <a:rPr lang="en-US" sz="3600" b="1" dirty="0">
                <a:solidFill>
                  <a:srgbClr val="12307A"/>
                </a:solidFill>
                <a:latin typeface="Cambria" pitchFamily="34" charset="0"/>
                <a:ea typeface="Cambria" pitchFamily="34" charset="-122"/>
                <a:cs typeface="Cambria" pitchFamily="34" charset="-120"/>
              </a:rPr>
              <a:t>Single sign-on: log in once, use many apps</a:t>
            </a:r>
            <a:endParaRPr lang="en-US" sz="3600" dirty="0"/>
          </a:p>
        </p:txBody>
      </p:sp>
      <p:sp>
        <p:nvSpPr>
          <p:cNvPr id="4" name="Text 1"/>
          <p:cNvSpPr txBox="1"/>
          <p:nvPr/>
        </p:nvSpPr>
        <p:spPr>
          <a:xfrm>
            <a:off x="640080" y="1280160"/>
            <a:ext cx="10881360" cy="457200"/>
          </a:xfrm>
          <a:prstGeom prst="rect">
            <a:avLst/>
          </a:prstGeom>
          <a:noFill/>
          <a:ln/>
        </p:spPr>
        <p:txBody>
          <a:bodyPr wrap="square" lIns="0" tIns="0" rIns="0" bIns="0" rtlCol="0" anchor="ctr"/>
          <a:lstStyle/>
          <a:p>
            <a:pPr indent="0" marL="0">
              <a:buNone/>
            </a:pPr>
            <a:r>
              <a:rPr lang="en-US" sz="1800" dirty="0">
                <a:solidFill>
                  <a:srgbClr val="52607A"/>
                </a:solidFill>
                <a:latin typeface="Calibri" pitchFamily="34" charset="0"/>
                <a:ea typeface="Calibri" pitchFamily="34" charset="-122"/>
                <a:cs typeface="Calibri" pitchFamily="34" charset="-120"/>
              </a:rPr>
              <a:t>For managers: one trusted login page, many apps. Fewer passwords, one place to add stronger checks.</a:t>
            </a:r>
            <a:endParaRPr lang="en-US" sz="1800" dirty="0"/>
          </a:p>
        </p:txBody>
      </p:sp>
      <p:sp>
        <p:nvSpPr>
          <p:cNvPr id="5" name="Text 2"/>
          <p:cNvSpPr txBox="1"/>
          <p:nvPr/>
        </p:nvSpPr>
        <p:spPr>
          <a:xfrm>
            <a:off x="4572000" y="2194560"/>
            <a:ext cx="3017520" cy="914400"/>
          </a:xfrm>
          <a:prstGeom prst="roundRect">
            <a:avLst>
              <a:gd name="adj" fmla="val 10000"/>
            </a:avLst>
          </a:prstGeom>
          <a:solidFill>
            <a:srgbClr val="12307A"/>
          </a:solidFill>
          <a:ln/>
        </p:spPr>
        <p:txBody>
          <a:bodyPr wrap="square" lIns="50800" tIns="50800" rIns="50800" bIns="5080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Identity provider (Keycloak)</a:t>
            </a:r>
            <a:endParaRPr lang="en-US" sz="1600" dirty="0"/>
          </a:p>
          <a:p>
            <a:pPr algn="ctr" indent="0" marL="0">
              <a:buNone/>
            </a:pPr>
            <a:r>
              <a:rPr lang="en-US" sz="1600" b="1" dirty="0">
                <a:solidFill>
                  <a:srgbClr val="FFFFFF"/>
                </a:solidFill>
                <a:latin typeface="Calibri" pitchFamily="34" charset="0"/>
                <a:ea typeface="Calibri" pitchFamily="34" charset="-122"/>
                <a:cs typeface="Calibri" pitchFamily="34" charset="-120"/>
              </a:rPr>
              <a:t>the only place a password is typed</a:t>
            </a:r>
            <a:endParaRPr lang="en-US" sz="1600" dirty="0"/>
          </a:p>
        </p:txBody>
      </p:sp>
      <p:sp>
        <p:nvSpPr>
          <p:cNvPr id="6" name="Text 3"/>
          <p:cNvSpPr txBox="1"/>
          <p:nvPr/>
        </p:nvSpPr>
        <p:spPr>
          <a:xfrm>
            <a:off x="640080" y="4572000"/>
            <a:ext cx="3017520" cy="914400"/>
          </a:xfrm>
          <a:prstGeom prst="roundRect">
            <a:avLst>
              <a:gd name="adj" fmla="val 10000"/>
            </a:avLst>
          </a:prstGeom>
          <a:solidFill>
            <a:srgbClr val="1F56D6"/>
          </a:solidFill>
          <a:ln/>
        </p:spPr>
        <p:txBody>
          <a:bodyPr wrap="square" lIns="50800" tIns="50800" rIns="50800" bIns="5080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Customer Portal</a:t>
            </a:r>
            <a:endParaRPr lang="en-US" sz="1600" dirty="0"/>
          </a:p>
        </p:txBody>
      </p:sp>
      <p:sp>
        <p:nvSpPr>
          <p:cNvPr id="7" name="Text 4"/>
          <p:cNvSpPr txBox="1"/>
          <p:nvPr/>
        </p:nvSpPr>
        <p:spPr>
          <a:xfrm>
            <a:off x="4572000" y="4572000"/>
            <a:ext cx="3017520" cy="914400"/>
          </a:xfrm>
          <a:prstGeom prst="roundRect">
            <a:avLst>
              <a:gd name="adj" fmla="val 10000"/>
            </a:avLst>
          </a:prstGeom>
          <a:solidFill>
            <a:srgbClr val="1F56D6"/>
          </a:solidFill>
          <a:ln/>
        </p:spPr>
        <p:txBody>
          <a:bodyPr wrap="square" lIns="50800" tIns="50800" rIns="50800" bIns="5080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Payments and Transfers</a:t>
            </a:r>
            <a:endParaRPr lang="en-US" sz="1600" dirty="0"/>
          </a:p>
        </p:txBody>
      </p:sp>
      <p:sp>
        <p:nvSpPr>
          <p:cNvPr id="8" name="Text 5"/>
          <p:cNvSpPr txBox="1"/>
          <p:nvPr/>
        </p:nvSpPr>
        <p:spPr>
          <a:xfrm>
            <a:off x="8503920" y="4572000"/>
            <a:ext cx="3017520" cy="914400"/>
          </a:xfrm>
          <a:prstGeom prst="roundRect">
            <a:avLst>
              <a:gd name="adj" fmla="val 10000"/>
            </a:avLst>
          </a:prstGeom>
          <a:solidFill>
            <a:srgbClr val="1F56D6"/>
          </a:solidFill>
          <a:ln/>
        </p:spPr>
        <p:txBody>
          <a:bodyPr wrap="square" lIns="50800" tIns="50800" rIns="50800" bIns="5080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Back Office</a:t>
            </a:r>
            <a:endParaRPr lang="en-US" sz="1600" dirty="0"/>
          </a:p>
        </p:txBody>
      </p:sp>
      <p:sp>
        <p:nvSpPr>
          <p:cNvPr id="9" name="Shape 6"/>
          <p:cNvSpPr/>
          <p:nvPr/>
        </p:nvSpPr>
        <p:spPr>
          <a:xfrm flipV="1">
            <a:off x="2148840" y="3108960"/>
            <a:ext cx="2423160" cy="1463040"/>
          </a:xfrm>
          <a:prstGeom prst="line">
            <a:avLst/>
          </a:prstGeom>
          <a:noFill/>
          <a:ln w="25400">
            <a:solidFill>
              <a:srgbClr val="52607A"/>
            </a:solidFill>
            <a:prstDash val="solid"/>
            <a:tailEnd type="triangle"/>
          </a:ln>
        </p:spPr>
      </p:sp>
      <p:sp>
        <p:nvSpPr>
          <p:cNvPr id="10" name="Shape 7"/>
          <p:cNvSpPr/>
          <p:nvPr/>
        </p:nvSpPr>
        <p:spPr>
          <a:xfrm flipV="1">
            <a:off x="6080760" y="3108960"/>
            <a:ext cx="0" cy="1463040"/>
          </a:xfrm>
          <a:prstGeom prst="line">
            <a:avLst/>
          </a:prstGeom>
          <a:noFill/>
          <a:ln w="25400">
            <a:solidFill>
              <a:srgbClr val="52607A"/>
            </a:solidFill>
            <a:prstDash val="solid"/>
            <a:tailEnd type="triangle"/>
          </a:ln>
        </p:spPr>
      </p:sp>
      <p:sp>
        <p:nvSpPr>
          <p:cNvPr id="11" name="Shape 8"/>
          <p:cNvSpPr/>
          <p:nvPr/>
        </p:nvSpPr>
        <p:spPr>
          <a:xfrm flipH="1" flipV="1">
            <a:off x="7589520" y="3108960"/>
            <a:ext cx="2423160" cy="1463040"/>
          </a:xfrm>
          <a:prstGeom prst="line">
            <a:avLst/>
          </a:prstGeom>
          <a:noFill/>
          <a:ln w="25400">
            <a:solidFill>
              <a:srgbClr val="52607A"/>
            </a:solidFill>
            <a:prstDash val="solid"/>
            <a:tailEnd type="triangle"/>
          </a:ln>
        </p:spPr>
      </p:sp>
      <p:sp>
        <p:nvSpPr>
          <p:cNvPr id="12" name="Text 9"/>
          <p:cNvSpPr txBox="1"/>
          <p:nvPr/>
        </p:nvSpPr>
        <p:spPr>
          <a:xfrm>
            <a:off x="640080" y="2286000"/>
            <a:ext cx="3657600" cy="731520"/>
          </a:xfrm>
          <a:prstGeom prst="rect">
            <a:avLst/>
          </a:prstGeom>
          <a:noFill/>
          <a:ln/>
        </p:spPr>
        <p:txBody>
          <a:bodyPr wrap="square" lIns="0" tIns="0" rIns="0" bIns="0" rtlCol="0" anchor="ctr"/>
          <a:lstStyle/>
          <a:p>
            <a:pPr indent="0" marL="0">
              <a:buNone/>
            </a:pPr>
            <a:r>
              <a:rPr lang="en-US" sz="1500" dirty="0">
                <a:solidFill>
                  <a:srgbClr val="52607A"/>
                </a:solidFill>
                <a:latin typeface="Calibri" pitchFamily="34" charset="0"/>
                <a:ea typeface="Calibri" pitchFamily="34" charset="-122"/>
                <a:cs typeface="Calibri" pitchFamily="34" charset="-120"/>
              </a:rPr>
              <a:t>1. First app sends you to the login page</a:t>
            </a:r>
            <a:endParaRPr lang="en-US" sz="1500" dirty="0"/>
          </a:p>
        </p:txBody>
      </p:sp>
      <p:sp>
        <p:nvSpPr>
          <p:cNvPr id="13" name="Text 10"/>
          <p:cNvSpPr txBox="1"/>
          <p:nvPr/>
        </p:nvSpPr>
        <p:spPr>
          <a:xfrm>
            <a:off x="7863840" y="2286000"/>
            <a:ext cx="3657600" cy="731520"/>
          </a:xfrm>
          <a:prstGeom prst="rect">
            <a:avLst/>
          </a:prstGeom>
          <a:noFill/>
          <a:ln/>
        </p:spPr>
        <p:txBody>
          <a:bodyPr wrap="square" lIns="0" tIns="0" rIns="0" bIns="0" rtlCol="0" anchor="ctr"/>
          <a:lstStyle/>
          <a:p>
            <a:pPr indent="0" marL="0">
              <a:buNone/>
            </a:pPr>
            <a:r>
              <a:rPr lang="en-US" sz="1500" b="1" dirty="0">
                <a:solidFill>
                  <a:srgbClr val="0B6B58"/>
                </a:solidFill>
                <a:latin typeface="Calibri" pitchFamily="34" charset="0"/>
                <a:ea typeface="Calibri" pitchFamily="34" charset="-122"/>
                <a:cs typeface="Calibri" pitchFamily="34" charset="-120"/>
              </a:rPr>
              <a:t>2. Other apps find your IdP session: no prompt</a:t>
            </a:r>
            <a:endParaRPr lang="en-US" sz="15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2607A"/>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822960"/>
          </a:xfrm>
          <a:prstGeom prst="rect">
            <a:avLst/>
          </a:prstGeom>
          <a:noFill/>
          <a:ln/>
        </p:spPr>
        <p:txBody>
          <a:bodyPr wrap="square" lIns="0" tIns="0" rIns="0" bIns="0" rtlCol="0" anchor="ctr"/>
          <a:lstStyle/>
          <a:p>
            <a:pPr algn="l" indent="0" marL="0">
              <a:buNone/>
            </a:pPr>
            <a:r>
              <a:rPr lang="en-US" sz="3600" b="1" dirty="0">
                <a:solidFill>
                  <a:srgbClr val="12307A"/>
                </a:solidFill>
                <a:latin typeface="Cambria" pitchFamily="34" charset="0"/>
                <a:ea typeface="Cambria" pitchFamily="34" charset="-122"/>
                <a:cs typeface="Cambria" pitchFamily="34" charset="-120"/>
              </a:rPr>
              <a:t>The demo: three parts of one fictional bank</a:t>
            </a:r>
            <a:endParaRPr lang="en-US" sz="3600" dirty="0"/>
          </a:p>
        </p:txBody>
      </p:sp>
      <p:sp>
        <p:nvSpPr>
          <p:cNvPr id="4" name="Text 1"/>
          <p:cNvSpPr txBox="1"/>
          <p:nvPr/>
        </p:nvSpPr>
        <p:spPr>
          <a:xfrm>
            <a:off x="640080" y="1280160"/>
            <a:ext cx="10881360" cy="457200"/>
          </a:xfrm>
          <a:prstGeom prst="rect">
            <a:avLst/>
          </a:prstGeom>
          <a:noFill/>
          <a:ln/>
        </p:spPr>
        <p:txBody>
          <a:bodyPr wrap="square" lIns="0" tIns="0" rIns="0" bIns="0" rtlCol="0" anchor="ctr"/>
          <a:lstStyle/>
          <a:p>
            <a:pPr indent="0" marL="0">
              <a:buNone/>
            </a:pPr>
            <a:r>
              <a:rPr lang="en-US" sz="1800" dirty="0">
                <a:solidFill>
                  <a:srgbClr val="52607A"/>
                </a:solidFill>
                <a:latin typeface="Calibri" pitchFamily="34" charset="0"/>
                <a:ea typeface="Calibri" pitchFamily="34" charset="-122"/>
                <a:cs typeface="Calibri" pitchFamily="34" charset="-120"/>
              </a:rPr>
              <a:t>For managers: one story to follow: a customer, a payment, and a back-office approval.</a:t>
            </a:r>
            <a:endParaRPr lang="en-US" sz="1800" dirty="0"/>
          </a:p>
        </p:txBody>
      </p:sp>
      <p:sp>
        <p:nvSpPr>
          <p:cNvPr id="5" name="Shape 2"/>
          <p:cNvSpPr/>
          <p:nvPr/>
        </p:nvSpPr>
        <p:spPr>
          <a:xfrm>
            <a:off x="640080" y="2194560"/>
            <a:ext cx="3474720" cy="3566160"/>
          </a:xfrm>
          <a:prstGeom prst="roundRect">
            <a:avLst>
              <a:gd name="adj" fmla="val 3158"/>
            </a:avLst>
          </a:prstGeom>
          <a:solidFill>
            <a:srgbClr val="F3F6FB"/>
          </a:solidFill>
          <a:ln w="12700">
            <a:solidFill>
              <a:srgbClr val="DDE4EF"/>
            </a:solidFill>
            <a:prstDash val="solid"/>
          </a:ln>
          <a:effectLst>
            <a:outerShdw sx="100000" sy="100000" kx="0" ky="0" algn="bl" rotWithShape="0" blurRad="76200" dist="25400" dir="5400000">
              <a:srgbClr val="000000">
                <a:alpha val="12000"/>
              </a:srgbClr>
            </a:outerShdw>
          </a:effectLst>
        </p:spPr>
      </p:sp>
      <p:sp>
        <p:nvSpPr>
          <p:cNvPr id="6" name="Text 3"/>
          <p:cNvSpPr txBox="1"/>
          <p:nvPr/>
        </p:nvSpPr>
        <p:spPr>
          <a:xfrm>
            <a:off x="868680" y="2359152"/>
            <a:ext cx="3017520" cy="731520"/>
          </a:xfrm>
          <a:prstGeom prst="rect">
            <a:avLst/>
          </a:prstGeom>
          <a:noFill/>
          <a:ln/>
        </p:spPr>
        <p:txBody>
          <a:bodyPr wrap="square" lIns="0" tIns="0" rIns="0" bIns="0" rtlCol="0" anchor="t"/>
          <a:lstStyle/>
          <a:p>
            <a:pPr indent="0" marL="0">
              <a:buNone/>
            </a:pPr>
            <a:r>
              <a:rPr lang="en-US" sz="2000" b="1" dirty="0">
                <a:solidFill>
                  <a:srgbClr val="12307A"/>
                </a:solidFill>
                <a:latin typeface="Cambria" pitchFamily="34" charset="0"/>
                <a:ea typeface="Cambria" pitchFamily="34" charset="-122"/>
                <a:cs typeface="Cambria" pitchFamily="34" charset="-120"/>
              </a:rPr>
              <a:t>Customer Portal</a:t>
            </a:r>
            <a:endParaRPr lang="en-US" sz="2000" dirty="0"/>
          </a:p>
        </p:txBody>
      </p:sp>
      <p:sp>
        <p:nvSpPr>
          <p:cNvPr id="7" name="Text 4"/>
          <p:cNvSpPr txBox="1"/>
          <p:nvPr/>
        </p:nvSpPr>
        <p:spPr>
          <a:xfrm>
            <a:off x="868680" y="3154680"/>
            <a:ext cx="3017520" cy="2468880"/>
          </a:xfrm>
          <a:prstGeom prst="rect">
            <a:avLst/>
          </a:prstGeom>
          <a:noFill/>
          <a:ln/>
        </p:spPr>
        <p:txBody>
          <a:bodyPr wrap="square" lIns="0" tIns="0" rIns="0" bIns="0" rtlCol="0" anchor="t"/>
          <a:lstStyle/>
          <a:p>
            <a:pPr indent="0" marL="0">
              <a:spcAft>
                <a:spcPts val="600"/>
              </a:spcAft>
              <a:buNone/>
            </a:pPr>
            <a:r>
              <a:rPr lang="en-US" sz="1800" dirty="0">
                <a:solidFill>
                  <a:srgbClr val="0F1B33"/>
                </a:solidFill>
                <a:latin typeface="Calibri" pitchFamily="34" charset="0"/>
                <a:ea typeface="Calibri" pitchFamily="34" charset="-122"/>
                <a:cs typeface="Calibri" pitchFamily="34" charset="-120"/>
              </a:rPr>
              <a:t>React app, port 5300</a:t>
            </a:r>
            <a:endParaRPr lang="en-US" sz="1800" dirty="0"/>
          </a:p>
          <a:p>
            <a:pPr indent="0" marL="0">
              <a:spcAft>
                <a:spcPts val="600"/>
              </a:spcAft>
              <a:buNone/>
            </a:pPr>
            <a:r>
              <a:rPr lang="en-US" sz="1800" dirty="0">
                <a:solidFill>
                  <a:srgbClr val="0F1B33"/>
                </a:solidFill>
                <a:latin typeface="Calibri" pitchFamily="34" charset="0"/>
                <a:ea typeface="Calibri" pitchFamily="34" charset="-122"/>
                <a:cs typeface="Calibri" pitchFamily="34" charset="-120"/>
              </a:rPr>
              <a:t>Accounts, balances, profile</a:t>
            </a:r>
            <a:endParaRPr lang="en-US" sz="1800" dirty="0"/>
          </a:p>
          <a:p>
            <a:pPr indent="0" marL="0">
              <a:spcAft>
                <a:spcPts val="600"/>
              </a:spcAft>
              <a:buNone/>
            </a:pPr>
            <a:r>
              <a:rPr lang="en-US" sz="1800" dirty="0">
                <a:solidFill>
                  <a:srgbClr val="0F1B33"/>
                </a:solidFill>
                <a:latin typeface="Calibri" pitchFamily="34" charset="0"/>
                <a:ea typeface="Calibri" pitchFamily="34" charset="-122"/>
                <a:cs typeface="Calibri" pitchFamily="34" charset="-120"/>
              </a:rPr>
              <a:t>Sensitive: change e-mail address</a:t>
            </a:r>
            <a:endParaRPr lang="en-US" sz="1800" dirty="0"/>
          </a:p>
        </p:txBody>
      </p:sp>
      <p:sp>
        <p:nvSpPr>
          <p:cNvPr id="8" name="Shape 5"/>
          <p:cNvSpPr/>
          <p:nvPr/>
        </p:nvSpPr>
        <p:spPr>
          <a:xfrm>
            <a:off x="4343400" y="2194560"/>
            <a:ext cx="3474720" cy="3566160"/>
          </a:xfrm>
          <a:prstGeom prst="roundRect">
            <a:avLst>
              <a:gd name="adj" fmla="val 3158"/>
            </a:avLst>
          </a:prstGeom>
          <a:solidFill>
            <a:srgbClr val="F3F6FB"/>
          </a:solidFill>
          <a:ln w="12700">
            <a:solidFill>
              <a:srgbClr val="DDE4EF"/>
            </a:solidFill>
            <a:prstDash val="solid"/>
          </a:ln>
          <a:effectLst>
            <a:outerShdw sx="100000" sy="100000" kx="0" ky="0" algn="bl" rotWithShape="0" blurRad="76200" dist="25400" dir="5400000">
              <a:srgbClr val="000000">
                <a:alpha val="12000"/>
              </a:srgbClr>
            </a:outerShdw>
          </a:effectLst>
        </p:spPr>
      </p:sp>
      <p:sp>
        <p:nvSpPr>
          <p:cNvPr id="9" name="Text 6"/>
          <p:cNvSpPr txBox="1"/>
          <p:nvPr/>
        </p:nvSpPr>
        <p:spPr>
          <a:xfrm>
            <a:off x="4572000" y="2359152"/>
            <a:ext cx="3017520" cy="731520"/>
          </a:xfrm>
          <a:prstGeom prst="rect">
            <a:avLst/>
          </a:prstGeom>
          <a:noFill/>
          <a:ln/>
        </p:spPr>
        <p:txBody>
          <a:bodyPr wrap="square" lIns="0" tIns="0" rIns="0" bIns="0" rtlCol="0" anchor="t"/>
          <a:lstStyle/>
          <a:p>
            <a:pPr indent="0" marL="0">
              <a:buNone/>
            </a:pPr>
            <a:r>
              <a:rPr lang="en-US" sz="2000" b="1" dirty="0">
                <a:solidFill>
                  <a:srgbClr val="12307A"/>
                </a:solidFill>
                <a:latin typeface="Cambria" pitchFamily="34" charset="0"/>
                <a:ea typeface="Cambria" pitchFamily="34" charset="-122"/>
                <a:cs typeface="Cambria" pitchFamily="34" charset="-120"/>
              </a:rPr>
              <a:t>Payments and Transfers</a:t>
            </a:r>
            <a:endParaRPr lang="en-US" sz="2000" dirty="0"/>
          </a:p>
        </p:txBody>
      </p:sp>
      <p:sp>
        <p:nvSpPr>
          <p:cNvPr id="10" name="Text 7"/>
          <p:cNvSpPr txBox="1"/>
          <p:nvPr/>
        </p:nvSpPr>
        <p:spPr>
          <a:xfrm>
            <a:off x="4572000" y="3154680"/>
            <a:ext cx="3017520" cy="2468880"/>
          </a:xfrm>
          <a:prstGeom prst="rect">
            <a:avLst/>
          </a:prstGeom>
          <a:noFill/>
          <a:ln/>
        </p:spPr>
        <p:txBody>
          <a:bodyPr wrap="square" lIns="0" tIns="0" rIns="0" bIns="0" rtlCol="0" anchor="t"/>
          <a:lstStyle/>
          <a:p>
            <a:pPr indent="0" marL="0">
              <a:spcAft>
                <a:spcPts val="600"/>
              </a:spcAft>
              <a:buNone/>
            </a:pPr>
            <a:r>
              <a:rPr lang="en-US" sz="1800" dirty="0">
                <a:solidFill>
                  <a:srgbClr val="0F1B33"/>
                </a:solidFill>
                <a:latin typeface="Calibri" pitchFamily="34" charset="0"/>
                <a:ea typeface="Calibri" pitchFamily="34" charset="-122"/>
                <a:cs typeface="Calibri" pitchFamily="34" charset="-120"/>
              </a:rPr>
              <a:t>Angular app, port 5400</a:t>
            </a:r>
            <a:endParaRPr lang="en-US" sz="1800" dirty="0"/>
          </a:p>
          <a:p>
            <a:pPr indent="0" marL="0">
              <a:spcAft>
                <a:spcPts val="600"/>
              </a:spcAft>
              <a:buNone/>
            </a:pPr>
            <a:r>
              <a:rPr lang="en-US" sz="1800" dirty="0">
                <a:solidFill>
                  <a:srgbClr val="0F1B33"/>
                </a:solidFill>
                <a:latin typeface="Calibri" pitchFamily="34" charset="0"/>
                <a:ea typeface="Calibri" pitchFamily="34" charset="-122"/>
                <a:cs typeface="Calibri" pitchFamily="34" charset="-120"/>
              </a:rPr>
              <a:t>Send money, add payee</a:t>
            </a:r>
            <a:endParaRPr lang="en-US" sz="1800" dirty="0"/>
          </a:p>
          <a:p>
            <a:pPr indent="0" marL="0">
              <a:spcAft>
                <a:spcPts val="600"/>
              </a:spcAft>
              <a:buNone/>
            </a:pPr>
            <a:r>
              <a:rPr lang="en-US" sz="1800" dirty="0">
                <a:solidFill>
                  <a:srgbClr val="0F1B33"/>
                </a:solidFill>
                <a:latin typeface="Calibri" pitchFamily="34" charset="0"/>
                <a:ea typeface="Calibri" pitchFamily="34" charset="-122"/>
                <a:cs typeface="Calibri" pitchFamily="34" charset="-120"/>
              </a:rPr>
              <a:t>Sensitive: add payee, send over 1000</a:t>
            </a:r>
            <a:endParaRPr lang="en-US" sz="1800" dirty="0"/>
          </a:p>
        </p:txBody>
      </p:sp>
      <p:sp>
        <p:nvSpPr>
          <p:cNvPr id="11" name="Shape 8"/>
          <p:cNvSpPr/>
          <p:nvPr/>
        </p:nvSpPr>
        <p:spPr>
          <a:xfrm>
            <a:off x="8046720" y="2194560"/>
            <a:ext cx="3474720" cy="3566160"/>
          </a:xfrm>
          <a:prstGeom prst="roundRect">
            <a:avLst>
              <a:gd name="adj" fmla="val 3158"/>
            </a:avLst>
          </a:prstGeom>
          <a:solidFill>
            <a:srgbClr val="F3F6FB"/>
          </a:solidFill>
          <a:ln w="12700">
            <a:solidFill>
              <a:srgbClr val="DDE4EF"/>
            </a:solidFill>
            <a:prstDash val="solid"/>
          </a:ln>
          <a:effectLst>
            <a:outerShdw sx="100000" sy="100000" kx="0" ky="0" algn="bl" rotWithShape="0" blurRad="76200" dist="25400" dir="5400000">
              <a:srgbClr val="000000">
                <a:alpha val="12000"/>
              </a:srgbClr>
            </a:outerShdw>
          </a:effectLst>
        </p:spPr>
      </p:sp>
      <p:sp>
        <p:nvSpPr>
          <p:cNvPr id="12" name="Text 9"/>
          <p:cNvSpPr txBox="1"/>
          <p:nvPr/>
        </p:nvSpPr>
        <p:spPr>
          <a:xfrm>
            <a:off x="8275320" y="2359152"/>
            <a:ext cx="3017520" cy="731520"/>
          </a:xfrm>
          <a:prstGeom prst="rect">
            <a:avLst/>
          </a:prstGeom>
          <a:noFill/>
          <a:ln/>
        </p:spPr>
        <p:txBody>
          <a:bodyPr wrap="square" lIns="0" tIns="0" rIns="0" bIns="0" rtlCol="0" anchor="t"/>
          <a:lstStyle/>
          <a:p>
            <a:pPr indent="0" marL="0">
              <a:buNone/>
            </a:pPr>
            <a:r>
              <a:rPr lang="en-US" sz="2000" b="1" dirty="0">
                <a:solidFill>
                  <a:srgbClr val="12307A"/>
                </a:solidFill>
                <a:latin typeface="Cambria" pitchFamily="34" charset="0"/>
                <a:ea typeface="Cambria" pitchFamily="34" charset="-122"/>
                <a:cs typeface="Cambria" pitchFamily="34" charset="-120"/>
              </a:rPr>
              <a:t>Back Office</a:t>
            </a:r>
            <a:endParaRPr lang="en-US" sz="2000" dirty="0"/>
          </a:p>
        </p:txBody>
      </p:sp>
      <p:sp>
        <p:nvSpPr>
          <p:cNvPr id="13" name="Text 10"/>
          <p:cNvSpPr txBox="1"/>
          <p:nvPr/>
        </p:nvSpPr>
        <p:spPr>
          <a:xfrm>
            <a:off x="8275320" y="3154680"/>
            <a:ext cx="3017520" cy="2468880"/>
          </a:xfrm>
          <a:prstGeom prst="rect">
            <a:avLst/>
          </a:prstGeom>
          <a:noFill/>
          <a:ln/>
        </p:spPr>
        <p:txBody>
          <a:bodyPr wrap="square" lIns="0" tIns="0" rIns="0" bIns="0" rtlCol="0" anchor="t"/>
          <a:lstStyle/>
          <a:p>
            <a:pPr indent="0" marL="0">
              <a:spcAft>
                <a:spcPts val="600"/>
              </a:spcAft>
              <a:buNone/>
            </a:pPr>
            <a:r>
              <a:rPr lang="en-US" sz="1800" dirty="0">
                <a:solidFill>
                  <a:srgbClr val="0F1B33"/>
                </a:solidFill>
                <a:latin typeface="Calibri" pitchFamily="34" charset="0"/>
                <a:ea typeface="Calibri" pitchFamily="34" charset="-122"/>
                <a:cs typeface="Calibri" pitchFamily="34" charset="-120"/>
              </a:rPr>
              <a:t>ASP.NET Core MVC, port 5200</a:t>
            </a:r>
            <a:endParaRPr lang="en-US" sz="1800" dirty="0"/>
          </a:p>
          <a:p>
            <a:pPr indent="0" marL="0">
              <a:spcAft>
                <a:spcPts val="600"/>
              </a:spcAft>
              <a:buNone/>
            </a:pPr>
            <a:r>
              <a:rPr lang="en-US" sz="1800" dirty="0">
                <a:solidFill>
                  <a:srgbClr val="0F1B33"/>
                </a:solidFill>
                <a:latin typeface="Calibri" pitchFamily="34" charset="0"/>
                <a:ea typeface="Calibri" pitchFamily="34" charset="-122"/>
                <a:cs typeface="Calibri" pitchFamily="34" charset="-120"/>
              </a:rPr>
              <a:t>Limits, approvals, users</a:t>
            </a:r>
            <a:endParaRPr lang="en-US" sz="1800" dirty="0"/>
          </a:p>
          <a:p>
            <a:pPr indent="0" marL="0">
              <a:spcAft>
                <a:spcPts val="600"/>
              </a:spcAft>
              <a:buNone/>
            </a:pPr>
            <a:r>
              <a:rPr lang="en-US" sz="1800" dirty="0">
                <a:solidFill>
                  <a:srgbClr val="0F1B33"/>
                </a:solidFill>
                <a:latin typeface="Calibri" pitchFamily="34" charset="0"/>
                <a:ea typeface="Calibri" pitchFamily="34" charset="-122"/>
                <a:cs typeface="Calibri" pitchFamily="34" charset="-120"/>
              </a:rPr>
              <a:t>Sensitive: change limit, approve transfer</a:t>
            </a:r>
            <a:endParaRPr lang="en-US" sz="18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2607A"/>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822960"/>
          </a:xfrm>
          <a:prstGeom prst="rect">
            <a:avLst/>
          </a:prstGeom>
          <a:noFill/>
          <a:ln/>
        </p:spPr>
        <p:txBody>
          <a:bodyPr wrap="square" lIns="0" tIns="0" rIns="0" bIns="0" rtlCol="0" anchor="ctr"/>
          <a:lstStyle/>
          <a:p>
            <a:pPr algn="l" indent="0" marL="0">
              <a:buNone/>
            </a:pPr>
            <a:r>
              <a:rPr lang="en-US" sz="3600" b="1" dirty="0">
                <a:solidFill>
                  <a:srgbClr val="12307A"/>
                </a:solidFill>
                <a:latin typeface="Cambria" pitchFamily="34" charset="0"/>
                <a:ea typeface="Cambria" pitchFamily="34" charset="-122"/>
                <a:cs typeface="Cambria" pitchFamily="34" charset="-120"/>
              </a:rPr>
              <a:t>Architecture: three apps, one API, one IdP</a:t>
            </a:r>
            <a:endParaRPr lang="en-US" sz="3600" dirty="0"/>
          </a:p>
        </p:txBody>
      </p:sp>
      <p:sp>
        <p:nvSpPr>
          <p:cNvPr id="4" name="Text 1"/>
          <p:cNvSpPr txBox="1"/>
          <p:nvPr/>
        </p:nvSpPr>
        <p:spPr>
          <a:xfrm>
            <a:off x="640080" y="1280160"/>
            <a:ext cx="10881360" cy="457200"/>
          </a:xfrm>
          <a:prstGeom prst="rect">
            <a:avLst/>
          </a:prstGeom>
          <a:noFill/>
          <a:ln/>
        </p:spPr>
        <p:txBody>
          <a:bodyPr wrap="square" lIns="0" tIns="0" rIns="0" bIns="0" rtlCol="0" anchor="ctr"/>
          <a:lstStyle/>
          <a:p>
            <a:pPr indent="0" marL="0">
              <a:buNone/>
            </a:pPr>
            <a:r>
              <a:rPr lang="en-US" sz="1800" dirty="0">
                <a:solidFill>
                  <a:srgbClr val="52607A"/>
                </a:solidFill>
                <a:latin typeface="Calibri" pitchFamily="34" charset="0"/>
                <a:ea typeface="Calibri" pitchFamily="34" charset="-122"/>
                <a:cs typeface="Calibri" pitchFamily="34" charset="-120"/>
              </a:rPr>
              <a:t>For developers: the API validates every token itself; apps only carry it.</a:t>
            </a:r>
            <a:endParaRPr lang="en-US" sz="1800" dirty="0"/>
          </a:p>
        </p:txBody>
      </p:sp>
      <p:sp>
        <p:nvSpPr>
          <p:cNvPr id="5" name="Text 2"/>
          <p:cNvSpPr txBox="1"/>
          <p:nvPr/>
        </p:nvSpPr>
        <p:spPr>
          <a:xfrm>
            <a:off x="640080" y="2286000"/>
            <a:ext cx="2926080" cy="822960"/>
          </a:xfrm>
          <a:prstGeom prst="roundRect">
            <a:avLst>
              <a:gd name="adj" fmla="val 11111"/>
            </a:avLst>
          </a:prstGeom>
          <a:solidFill>
            <a:srgbClr val="1F56D6"/>
          </a:solidFill>
          <a:ln/>
        </p:spPr>
        <p:txBody>
          <a:bodyPr wrap="square" lIns="50800" tIns="50800" rIns="50800" bIns="5080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Customer Portal (React)</a:t>
            </a:r>
            <a:endParaRPr lang="en-US" sz="1600" dirty="0"/>
          </a:p>
        </p:txBody>
      </p:sp>
      <p:sp>
        <p:nvSpPr>
          <p:cNvPr id="6" name="Text 3"/>
          <p:cNvSpPr txBox="1"/>
          <p:nvPr/>
        </p:nvSpPr>
        <p:spPr>
          <a:xfrm>
            <a:off x="640080" y="3383280"/>
            <a:ext cx="2926080" cy="822960"/>
          </a:xfrm>
          <a:prstGeom prst="roundRect">
            <a:avLst>
              <a:gd name="adj" fmla="val 11111"/>
            </a:avLst>
          </a:prstGeom>
          <a:solidFill>
            <a:srgbClr val="1F56D6"/>
          </a:solidFill>
          <a:ln/>
        </p:spPr>
        <p:txBody>
          <a:bodyPr wrap="square" lIns="50800" tIns="50800" rIns="50800" bIns="5080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Payments (Angular)</a:t>
            </a:r>
            <a:endParaRPr lang="en-US" sz="1600" dirty="0"/>
          </a:p>
        </p:txBody>
      </p:sp>
      <p:sp>
        <p:nvSpPr>
          <p:cNvPr id="7" name="Text 4"/>
          <p:cNvSpPr txBox="1"/>
          <p:nvPr/>
        </p:nvSpPr>
        <p:spPr>
          <a:xfrm>
            <a:off x="640080" y="4480560"/>
            <a:ext cx="2926080" cy="822960"/>
          </a:xfrm>
          <a:prstGeom prst="roundRect">
            <a:avLst>
              <a:gd name="adj" fmla="val 11111"/>
            </a:avLst>
          </a:prstGeom>
          <a:solidFill>
            <a:srgbClr val="1F56D6"/>
          </a:solidFill>
          <a:ln/>
        </p:spPr>
        <p:txBody>
          <a:bodyPr wrap="square" lIns="50800" tIns="50800" rIns="50800" bIns="5080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Back Office (MVC)</a:t>
            </a:r>
            <a:endParaRPr lang="en-US" sz="1600" dirty="0"/>
          </a:p>
        </p:txBody>
      </p:sp>
      <p:sp>
        <p:nvSpPr>
          <p:cNvPr id="8" name="Text 5"/>
          <p:cNvSpPr txBox="1"/>
          <p:nvPr/>
        </p:nvSpPr>
        <p:spPr>
          <a:xfrm>
            <a:off x="4846320" y="3383280"/>
            <a:ext cx="2743200" cy="1280160"/>
          </a:xfrm>
          <a:prstGeom prst="roundRect">
            <a:avLst>
              <a:gd name="adj" fmla="val 7143"/>
            </a:avLst>
          </a:prstGeom>
          <a:solidFill>
            <a:srgbClr val="0FB59A"/>
          </a:solidFill>
          <a:ln/>
        </p:spPr>
        <p:txBody>
          <a:bodyPr wrap="square" lIns="50800" tIns="50800" rIns="50800" bIns="50800" rtlCol="0" anchor="ctr"/>
          <a:lstStyle/>
          <a:p>
            <a:pPr algn="ctr" indent="0" marL="0">
              <a:buNone/>
            </a:pPr>
            <a:r>
              <a:rPr lang="en-US" sz="1800" b="1" dirty="0">
                <a:solidFill>
                  <a:srgbClr val="0F1B33"/>
                </a:solidFill>
                <a:latin typeface="Calibri" pitchFamily="34" charset="0"/>
                <a:ea typeface="Calibri" pitchFamily="34" charset="-122"/>
                <a:cs typeface="Calibri" pitchFamily="34" charset="-120"/>
              </a:rPr>
              <a:t>Shared API</a:t>
            </a:r>
            <a:endParaRPr lang="en-US" sz="1800" dirty="0"/>
          </a:p>
          <a:p>
            <a:pPr algn="ctr" indent="0" marL="0">
              <a:buNone/>
            </a:pPr>
            <a:r>
              <a:rPr lang="en-US" sz="1800" b="1" dirty="0">
                <a:solidFill>
                  <a:srgbClr val="0F1B33"/>
                </a:solidFill>
                <a:latin typeface="Calibri" pitchFamily="34" charset="0"/>
                <a:ea typeface="Calibri" pitchFamily="34" charset="-122"/>
                <a:cs typeface="Calibri" pitchFamily="34" charset="-120"/>
              </a:rPr>
              <a:t>enforces step-up</a:t>
            </a:r>
            <a:endParaRPr lang="en-US" sz="1800" dirty="0"/>
          </a:p>
        </p:txBody>
      </p:sp>
      <p:sp>
        <p:nvSpPr>
          <p:cNvPr id="9" name="Text 6"/>
          <p:cNvSpPr txBox="1"/>
          <p:nvPr/>
        </p:nvSpPr>
        <p:spPr>
          <a:xfrm>
            <a:off x="8869680" y="3383280"/>
            <a:ext cx="2651760" cy="1280160"/>
          </a:xfrm>
          <a:prstGeom prst="roundRect">
            <a:avLst>
              <a:gd name="adj" fmla="val 7143"/>
            </a:avLst>
          </a:prstGeom>
          <a:solidFill>
            <a:srgbClr val="12307A"/>
          </a:solidFill>
          <a:ln/>
        </p:spPr>
        <p:txBody>
          <a:bodyPr wrap="square" lIns="50800" tIns="50800" rIns="50800" bIns="5080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Keycloak</a:t>
            </a:r>
            <a:endParaRPr lang="en-US" sz="1800" dirty="0"/>
          </a:p>
          <a:p>
            <a:pPr algn="ctr" indent="0" marL="0">
              <a:buNone/>
            </a:pPr>
            <a:r>
              <a:rPr lang="en-US" sz="1800" b="1" dirty="0">
                <a:solidFill>
                  <a:srgbClr val="FFFFFF"/>
                </a:solidFill>
                <a:latin typeface="Calibri" pitchFamily="34" charset="0"/>
                <a:ea typeface="Calibri" pitchFamily="34" charset="-122"/>
                <a:cs typeface="Calibri" pitchFamily="34" charset="-120"/>
              </a:rPr>
              <a:t>login + TOTP</a:t>
            </a:r>
            <a:endParaRPr lang="en-US" sz="1800" dirty="0"/>
          </a:p>
        </p:txBody>
      </p:sp>
      <p:sp>
        <p:nvSpPr>
          <p:cNvPr id="10" name="Shape 7"/>
          <p:cNvSpPr/>
          <p:nvPr/>
        </p:nvSpPr>
        <p:spPr>
          <a:xfrm>
            <a:off x="3566160" y="2697480"/>
            <a:ext cx="1280160" cy="1051560"/>
          </a:xfrm>
          <a:prstGeom prst="line">
            <a:avLst/>
          </a:prstGeom>
          <a:noFill/>
          <a:ln w="25400">
            <a:solidFill>
              <a:srgbClr val="52607A"/>
            </a:solidFill>
            <a:prstDash val="solid"/>
            <a:tailEnd type="triangle"/>
          </a:ln>
        </p:spPr>
      </p:sp>
      <p:sp>
        <p:nvSpPr>
          <p:cNvPr id="11" name="Shape 8"/>
          <p:cNvSpPr/>
          <p:nvPr/>
        </p:nvSpPr>
        <p:spPr>
          <a:xfrm>
            <a:off x="3566160" y="3794760"/>
            <a:ext cx="1280160" cy="228600"/>
          </a:xfrm>
          <a:prstGeom prst="line">
            <a:avLst/>
          </a:prstGeom>
          <a:noFill/>
          <a:ln w="25400">
            <a:solidFill>
              <a:srgbClr val="52607A"/>
            </a:solidFill>
            <a:prstDash val="solid"/>
            <a:tailEnd type="triangle"/>
          </a:ln>
        </p:spPr>
      </p:sp>
      <p:sp>
        <p:nvSpPr>
          <p:cNvPr id="12" name="Shape 9"/>
          <p:cNvSpPr/>
          <p:nvPr/>
        </p:nvSpPr>
        <p:spPr>
          <a:xfrm flipV="1">
            <a:off x="3566160" y="4389120"/>
            <a:ext cx="1280160" cy="502920"/>
          </a:xfrm>
          <a:prstGeom prst="line">
            <a:avLst/>
          </a:prstGeom>
          <a:noFill/>
          <a:ln w="25400">
            <a:solidFill>
              <a:srgbClr val="52607A"/>
            </a:solidFill>
            <a:prstDash val="solid"/>
            <a:tailEnd type="triangle"/>
          </a:ln>
        </p:spPr>
      </p:sp>
      <p:sp>
        <p:nvSpPr>
          <p:cNvPr id="13" name="Shape 10"/>
          <p:cNvSpPr/>
          <p:nvPr/>
        </p:nvSpPr>
        <p:spPr>
          <a:xfrm flipH="1">
            <a:off x="7589520" y="4023360"/>
            <a:ext cx="1280160" cy="0"/>
          </a:xfrm>
          <a:prstGeom prst="line">
            <a:avLst/>
          </a:prstGeom>
          <a:noFill/>
          <a:ln w="25400">
            <a:solidFill>
              <a:srgbClr val="52607A"/>
            </a:solidFill>
            <a:prstDash val="solid"/>
            <a:tailEnd type="triangle"/>
          </a:ln>
        </p:spPr>
      </p:sp>
      <p:sp>
        <p:nvSpPr>
          <p:cNvPr id="14" name="Text 11"/>
          <p:cNvSpPr txBox="1"/>
          <p:nvPr/>
        </p:nvSpPr>
        <p:spPr>
          <a:xfrm>
            <a:off x="3566160" y="5303520"/>
            <a:ext cx="2377440" cy="365760"/>
          </a:xfrm>
          <a:prstGeom prst="rect">
            <a:avLst/>
          </a:prstGeom>
          <a:noFill/>
          <a:ln/>
        </p:spPr>
        <p:txBody>
          <a:bodyPr wrap="square" lIns="0" tIns="0" rIns="0" bIns="0" rtlCol="0" anchor="ctr"/>
          <a:lstStyle/>
          <a:p>
            <a:pPr indent="0" marL="0">
              <a:buNone/>
            </a:pPr>
            <a:r>
              <a:rPr lang="en-US" sz="1400" dirty="0">
                <a:solidFill>
                  <a:srgbClr val="52607A"/>
                </a:solidFill>
                <a:latin typeface="Calibri" pitchFamily="34" charset="0"/>
                <a:ea typeface="Calibri" pitchFamily="34" charset="-122"/>
                <a:cs typeface="Calibri" pitchFamily="34" charset="-120"/>
              </a:rPr>
              <a:t>access token</a:t>
            </a:r>
            <a:endParaRPr lang="en-US" sz="1400" dirty="0"/>
          </a:p>
        </p:txBody>
      </p:sp>
      <p:sp>
        <p:nvSpPr>
          <p:cNvPr id="15" name="Text 12"/>
          <p:cNvSpPr txBox="1"/>
          <p:nvPr/>
        </p:nvSpPr>
        <p:spPr>
          <a:xfrm>
            <a:off x="7589520" y="3611880"/>
            <a:ext cx="1280160" cy="365760"/>
          </a:xfrm>
          <a:prstGeom prst="rect">
            <a:avLst/>
          </a:prstGeom>
          <a:noFill/>
          <a:ln/>
        </p:spPr>
        <p:txBody>
          <a:bodyPr wrap="square" lIns="0" tIns="0" rIns="0" bIns="0" rtlCol="0" anchor="ctr"/>
          <a:lstStyle/>
          <a:p>
            <a:pPr algn="ctr" indent="0" marL="0">
              <a:buNone/>
            </a:pPr>
            <a:r>
              <a:rPr lang="en-US" sz="1200" dirty="0">
                <a:solidFill>
                  <a:srgbClr val="52607A"/>
                </a:solidFill>
                <a:latin typeface="Calibri" pitchFamily="34" charset="0"/>
                <a:ea typeface="Calibri" pitchFamily="34" charset="-122"/>
                <a:cs typeface="Calibri" pitchFamily="34" charset="-120"/>
              </a:rPr>
              <a:t>public keys (JWKS)</a:t>
            </a:r>
            <a:endParaRPr lang="en-US" sz="1200" dirty="0"/>
          </a:p>
        </p:txBody>
      </p:sp>
      <p:sp>
        <p:nvSpPr>
          <p:cNvPr id="16" name="Text 13"/>
          <p:cNvSpPr txBox="1"/>
          <p:nvPr/>
        </p:nvSpPr>
        <p:spPr>
          <a:xfrm>
            <a:off x="4846320" y="2148840"/>
            <a:ext cx="6675120" cy="457200"/>
          </a:xfrm>
          <a:prstGeom prst="rect">
            <a:avLst/>
          </a:prstGeom>
          <a:noFill/>
          <a:ln/>
        </p:spPr>
        <p:txBody>
          <a:bodyPr wrap="square" lIns="0" tIns="0" rIns="0" bIns="0" rtlCol="0" anchor="ctr"/>
          <a:lstStyle/>
          <a:p>
            <a:pPr indent="0" marL="0">
              <a:buNone/>
            </a:pPr>
            <a:r>
              <a:rPr lang="en-US" sz="1600" b="1" dirty="0">
                <a:solidFill>
                  <a:srgbClr val="12307A"/>
                </a:solidFill>
                <a:latin typeface="Calibri" pitchFamily="34" charset="0"/>
                <a:ea typeface="Calibri" pitchFamily="34" charset="-122"/>
                <a:cs typeface="Calibri" pitchFamily="34" charset="-120"/>
              </a:rPr>
              <a:t>Apps log in via the IdP (redirect, code + PKCE)</a:t>
            </a:r>
            <a:endParaRPr lang="en-US" sz="16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2607A"/>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822960"/>
          </a:xfrm>
          <a:prstGeom prst="rect">
            <a:avLst/>
          </a:prstGeom>
          <a:noFill/>
          <a:ln/>
        </p:spPr>
        <p:txBody>
          <a:bodyPr wrap="square" lIns="0" tIns="0" rIns="0" bIns="0" rtlCol="0" anchor="ctr"/>
          <a:lstStyle/>
          <a:p>
            <a:pPr algn="l" indent="0" marL="0">
              <a:buNone/>
            </a:pPr>
            <a:r>
              <a:rPr lang="en-US" sz="3600" b="1" dirty="0">
                <a:solidFill>
                  <a:srgbClr val="12307A"/>
                </a:solidFill>
                <a:latin typeface="Cambria" pitchFamily="34" charset="0"/>
                <a:ea typeface="Cambria" pitchFamily="34" charset="-122"/>
                <a:cs typeface="Cambria" pitchFamily="34" charset="-120"/>
              </a:rPr>
              <a:t>The token journey</a:t>
            </a:r>
            <a:endParaRPr lang="en-US" sz="3600" dirty="0"/>
          </a:p>
        </p:txBody>
      </p:sp>
      <p:sp>
        <p:nvSpPr>
          <p:cNvPr id="4" name="Text 1"/>
          <p:cNvSpPr txBox="1"/>
          <p:nvPr/>
        </p:nvSpPr>
        <p:spPr>
          <a:xfrm>
            <a:off x="640080" y="1280160"/>
            <a:ext cx="10881360" cy="457200"/>
          </a:xfrm>
          <a:prstGeom prst="rect">
            <a:avLst/>
          </a:prstGeom>
          <a:noFill/>
          <a:ln/>
        </p:spPr>
        <p:txBody>
          <a:bodyPr wrap="square" lIns="0" tIns="0" rIns="0" bIns="0" rtlCol="0" anchor="ctr"/>
          <a:lstStyle/>
          <a:p>
            <a:pPr indent="0" marL="0">
              <a:buNone/>
            </a:pPr>
            <a:r>
              <a:rPr lang="en-US" sz="1800" dirty="0">
                <a:solidFill>
                  <a:srgbClr val="52607A"/>
                </a:solidFill>
                <a:latin typeface="Calibri" pitchFamily="34" charset="0"/>
                <a:ea typeface="Calibri" pitchFamily="34" charset="-122"/>
                <a:cs typeface="Calibri" pitchFamily="34" charset="-120"/>
              </a:rPr>
              <a:t>For managers: short-lived passes limit the damage if one leaks.</a:t>
            </a:r>
            <a:endParaRPr lang="en-US" sz="1800" dirty="0"/>
          </a:p>
        </p:txBody>
      </p:sp>
      <p:sp>
        <p:nvSpPr>
          <p:cNvPr id="5" name="Shape 2"/>
          <p:cNvSpPr/>
          <p:nvPr/>
        </p:nvSpPr>
        <p:spPr>
          <a:xfrm>
            <a:off x="640080" y="2194560"/>
            <a:ext cx="3474720" cy="3383280"/>
          </a:xfrm>
          <a:prstGeom prst="roundRect">
            <a:avLst>
              <a:gd name="adj" fmla="val 3243"/>
            </a:avLst>
          </a:prstGeom>
          <a:solidFill>
            <a:srgbClr val="F3F6FB"/>
          </a:solidFill>
          <a:ln w="12700">
            <a:solidFill>
              <a:srgbClr val="DDE4EF"/>
            </a:solidFill>
            <a:prstDash val="solid"/>
          </a:ln>
          <a:effectLst>
            <a:outerShdw sx="100000" sy="100000" kx="0" ky="0" algn="bl" rotWithShape="0" blurRad="76200" dist="25400" dir="5400000">
              <a:srgbClr val="000000">
                <a:alpha val="12000"/>
              </a:srgbClr>
            </a:outerShdw>
          </a:effectLst>
        </p:spPr>
      </p:sp>
      <p:sp>
        <p:nvSpPr>
          <p:cNvPr id="6" name="Text 3"/>
          <p:cNvSpPr txBox="1"/>
          <p:nvPr/>
        </p:nvSpPr>
        <p:spPr>
          <a:xfrm>
            <a:off x="868680" y="2359152"/>
            <a:ext cx="3017520" cy="731520"/>
          </a:xfrm>
          <a:prstGeom prst="rect">
            <a:avLst/>
          </a:prstGeom>
          <a:noFill/>
          <a:ln/>
        </p:spPr>
        <p:txBody>
          <a:bodyPr wrap="square" lIns="0" tIns="0" rIns="0" bIns="0" rtlCol="0" anchor="t"/>
          <a:lstStyle/>
          <a:p>
            <a:pPr indent="0" marL="0">
              <a:buNone/>
            </a:pPr>
            <a:r>
              <a:rPr lang="en-US" sz="2000" b="1" dirty="0">
                <a:solidFill>
                  <a:srgbClr val="12307A"/>
                </a:solidFill>
                <a:latin typeface="Cambria" pitchFamily="34" charset="0"/>
                <a:ea typeface="Cambria" pitchFamily="34" charset="-122"/>
                <a:cs typeface="Cambria" pitchFamily="34" charset="-120"/>
              </a:rPr>
              <a:t>ID token</a:t>
            </a:r>
            <a:endParaRPr lang="en-US" sz="2000" dirty="0"/>
          </a:p>
        </p:txBody>
      </p:sp>
      <p:sp>
        <p:nvSpPr>
          <p:cNvPr id="7" name="Text 4"/>
          <p:cNvSpPr txBox="1"/>
          <p:nvPr/>
        </p:nvSpPr>
        <p:spPr>
          <a:xfrm>
            <a:off x="868680" y="3154680"/>
            <a:ext cx="3017520" cy="2286000"/>
          </a:xfrm>
          <a:prstGeom prst="rect">
            <a:avLst/>
          </a:prstGeom>
          <a:noFill/>
          <a:ln/>
        </p:spPr>
        <p:txBody>
          <a:bodyPr wrap="square" lIns="0" tIns="0" rIns="0" bIns="0" rtlCol="0" anchor="t"/>
          <a:lstStyle/>
          <a:p>
            <a:pPr indent="0" marL="0">
              <a:spcAft>
                <a:spcPts val="600"/>
              </a:spcAft>
              <a:buNone/>
            </a:pPr>
            <a:r>
              <a:rPr lang="en-US" sz="1800" dirty="0">
                <a:solidFill>
                  <a:srgbClr val="0F1B33"/>
                </a:solidFill>
                <a:latin typeface="Calibri" pitchFamily="34" charset="0"/>
                <a:ea typeface="Calibri" pitchFamily="34" charset="-122"/>
                <a:cs typeface="Calibri" pitchFamily="34" charset="-120"/>
              </a:rPr>
              <a:t>Read by the app</a:t>
            </a:r>
            <a:endParaRPr lang="en-US" sz="1800" dirty="0"/>
          </a:p>
          <a:p>
            <a:pPr indent="0" marL="0">
              <a:spcAft>
                <a:spcPts val="600"/>
              </a:spcAft>
              <a:buNone/>
            </a:pPr>
            <a:r>
              <a:rPr lang="en-US" sz="1800" dirty="0">
                <a:solidFill>
                  <a:srgbClr val="0F1B33"/>
                </a:solidFill>
                <a:latin typeface="Calibri" pitchFamily="34" charset="0"/>
                <a:ea typeface="Calibri" pitchFamily="34" charset="-122"/>
                <a:cs typeface="Calibri" pitchFamily="34" charset="-120"/>
              </a:rPr>
              <a:t>Who logged in and how</a:t>
            </a:r>
            <a:endParaRPr lang="en-US" sz="1800" dirty="0"/>
          </a:p>
          <a:p>
            <a:pPr indent="0" marL="0">
              <a:spcAft>
                <a:spcPts val="600"/>
              </a:spcAft>
              <a:buNone/>
            </a:pPr>
            <a:r>
              <a:rPr lang="en-US" sz="1800" dirty="0">
                <a:solidFill>
                  <a:srgbClr val="0F1B33"/>
                </a:solidFill>
                <a:latin typeface="Calibri" pitchFamily="34" charset="0"/>
                <a:ea typeface="Calibri" pitchFamily="34" charset="-122"/>
                <a:cs typeface="Calibri" pitchFamily="34" charset="-120"/>
              </a:rPr>
              <a:t>Never sent to the API</a:t>
            </a:r>
            <a:endParaRPr lang="en-US" sz="1800" dirty="0"/>
          </a:p>
        </p:txBody>
      </p:sp>
      <p:sp>
        <p:nvSpPr>
          <p:cNvPr id="8" name="Shape 5"/>
          <p:cNvSpPr/>
          <p:nvPr/>
        </p:nvSpPr>
        <p:spPr>
          <a:xfrm>
            <a:off x="4343400" y="2194560"/>
            <a:ext cx="3474720" cy="3383280"/>
          </a:xfrm>
          <a:prstGeom prst="roundRect">
            <a:avLst>
              <a:gd name="adj" fmla="val 3243"/>
            </a:avLst>
          </a:prstGeom>
          <a:solidFill>
            <a:srgbClr val="F3F6FB"/>
          </a:solidFill>
          <a:ln w="12700">
            <a:solidFill>
              <a:srgbClr val="DDE4EF"/>
            </a:solidFill>
            <a:prstDash val="solid"/>
          </a:ln>
          <a:effectLst>
            <a:outerShdw sx="100000" sy="100000" kx="0" ky="0" algn="bl" rotWithShape="0" blurRad="76200" dist="25400" dir="5400000">
              <a:srgbClr val="000000">
                <a:alpha val="12000"/>
              </a:srgbClr>
            </a:outerShdw>
          </a:effectLst>
        </p:spPr>
      </p:sp>
      <p:sp>
        <p:nvSpPr>
          <p:cNvPr id="9" name="Text 6"/>
          <p:cNvSpPr txBox="1"/>
          <p:nvPr/>
        </p:nvSpPr>
        <p:spPr>
          <a:xfrm>
            <a:off x="4572000" y="2359152"/>
            <a:ext cx="3017520" cy="731520"/>
          </a:xfrm>
          <a:prstGeom prst="rect">
            <a:avLst/>
          </a:prstGeom>
          <a:noFill/>
          <a:ln/>
        </p:spPr>
        <p:txBody>
          <a:bodyPr wrap="square" lIns="0" tIns="0" rIns="0" bIns="0" rtlCol="0" anchor="t"/>
          <a:lstStyle/>
          <a:p>
            <a:pPr indent="0" marL="0">
              <a:buNone/>
            </a:pPr>
            <a:r>
              <a:rPr lang="en-US" sz="2000" b="1" dirty="0">
                <a:solidFill>
                  <a:srgbClr val="12307A"/>
                </a:solidFill>
                <a:latin typeface="Cambria" pitchFamily="34" charset="0"/>
                <a:ea typeface="Cambria" pitchFamily="34" charset="-122"/>
                <a:cs typeface="Cambria" pitchFamily="34" charset="-120"/>
              </a:rPr>
              <a:t>Access token</a:t>
            </a:r>
            <a:endParaRPr lang="en-US" sz="2000" dirty="0"/>
          </a:p>
        </p:txBody>
      </p:sp>
      <p:sp>
        <p:nvSpPr>
          <p:cNvPr id="10" name="Text 7"/>
          <p:cNvSpPr txBox="1"/>
          <p:nvPr/>
        </p:nvSpPr>
        <p:spPr>
          <a:xfrm>
            <a:off x="4572000" y="3154680"/>
            <a:ext cx="3017520" cy="2286000"/>
          </a:xfrm>
          <a:prstGeom prst="rect">
            <a:avLst/>
          </a:prstGeom>
          <a:noFill/>
          <a:ln/>
        </p:spPr>
        <p:txBody>
          <a:bodyPr wrap="square" lIns="0" tIns="0" rIns="0" bIns="0" rtlCol="0" anchor="t"/>
          <a:lstStyle/>
          <a:p>
            <a:pPr indent="0" marL="0">
              <a:spcAft>
                <a:spcPts val="600"/>
              </a:spcAft>
              <a:buNone/>
            </a:pPr>
            <a:r>
              <a:rPr lang="en-US" sz="1800" dirty="0">
                <a:solidFill>
                  <a:srgbClr val="0F1B33"/>
                </a:solidFill>
                <a:latin typeface="Calibri" pitchFamily="34" charset="0"/>
                <a:ea typeface="Calibri" pitchFamily="34" charset="-122"/>
                <a:cs typeface="Calibri" pitchFamily="34" charset="-120"/>
              </a:rPr>
              <a:t>Sent to the API</a:t>
            </a:r>
            <a:endParaRPr lang="en-US" sz="1800" dirty="0"/>
          </a:p>
          <a:p>
            <a:pPr indent="0" marL="0">
              <a:spcAft>
                <a:spcPts val="600"/>
              </a:spcAft>
              <a:buNone/>
            </a:pPr>
            <a:r>
              <a:rPr lang="en-US" sz="1800" dirty="0">
                <a:solidFill>
                  <a:srgbClr val="0F1B33"/>
                </a:solidFill>
                <a:latin typeface="Calibri" pitchFamily="34" charset="0"/>
                <a:ea typeface="Calibri" pitchFamily="34" charset="-122"/>
                <a:cs typeface="Calibri" pitchFamily="34" charset="-120"/>
              </a:rPr>
              <a:t>Lives 5 minutes (setting)</a:t>
            </a:r>
            <a:endParaRPr lang="en-US" sz="1800" dirty="0"/>
          </a:p>
          <a:p>
            <a:pPr indent="0" marL="0">
              <a:spcAft>
                <a:spcPts val="600"/>
              </a:spcAft>
              <a:buNone/>
            </a:pPr>
            <a:r>
              <a:rPr lang="en-US" sz="1800" dirty="0">
                <a:solidFill>
                  <a:srgbClr val="0F1B33"/>
                </a:solidFill>
                <a:latin typeface="Calibri" pitchFamily="34" charset="0"/>
                <a:ea typeface="Calibri" pitchFamily="34" charset="-122"/>
                <a:cs typeface="Calibri" pitchFamily="34" charset="-120"/>
              </a:rPr>
              <a:t>Carries level (acr), login time (auth_time), audience</a:t>
            </a:r>
            <a:endParaRPr lang="en-US" sz="1800" dirty="0"/>
          </a:p>
        </p:txBody>
      </p:sp>
      <p:sp>
        <p:nvSpPr>
          <p:cNvPr id="11" name="Shape 8"/>
          <p:cNvSpPr/>
          <p:nvPr/>
        </p:nvSpPr>
        <p:spPr>
          <a:xfrm>
            <a:off x="8046720" y="2194560"/>
            <a:ext cx="3474720" cy="3383280"/>
          </a:xfrm>
          <a:prstGeom prst="roundRect">
            <a:avLst>
              <a:gd name="adj" fmla="val 3243"/>
            </a:avLst>
          </a:prstGeom>
          <a:solidFill>
            <a:srgbClr val="F3F6FB"/>
          </a:solidFill>
          <a:ln w="12700">
            <a:solidFill>
              <a:srgbClr val="DDE4EF"/>
            </a:solidFill>
            <a:prstDash val="solid"/>
          </a:ln>
          <a:effectLst>
            <a:outerShdw sx="100000" sy="100000" kx="0" ky="0" algn="bl" rotWithShape="0" blurRad="76200" dist="25400" dir="5400000">
              <a:srgbClr val="000000">
                <a:alpha val="12000"/>
              </a:srgbClr>
            </a:outerShdw>
          </a:effectLst>
        </p:spPr>
      </p:sp>
      <p:sp>
        <p:nvSpPr>
          <p:cNvPr id="12" name="Text 9"/>
          <p:cNvSpPr txBox="1"/>
          <p:nvPr/>
        </p:nvSpPr>
        <p:spPr>
          <a:xfrm>
            <a:off x="8275320" y="2359152"/>
            <a:ext cx="3017520" cy="731520"/>
          </a:xfrm>
          <a:prstGeom prst="rect">
            <a:avLst/>
          </a:prstGeom>
          <a:noFill/>
          <a:ln/>
        </p:spPr>
        <p:txBody>
          <a:bodyPr wrap="square" lIns="0" tIns="0" rIns="0" bIns="0" rtlCol="0" anchor="t"/>
          <a:lstStyle/>
          <a:p>
            <a:pPr indent="0" marL="0">
              <a:buNone/>
            </a:pPr>
            <a:r>
              <a:rPr lang="en-US" sz="2000" b="1" dirty="0">
                <a:solidFill>
                  <a:srgbClr val="12307A"/>
                </a:solidFill>
                <a:latin typeface="Cambria" pitchFamily="34" charset="0"/>
                <a:ea typeface="Cambria" pitchFamily="34" charset="-122"/>
                <a:cs typeface="Cambria" pitchFamily="34" charset="-120"/>
              </a:rPr>
              <a:t>Where they live</a:t>
            </a:r>
            <a:endParaRPr lang="en-US" sz="2000" dirty="0"/>
          </a:p>
        </p:txBody>
      </p:sp>
      <p:sp>
        <p:nvSpPr>
          <p:cNvPr id="13" name="Text 10"/>
          <p:cNvSpPr txBox="1"/>
          <p:nvPr/>
        </p:nvSpPr>
        <p:spPr>
          <a:xfrm>
            <a:off x="8275320" y="3154680"/>
            <a:ext cx="3017520" cy="2286000"/>
          </a:xfrm>
          <a:prstGeom prst="rect">
            <a:avLst/>
          </a:prstGeom>
          <a:noFill/>
          <a:ln/>
        </p:spPr>
        <p:txBody>
          <a:bodyPr wrap="square" lIns="0" tIns="0" rIns="0" bIns="0" rtlCol="0" anchor="t"/>
          <a:lstStyle/>
          <a:p>
            <a:pPr indent="0" marL="0">
              <a:spcAft>
                <a:spcPts val="600"/>
              </a:spcAft>
              <a:buNone/>
            </a:pPr>
            <a:r>
              <a:rPr lang="en-US" sz="1800" dirty="0">
                <a:solidFill>
                  <a:srgbClr val="0F1B33"/>
                </a:solidFill>
                <a:latin typeface="Calibri" pitchFamily="34" charset="0"/>
                <a:ea typeface="Calibri" pitchFamily="34" charset="-122"/>
                <a:cs typeface="Calibri" pitchFamily="34" charset="-120"/>
              </a:rPr>
              <a:t>React, Angular: browser memory only</a:t>
            </a:r>
            <a:endParaRPr lang="en-US" sz="1800" dirty="0"/>
          </a:p>
          <a:p>
            <a:pPr indent="0" marL="0">
              <a:spcAft>
                <a:spcPts val="600"/>
              </a:spcAft>
              <a:buNone/>
            </a:pPr>
            <a:r>
              <a:rPr lang="en-US" sz="1800" dirty="0">
                <a:solidFill>
                  <a:srgbClr val="0F1B33"/>
                </a:solidFill>
                <a:latin typeface="Calibri" pitchFamily="34" charset="0"/>
                <a:ea typeface="Calibri" pitchFamily="34" charset="-122"/>
                <a:cs typeface="Calibri" pitchFamily="34" charset="-120"/>
              </a:rPr>
              <a:t>MVC: on the server, browser has only an HttpOnly cookie</a:t>
            </a:r>
            <a:endParaRPr lang="en-US" sz="1800" dirty="0"/>
          </a:p>
        </p:txBody>
      </p:sp>
      <p:sp>
        <p:nvSpPr>
          <p:cNvPr id="14" name="Text 11"/>
          <p:cNvSpPr txBox="1"/>
          <p:nvPr/>
        </p:nvSpPr>
        <p:spPr>
          <a:xfrm>
            <a:off x="640080" y="5760720"/>
            <a:ext cx="10881360" cy="457200"/>
          </a:xfrm>
          <a:prstGeom prst="rect">
            <a:avLst/>
          </a:prstGeom>
          <a:noFill/>
          <a:ln/>
        </p:spPr>
        <p:txBody>
          <a:bodyPr wrap="square" lIns="0" tIns="0" rIns="0" bIns="0" rtlCol="0" anchor="ctr"/>
          <a:lstStyle/>
          <a:p>
            <a:pPr indent="0" marL="0">
              <a:buNone/>
            </a:pPr>
            <a:r>
              <a:rPr lang="en-US" sz="1600" b="1" dirty="0">
                <a:solidFill>
                  <a:srgbClr val="12307A"/>
                </a:solidFill>
                <a:latin typeface="Calibri" pitchFamily="34" charset="0"/>
                <a:ea typeface="Calibri" pitchFamily="34" charset="-122"/>
                <a:cs typeface="Calibri" pitchFamily="34" charset="-120"/>
              </a:rPr>
              <a:t>A refresh keeps the original login time, so it can never replace a step-up (verified against Keycloak).</a:t>
            </a:r>
            <a:endParaRPr lang="en-US" sz="16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2607A"/>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822960"/>
          </a:xfrm>
          <a:prstGeom prst="rect">
            <a:avLst/>
          </a:prstGeom>
          <a:noFill/>
          <a:ln/>
        </p:spPr>
        <p:txBody>
          <a:bodyPr wrap="square" lIns="0" tIns="0" rIns="0" bIns="0" rtlCol="0" anchor="ctr"/>
          <a:lstStyle/>
          <a:p>
            <a:pPr algn="l" indent="0" marL="0">
              <a:buNone/>
            </a:pPr>
            <a:r>
              <a:rPr lang="en-US" sz="3600" b="1" dirty="0">
                <a:solidFill>
                  <a:srgbClr val="12307A"/>
                </a:solidFill>
                <a:latin typeface="Cambria" pitchFamily="34" charset="0"/>
                <a:ea typeface="Cambria" pitchFamily="34" charset="-122"/>
                <a:cs typeface="Cambria" pitchFamily="34" charset="-120"/>
              </a:rPr>
              <a:t>Step-up MFA: prove it is really you, right now</a:t>
            </a:r>
            <a:endParaRPr lang="en-US" sz="3600" dirty="0"/>
          </a:p>
        </p:txBody>
      </p:sp>
      <p:sp>
        <p:nvSpPr>
          <p:cNvPr id="4" name="Text 1"/>
          <p:cNvSpPr txBox="1"/>
          <p:nvPr/>
        </p:nvSpPr>
        <p:spPr>
          <a:xfrm>
            <a:off x="640080" y="1280160"/>
            <a:ext cx="10881360" cy="457200"/>
          </a:xfrm>
          <a:prstGeom prst="rect">
            <a:avLst/>
          </a:prstGeom>
          <a:noFill/>
          <a:ln/>
        </p:spPr>
        <p:txBody>
          <a:bodyPr wrap="square" lIns="0" tIns="0" rIns="0" bIns="0" rtlCol="0" anchor="ctr"/>
          <a:lstStyle/>
          <a:p>
            <a:pPr indent="0" marL="0">
              <a:buNone/>
            </a:pPr>
            <a:r>
              <a:rPr lang="en-US" sz="1800" dirty="0">
                <a:solidFill>
                  <a:srgbClr val="52607A"/>
                </a:solidFill>
                <a:latin typeface="Calibri" pitchFamily="34" charset="0"/>
                <a:ea typeface="Calibri" pitchFamily="34" charset="-122"/>
                <a:cs typeface="Calibri" pitchFamily="34" charset="-120"/>
              </a:rPr>
              <a:t>For managers: being logged in is not the same as being sure. Risky actions need fresh proof.</a:t>
            </a:r>
            <a:endParaRPr lang="en-US" sz="1800" dirty="0"/>
          </a:p>
        </p:txBody>
      </p:sp>
      <p:sp>
        <p:nvSpPr>
          <p:cNvPr id="5" name="Shape 2"/>
          <p:cNvSpPr/>
          <p:nvPr/>
        </p:nvSpPr>
        <p:spPr>
          <a:xfrm>
            <a:off x="640080" y="2194560"/>
            <a:ext cx="5212080" cy="2834640"/>
          </a:xfrm>
          <a:prstGeom prst="roundRect">
            <a:avLst>
              <a:gd name="adj" fmla="val 3871"/>
            </a:avLst>
          </a:prstGeom>
          <a:solidFill>
            <a:srgbClr val="F3F6FB"/>
          </a:solidFill>
          <a:ln w="12700">
            <a:solidFill>
              <a:srgbClr val="DDE4EF"/>
            </a:solidFill>
            <a:prstDash val="solid"/>
          </a:ln>
          <a:effectLst>
            <a:outerShdw sx="100000" sy="100000" kx="0" ky="0" algn="bl" rotWithShape="0" blurRad="76200" dist="25400" dir="5400000">
              <a:srgbClr val="000000">
                <a:alpha val="12000"/>
              </a:srgbClr>
            </a:outerShdw>
          </a:effectLst>
        </p:spPr>
      </p:sp>
      <p:sp>
        <p:nvSpPr>
          <p:cNvPr id="6" name="Text 3"/>
          <p:cNvSpPr txBox="1"/>
          <p:nvPr/>
        </p:nvSpPr>
        <p:spPr>
          <a:xfrm>
            <a:off x="868680" y="2359152"/>
            <a:ext cx="4754880" cy="731520"/>
          </a:xfrm>
          <a:prstGeom prst="rect">
            <a:avLst/>
          </a:prstGeom>
          <a:noFill/>
          <a:ln/>
        </p:spPr>
        <p:txBody>
          <a:bodyPr wrap="square" lIns="0" tIns="0" rIns="0" bIns="0" rtlCol="0" anchor="t"/>
          <a:lstStyle/>
          <a:p>
            <a:pPr indent="0" marL="0">
              <a:buNone/>
            </a:pPr>
            <a:r>
              <a:rPr lang="en-US" sz="2000" b="1" dirty="0">
                <a:solidFill>
                  <a:srgbClr val="12307A"/>
                </a:solidFill>
                <a:latin typeface="Cambria" pitchFamily="34" charset="0"/>
                <a:ea typeface="Cambria" pitchFamily="34" charset="-122"/>
                <a:cs typeface="Cambria" pitchFamily="34" charset="-120"/>
              </a:rPr>
              <a:t>LoA1: password</a:t>
            </a:r>
            <a:endParaRPr lang="en-US" sz="2000" dirty="0"/>
          </a:p>
        </p:txBody>
      </p:sp>
      <p:sp>
        <p:nvSpPr>
          <p:cNvPr id="7" name="Text 4"/>
          <p:cNvSpPr txBox="1"/>
          <p:nvPr/>
        </p:nvSpPr>
        <p:spPr>
          <a:xfrm>
            <a:off x="868680" y="3154680"/>
            <a:ext cx="4754880" cy="1737360"/>
          </a:xfrm>
          <a:prstGeom prst="rect">
            <a:avLst/>
          </a:prstGeom>
          <a:noFill/>
          <a:ln/>
        </p:spPr>
        <p:txBody>
          <a:bodyPr wrap="square" lIns="0" tIns="0" rIns="0" bIns="0" rtlCol="0" anchor="t"/>
          <a:lstStyle/>
          <a:p>
            <a:pPr indent="0" marL="0">
              <a:spcAft>
                <a:spcPts val="600"/>
              </a:spcAft>
              <a:buNone/>
            </a:pPr>
            <a:r>
              <a:rPr lang="en-US" sz="1800" dirty="0">
                <a:solidFill>
                  <a:srgbClr val="0F1B33"/>
                </a:solidFill>
                <a:latin typeface="Calibri" pitchFamily="34" charset="0"/>
                <a:ea typeface="Calibri" pitchFamily="34" charset="-122"/>
                <a:cs typeface="Calibri" pitchFamily="34" charset="-120"/>
              </a:rPr>
              <a:t>Enough to look at accounts and balances.</a:t>
            </a:r>
            <a:endParaRPr lang="en-US" sz="1800" dirty="0"/>
          </a:p>
          <a:p>
            <a:pPr indent="0" marL="0">
              <a:spcAft>
                <a:spcPts val="600"/>
              </a:spcAft>
              <a:buNone/>
            </a:pPr>
            <a:r>
              <a:rPr lang="en-US" sz="1800" dirty="0">
                <a:solidFill>
                  <a:srgbClr val="0F1B33"/>
                </a:solidFill>
                <a:latin typeface="Calibri" pitchFamily="34" charset="0"/>
                <a:ea typeface="Calibri" pitchFamily="34" charset="-122"/>
                <a:cs typeface="Calibri" pitchFamily="34" charset="-120"/>
              </a:rPr>
              <a:t>Token says acr = 1</a:t>
            </a:r>
            <a:endParaRPr lang="en-US" sz="1800" dirty="0"/>
          </a:p>
        </p:txBody>
      </p:sp>
      <p:sp>
        <p:nvSpPr>
          <p:cNvPr id="8" name="Shape 5"/>
          <p:cNvSpPr/>
          <p:nvPr/>
        </p:nvSpPr>
        <p:spPr>
          <a:xfrm>
            <a:off x="6309360" y="2194560"/>
            <a:ext cx="5212080" cy="2834640"/>
          </a:xfrm>
          <a:prstGeom prst="roundRect">
            <a:avLst>
              <a:gd name="adj" fmla="val 3871"/>
            </a:avLst>
          </a:prstGeom>
          <a:solidFill>
            <a:srgbClr val="E6FAF5"/>
          </a:solidFill>
          <a:ln w="12700">
            <a:solidFill>
              <a:srgbClr val="DDE4EF"/>
            </a:solidFill>
            <a:prstDash val="solid"/>
          </a:ln>
          <a:effectLst>
            <a:outerShdw sx="100000" sy="100000" kx="0" ky="0" algn="bl" rotWithShape="0" blurRad="76200" dist="25400" dir="5400000">
              <a:srgbClr val="000000">
                <a:alpha val="12000"/>
              </a:srgbClr>
            </a:outerShdw>
          </a:effectLst>
        </p:spPr>
      </p:sp>
      <p:sp>
        <p:nvSpPr>
          <p:cNvPr id="9" name="Text 6"/>
          <p:cNvSpPr txBox="1"/>
          <p:nvPr/>
        </p:nvSpPr>
        <p:spPr>
          <a:xfrm>
            <a:off x="6537960" y="2359152"/>
            <a:ext cx="4754880" cy="731520"/>
          </a:xfrm>
          <a:prstGeom prst="rect">
            <a:avLst/>
          </a:prstGeom>
          <a:noFill/>
          <a:ln/>
        </p:spPr>
        <p:txBody>
          <a:bodyPr wrap="square" lIns="0" tIns="0" rIns="0" bIns="0" rtlCol="0" anchor="t"/>
          <a:lstStyle/>
          <a:p>
            <a:pPr indent="0" marL="0">
              <a:buNone/>
            </a:pPr>
            <a:r>
              <a:rPr lang="en-US" sz="2000" b="1" dirty="0">
                <a:solidFill>
                  <a:srgbClr val="0B6B58"/>
                </a:solidFill>
                <a:latin typeface="Cambria" pitchFamily="34" charset="0"/>
                <a:ea typeface="Cambria" pitchFamily="34" charset="-122"/>
                <a:cs typeface="Cambria" pitchFamily="34" charset="-120"/>
              </a:rPr>
              <a:t>LoA2: password + authenticator code</a:t>
            </a:r>
            <a:endParaRPr lang="en-US" sz="2000" dirty="0"/>
          </a:p>
        </p:txBody>
      </p:sp>
      <p:sp>
        <p:nvSpPr>
          <p:cNvPr id="10" name="Text 7"/>
          <p:cNvSpPr txBox="1"/>
          <p:nvPr/>
        </p:nvSpPr>
        <p:spPr>
          <a:xfrm>
            <a:off x="6537960" y="3154680"/>
            <a:ext cx="4754880" cy="1737360"/>
          </a:xfrm>
          <a:prstGeom prst="rect">
            <a:avLst/>
          </a:prstGeom>
          <a:noFill/>
          <a:ln/>
        </p:spPr>
        <p:txBody>
          <a:bodyPr wrap="square" lIns="0" tIns="0" rIns="0" bIns="0" rtlCol="0" anchor="t"/>
          <a:lstStyle/>
          <a:p>
            <a:pPr indent="0" marL="0">
              <a:spcAft>
                <a:spcPts val="600"/>
              </a:spcAft>
              <a:buNone/>
            </a:pPr>
            <a:r>
              <a:rPr lang="en-US" sz="1800" dirty="0">
                <a:solidFill>
                  <a:srgbClr val="0F1B33"/>
                </a:solidFill>
                <a:latin typeface="Calibri" pitchFamily="34" charset="0"/>
                <a:ea typeface="Calibri" pitchFamily="34" charset="-122"/>
                <a:cs typeface="Calibri" pitchFamily="34" charset="-120"/>
              </a:rPr>
              <a:t>Needed to change e-mail, add payee, send over 1000, change limits, approve transfers.</a:t>
            </a:r>
            <a:endParaRPr lang="en-US" sz="1800" dirty="0"/>
          </a:p>
          <a:p>
            <a:pPr indent="0" marL="0">
              <a:spcAft>
                <a:spcPts val="600"/>
              </a:spcAft>
              <a:buNone/>
            </a:pPr>
            <a:r>
              <a:rPr lang="en-US" sz="1800" dirty="0">
                <a:solidFill>
                  <a:srgbClr val="0F1B33"/>
                </a:solidFill>
                <a:latin typeface="Calibri" pitchFamily="34" charset="0"/>
                <a:ea typeface="Calibri" pitchFamily="34" charset="-122"/>
                <a:cs typeface="Calibri" pitchFamily="34" charset="-120"/>
              </a:rPr>
              <a:t>Token says acr = 2</a:t>
            </a:r>
            <a:endParaRPr lang="en-US" sz="1800" dirty="0"/>
          </a:p>
        </p:txBody>
      </p:sp>
      <p:sp>
        <p:nvSpPr>
          <p:cNvPr id="11" name="Text 8"/>
          <p:cNvSpPr txBox="1"/>
          <p:nvPr/>
        </p:nvSpPr>
        <p:spPr>
          <a:xfrm>
            <a:off x="640080" y="5303520"/>
            <a:ext cx="10881360" cy="457200"/>
          </a:xfrm>
          <a:prstGeom prst="rect">
            <a:avLst/>
          </a:prstGeom>
          <a:noFill/>
          <a:ln/>
        </p:spPr>
        <p:txBody>
          <a:bodyPr wrap="square" lIns="0" tIns="0" rIns="0" bIns="0" rtlCol="0" anchor="ctr"/>
          <a:lstStyle/>
          <a:p>
            <a:pPr indent="0" marL="0">
              <a:buNone/>
            </a:pPr>
            <a:r>
              <a:rPr lang="en-US" sz="2000" b="1" dirty="0">
                <a:solidFill>
                  <a:srgbClr val="12307A"/>
                </a:solidFill>
                <a:latin typeface="Calibri" pitchFamily="34" charset="0"/>
                <a:ea typeface="Calibri" pitchFamily="34" charset="-122"/>
                <a:cs typeface="Calibri" pitchFamily="34" charset="-120"/>
              </a:rPr>
              <a:t>And it must be recent: the login time (auth_time) must be within 60 seconds.</a:t>
            </a:r>
            <a:endParaRPr lang="en-US" sz="20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2607A"/>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822960"/>
          </a:xfrm>
          <a:prstGeom prst="rect">
            <a:avLst/>
          </a:prstGeom>
          <a:noFill/>
          <a:ln/>
        </p:spPr>
        <p:txBody>
          <a:bodyPr wrap="square" lIns="0" tIns="0" rIns="0" bIns="0" rtlCol="0" anchor="ctr"/>
          <a:lstStyle/>
          <a:p>
            <a:pPr algn="l" indent="0" marL="0">
              <a:buNone/>
            </a:pPr>
            <a:r>
              <a:rPr lang="en-US" sz="3600" b="1" dirty="0">
                <a:solidFill>
                  <a:srgbClr val="12307A"/>
                </a:solidFill>
                <a:latin typeface="Cambria" pitchFamily="34" charset="0"/>
                <a:ea typeface="Cambria" pitchFamily="34" charset="-122"/>
                <a:cs typeface="Cambria" pitchFamily="34" charset="-120"/>
              </a:rPr>
              <a:t>The step-up flow in six steps</a:t>
            </a:r>
            <a:endParaRPr lang="en-US" sz="3600" dirty="0"/>
          </a:p>
        </p:txBody>
      </p:sp>
      <p:sp>
        <p:nvSpPr>
          <p:cNvPr id="4" name="Text 1"/>
          <p:cNvSpPr txBox="1"/>
          <p:nvPr/>
        </p:nvSpPr>
        <p:spPr>
          <a:xfrm>
            <a:off x="640080" y="1280160"/>
            <a:ext cx="10881360" cy="457200"/>
          </a:xfrm>
          <a:prstGeom prst="rect">
            <a:avLst/>
          </a:prstGeom>
          <a:noFill/>
          <a:ln/>
        </p:spPr>
        <p:txBody>
          <a:bodyPr wrap="square" lIns="0" tIns="0" rIns="0" bIns="0" rtlCol="0" anchor="ctr"/>
          <a:lstStyle/>
          <a:p>
            <a:pPr indent="0" marL="0">
              <a:buNone/>
            </a:pPr>
            <a:r>
              <a:rPr lang="en-US" sz="1800" dirty="0">
                <a:solidFill>
                  <a:srgbClr val="52607A"/>
                </a:solidFill>
                <a:latin typeface="Calibri" pitchFamily="34" charset="0"/>
                <a:ea typeface="Calibri" pitchFamily="34" charset="-122"/>
                <a:cs typeface="Calibri" pitchFamily="34" charset="-120"/>
              </a:rPr>
              <a:t>For developers: this is RFC 9470 (OAuth step-up authentication challenge).</a:t>
            </a:r>
            <a:endParaRPr lang="en-US" sz="1800" dirty="0"/>
          </a:p>
        </p:txBody>
      </p:sp>
      <p:sp>
        <p:nvSpPr>
          <p:cNvPr id="5" name="Text 2"/>
          <p:cNvSpPr txBox="1"/>
          <p:nvPr/>
        </p:nvSpPr>
        <p:spPr>
          <a:xfrm>
            <a:off x="640080" y="2103120"/>
            <a:ext cx="5303520" cy="960120"/>
          </a:xfrm>
          <a:prstGeom prst="roundRect">
            <a:avLst>
              <a:gd name="adj" fmla="val 9524"/>
            </a:avLst>
          </a:prstGeom>
          <a:solidFill>
            <a:srgbClr val="1F56D6"/>
          </a:solidFill>
          <a:ln/>
        </p:spPr>
        <p:txBody>
          <a:bodyPr wrap="square" lIns="50800" tIns="50800" rIns="50800" bIns="5080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  Click a sensitive action</a:t>
            </a:r>
            <a:endParaRPr lang="en-US" sz="1700" dirty="0"/>
          </a:p>
        </p:txBody>
      </p:sp>
      <p:sp>
        <p:nvSpPr>
          <p:cNvPr id="6" name="Text 3"/>
          <p:cNvSpPr txBox="1"/>
          <p:nvPr/>
        </p:nvSpPr>
        <p:spPr>
          <a:xfrm>
            <a:off x="6217920" y="2103120"/>
            <a:ext cx="5303520" cy="960120"/>
          </a:xfrm>
          <a:prstGeom prst="roundRect">
            <a:avLst>
              <a:gd name="adj" fmla="val 9524"/>
            </a:avLst>
          </a:prstGeom>
          <a:solidFill>
            <a:srgbClr val="F59E0B"/>
          </a:solidFill>
          <a:ln/>
        </p:spPr>
        <p:txBody>
          <a:bodyPr wrap="square" lIns="50800" tIns="50800" rIns="50800" bIns="50800" rtlCol="0" anchor="ctr"/>
          <a:lstStyle/>
          <a:p>
            <a:pPr algn="ctr" indent="0" marL="0">
              <a:buNone/>
            </a:pPr>
            <a:r>
              <a:rPr lang="en-US" sz="1700" b="1" dirty="0">
                <a:solidFill>
                  <a:srgbClr val="0F1B33"/>
                </a:solidFill>
                <a:latin typeface="Calibri" pitchFamily="34" charset="0"/>
                <a:ea typeface="Calibri" pitchFamily="34" charset="-122"/>
                <a:cs typeface="Calibri" pitchFamily="34" charset="-120"/>
              </a:rPr>
              <a:t>2  API says 401: stronger or newer login needed</a:t>
            </a:r>
            <a:endParaRPr lang="en-US" sz="1700" dirty="0"/>
          </a:p>
        </p:txBody>
      </p:sp>
      <p:sp>
        <p:nvSpPr>
          <p:cNvPr id="7" name="Text 4"/>
          <p:cNvSpPr txBox="1"/>
          <p:nvPr/>
        </p:nvSpPr>
        <p:spPr>
          <a:xfrm>
            <a:off x="640080" y="3337560"/>
            <a:ext cx="5303520" cy="960120"/>
          </a:xfrm>
          <a:prstGeom prst="roundRect">
            <a:avLst>
              <a:gd name="adj" fmla="val 9524"/>
            </a:avLst>
          </a:prstGeom>
          <a:solidFill>
            <a:srgbClr val="1F56D6"/>
          </a:solidFill>
          <a:ln/>
        </p:spPr>
        <p:txBody>
          <a:bodyPr wrap="square" lIns="50800" tIns="50800" rIns="50800" bIns="5080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  App explains why (popup)</a:t>
            </a:r>
            <a:endParaRPr lang="en-US" sz="1700" dirty="0"/>
          </a:p>
        </p:txBody>
      </p:sp>
      <p:sp>
        <p:nvSpPr>
          <p:cNvPr id="8" name="Text 5"/>
          <p:cNvSpPr txBox="1"/>
          <p:nvPr/>
        </p:nvSpPr>
        <p:spPr>
          <a:xfrm>
            <a:off x="6217920" y="3337560"/>
            <a:ext cx="5303520" cy="960120"/>
          </a:xfrm>
          <a:prstGeom prst="roundRect">
            <a:avLst>
              <a:gd name="adj" fmla="val 9524"/>
            </a:avLst>
          </a:prstGeom>
          <a:solidFill>
            <a:srgbClr val="12307A"/>
          </a:solidFill>
          <a:ln/>
        </p:spPr>
        <p:txBody>
          <a:bodyPr wrap="square" lIns="50800" tIns="50800" rIns="50800" bIns="5080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4  Keycloak asks for the authenticator code</a:t>
            </a:r>
            <a:endParaRPr lang="en-US" sz="1700" dirty="0"/>
          </a:p>
        </p:txBody>
      </p:sp>
      <p:sp>
        <p:nvSpPr>
          <p:cNvPr id="9" name="Text 6"/>
          <p:cNvSpPr txBox="1"/>
          <p:nvPr/>
        </p:nvSpPr>
        <p:spPr>
          <a:xfrm>
            <a:off x="640080" y="4572000"/>
            <a:ext cx="5303520" cy="960120"/>
          </a:xfrm>
          <a:prstGeom prst="roundRect">
            <a:avLst>
              <a:gd name="adj" fmla="val 9524"/>
            </a:avLst>
          </a:prstGeom>
          <a:solidFill>
            <a:srgbClr val="1F56D6"/>
          </a:solidFill>
          <a:ln/>
        </p:spPr>
        <p:txBody>
          <a:bodyPr wrap="square" lIns="50800" tIns="50800" rIns="50800" bIns="5080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5  App gets a new token (acr 2, new login time)</a:t>
            </a:r>
            <a:endParaRPr lang="en-US" sz="1700" dirty="0"/>
          </a:p>
        </p:txBody>
      </p:sp>
      <p:sp>
        <p:nvSpPr>
          <p:cNvPr id="10" name="Text 7"/>
          <p:cNvSpPr txBox="1"/>
          <p:nvPr/>
        </p:nvSpPr>
        <p:spPr>
          <a:xfrm>
            <a:off x="6217920" y="4572000"/>
            <a:ext cx="5303520" cy="960120"/>
          </a:xfrm>
          <a:prstGeom prst="roundRect">
            <a:avLst>
              <a:gd name="adj" fmla="val 9524"/>
            </a:avLst>
          </a:prstGeom>
          <a:solidFill>
            <a:srgbClr val="1F56D6"/>
          </a:solidFill>
          <a:ln/>
        </p:spPr>
        <p:txBody>
          <a:bodyPr wrap="square" lIns="50800" tIns="50800" rIns="50800" bIns="5080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6  Retry: API checks again, then performs it</a:t>
            </a:r>
            <a:endParaRPr lang="en-US" sz="17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2607A"/>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822960"/>
          </a:xfrm>
          <a:prstGeom prst="rect">
            <a:avLst/>
          </a:prstGeom>
          <a:noFill/>
          <a:ln/>
        </p:spPr>
        <p:txBody>
          <a:bodyPr wrap="square" lIns="0" tIns="0" rIns="0" bIns="0" rtlCol="0" anchor="ctr"/>
          <a:lstStyle/>
          <a:p>
            <a:pPr algn="l" indent="0" marL="0">
              <a:buNone/>
            </a:pPr>
            <a:r>
              <a:rPr lang="en-US" sz="3600" b="1" dirty="0">
                <a:solidFill>
                  <a:srgbClr val="12307A"/>
                </a:solidFill>
                <a:latin typeface="Cambria" pitchFamily="34" charset="0"/>
                <a:ea typeface="Cambria" pitchFamily="34" charset="-122"/>
                <a:cs typeface="Cambria" pitchFamily="34" charset="-120"/>
              </a:rPr>
              <a:t>The API decides, not the app</a:t>
            </a:r>
            <a:endParaRPr lang="en-US" sz="3600" dirty="0"/>
          </a:p>
        </p:txBody>
      </p:sp>
      <p:sp>
        <p:nvSpPr>
          <p:cNvPr id="4" name="Text 1"/>
          <p:cNvSpPr txBox="1"/>
          <p:nvPr/>
        </p:nvSpPr>
        <p:spPr>
          <a:xfrm>
            <a:off x="640080" y="1280160"/>
            <a:ext cx="10881360" cy="457200"/>
          </a:xfrm>
          <a:prstGeom prst="rect">
            <a:avLst/>
          </a:prstGeom>
          <a:noFill/>
          <a:ln/>
        </p:spPr>
        <p:txBody>
          <a:bodyPr wrap="square" lIns="0" tIns="0" rIns="0" bIns="0" rtlCol="0" anchor="ctr"/>
          <a:lstStyle/>
          <a:p>
            <a:pPr indent="0" marL="0">
              <a:buNone/>
            </a:pPr>
            <a:r>
              <a:rPr lang="en-US" sz="1800" dirty="0">
                <a:solidFill>
                  <a:srgbClr val="52607A"/>
                </a:solidFill>
                <a:latin typeface="Calibri" pitchFamily="34" charset="0"/>
                <a:ea typeface="Calibri" pitchFamily="34" charset="-122"/>
                <a:cs typeface="Calibri" pitchFamily="34" charset="-120"/>
              </a:rPr>
              <a:t>For managers: the security rule cannot be bypassed by tampering with the website.</a:t>
            </a:r>
            <a:endParaRPr lang="en-US" sz="1800" dirty="0"/>
          </a:p>
        </p:txBody>
      </p:sp>
      <p:sp>
        <p:nvSpPr>
          <p:cNvPr id="5" name="Shape 2"/>
          <p:cNvSpPr/>
          <p:nvPr/>
        </p:nvSpPr>
        <p:spPr>
          <a:xfrm>
            <a:off x="640080" y="2194560"/>
            <a:ext cx="5120640" cy="3566160"/>
          </a:xfrm>
          <a:prstGeom prst="roundRect">
            <a:avLst>
              <a:gd name="adj" fmla="val 3077"/>
            </a:avLst>
          </a:prstGeom>
          <a:solidFill>
            <a:srgbClr val="F3F6FB"/>
          </a:solidFill>
          <a:ln w="12700">
            <a:solidFill>
              <a:srgbClr val="DDE4EF"/>
            </a:solidFill>
            <a:prstDash val="solid"/>
          </a:ln>
          <a:effectLst>
            <a:outerShdw sx="100000" sy="100000" kx="0" ky="0" algn="bl" rotWithShape="0" blurRad="76200" dist="25400" dir="5400000">
              <a:srgbClr val="000000">
                <a:alpha val="12000"/>
              </a:srgbClr>
            </a:outerShdw>
          </a:effectLst>
        </p:spPr>
      </p:sp>
      <p:sp>
        <p:nvSpPr>
          <p:cNvPr id="6" name="Text 3"/>
          <p:cNvSpPr txBox="1"/>
          <p:nvPr/>
        </p:nvSpPr>
        <p:spPr>
          <a:xfrm>
            <a:off x="868680" y="2359152"/>
            <a:ext cx="4663440" cy="731520"/>
          </a:xfrm>
          <a:prstGeom prst="rect">
            <a:avLst/>
          </a:prstGeom>
          <a:noFill/>
          <a:ln/>
        </p:spPr>
        <p:txBody>
          <a:bodyPr wrap="square" lIns="0" tIns="0" rIns="0" bIns="0" rtlCol="0" anchor="t"/>
          <a:lstStyle/>
          <a:p>
            <a:pPr indent="0" marL="0">
              <a:buNone/>
            </a:pPr>
            <a:r>
              <a:rPr lang="en-US" sz="2000" b="1" dirty="0">
                <a:solidFill>
                  <a:srgbClr val="12307A"/>
                </a:solidFill>
                <a:latin typeface="Cambria" pitchFamily="34" charset="0"/>
                <a:ea typeface="Cambria" pitchFamily="34" charset="-122"/>
                <a:cs typeface="Cambria" pitchFamily="34" charset="-120"/>
              </a:rPr>
              <a:t>What the API checks</a:t>
            </a:r>
            <a:endParaRPr lang="en-US" sz="2000" dirty="0"/>
          </a:p>
        </p:txBody>
      </p:sp>
      <p:sp>
        <p:nvSpPr>
          <p:cNvPr id="7" name="Text 4"/>
          <p:cNvSpPr txBox="1"/>
          <p:nvPr/>
        </p:nvSpPr>
        <p:spPr>
          <a:xfrm>
            <a:off x="868680" y="3154680"/>
            <a:ext cx="4663440" cy="2468880"/>
          </a:xfrm>
          <a:prstGeom prst="rect">
            <a:avLst/>
          </a:prstGeom>
          <a:noFill/>
          <a:ln/>
        </p:spPr>
        <p:txBody>
          <a:bodyPr wrap="square" lIns="0" tIns="0" rIns="0" bIns="0" rtlCol="0" anchor="t"/>
          <a:lstStyle/>
          <a:p>
            <a:pPr indent="0" marL="0">
              <a:spcAft>
                <a:spcPts val="600"/>
              </a:spcAft>
              <a:buNone/>
            </a:pPr>
            <a:r>
              <a:rPr lang="en-US" sz="1800" dirty="0">
                <a:solidFill>
                  <a:srgbClr val="0F1B33"/>
                </a:solidFill>
                <a:latin typeface="Calibri" pitchFamily="34" charset="0"/>
                <a:ea typeface="Calibri" pitchFamily="34" charset="-122"/>
                <a:cs typeface="Calibri" pitchFamily="34" charset="-120"/>
              </a:rPr>
              <a:t>Signature, issuer, audience, expiry</a:t>
            </a:r>
            <a:endParaRPr lang="en-US" sz="1800" dirty="0"/>
          </a:p>
          <a:p>
            <a:pPr indent="0" marL="0">
              <a:spcAft>
                <a:spcPts val="600"/>
              </a:spcAft>
              <a:buNone/>
            </a:pPr>
            <a:r>
              <a:rPr lang="en-US" sz="1800" dirty="0">
                <a:solidFill>
                  <a:srgbClr val="0F1B33"/>
                </a:solidFill>
                <a:latin typeface="Calibri" pitchFamily="34" charset="0"/>
                <a:ea typeface="Calibri" pitchFamily="34" charset="-122"/>
                <a:cs typeface="Calibri" pitchFamily="34" charset="-120"/>
              </a:rPr>
              <a:t>Level (acr) at least LoA2</a:t>
            </a:r>
            <a:endParaRPr lang="en-US" sz="1800" dirty="0"/>
          </a:p>
          <a:p>
            <a:pPr indent="0" marL="0">
              <a:spcAft>
                <a:spcPts val="600"/>
              </a:spcAft>
              <a:buNone/>
            </a:pPr>
            <a:r>
              <a:rPr lang="en-US" sz="1800" dirty="0">
                <a:solidFill>
                  <a:srgbClr val="0F1B33"/>
                </a:solidFill>
                <a:latin typeface="Calibri" pitchFamily="34" charset="0"/>
                <a:ea typeface="Calibri" pitchFamily="34" charset="-122"/>
                <a:cs typeface="Calibri" pitchFamily="34" charset="-120"/>
              </a:rPr>
              <a:t>Login time within 60 seconds</a:t>
            </a:r>
            <a:endParaRPr lang="en-US" sz="1800" dirty="0"/>
          </a:p>
          <a:p>
            <a:pPr indent="0" marL="0">
              <a:spcAft>
                <a:spcPts val="600"/>
              </a:spcAft>
              <a:buNone/>
            </a:pPr>
            <a:r>
              <a:rPr lang="en-US" sz="1800" dirty="0">
                <a:solidFill>
                  <a:srgbClr val="0F1B33"/>
                </a:solidFill>
                <a:latin typeface="Calibri" pitchFamily="34" charset="0"/>
                <a:ea typeface="Calibri" pitchFamily="34" charset="-122"/>
                <a:cs typeface="Calibri" pitchFamily="34" charset="-120"/>
              </a:rPr>
              <a:t>Only then: perform the action</a:t>
            </a:r>
            <a:endParaRPr lang="en-US" sz="1800" dirty="0"/>
          </a:p>
        </p:txBody>
      </p:sp>
      <p:sp>
        <p:nvSpPr>
          <p:cNvPr id="8" name="Shape 5"/>
          <p:cNvSpPr/>
          <p:nvPr/>
        </p:nvSpPr>
        <p:spPr>
          <a:xfrm>
            <a:off x="6126480" y="2194560"/>
            <a:ext cx="5394960" cy="3566160"/>
          </a:xfrm>
          <a:prstGeom prst="roundRect">
            <a:avLst>
              <a:gd name="adj" fmla="val 3077"/>
            </a:avLst>
          </a:prstGeom>
          <a:solidFill>
            <a:srgbClr val="0F1B33"/>
          </a:solidFill>
          <a:ln w="12700">
            <a:solidFill>
              <a:srgbClr val="0F1B33"/>
            </a:solidFill>
            <a:prstDash val="solid"/>
          </a:ln>
        </p:spPr>
      </p:sp>
      <p:sp>
        <p:nvSpPr>
          <p:cNvPr id="9" name="Text 6"/>
          <p:cNvSpPr txBox="1"/>
          <p:nvPr/>
        </p:nvSpPr>
        <p:spPr>
          <a:xfrm>
            <a:off x="6355080" y="2468880"/>
            <a:ext cx="4937760" cy="3017520"/>
          </a:xfrm>
          <a:prstGeom prst="rect">
            <a:avLst/>
          </a:prstGeom>
          <a:noFill/>
          <a:ln/>
        </p:spPr>
        <p:txBody>
          <a:bodyPr wrap="square" lIns="0" tIns="0" rIns="0" bIns="0" rtlCol="0" anchor="t"/>
          <a:lstStyle/>
          <a:p>
            <a:pPr indent="0" marL="0">
              <a:buNone/>
            </a:pPr>
            <a:r>
              <a:rPr lang="en-US" sz="1600" b="1" dirty="0">
                <a:solidFill>
                  <a:srgbClr val="FFB4BC"/>
                </a:solidFill>
                <a:latin typeface="Courier New" pitchFamily="34" charset="0"/>
                <a:ea typeface="Courier New" pitchFamily="34" charset="-122"/>
                <a:cs typeface="Courier New" pitchFamily="34" charset="-120"/>
              </a:rPr>
              <a:t>HTTP 401 Unauthorized</a:t>
            </a:r>
            <a:endParaRPr lang="en-US" sz="1600" dirty="0"/>
          </a:p>
          <a:p>
            <a:pPr indent="0" marL="0">
              <a:buNone/>
            </a:pPr>
            <a:r>
              <a:rPr lang="en-US" sz="1600" dirty="0">
                <a:solidFill>
                  <a:srgbClr val="FFFFFF"/>
                </a:solidFill>
                <a:latin typeface="Courier New" pitchFamily="34" charset="0"/>
                <a:ea typeface="Courier New" pitchFamily="34" charset="-122"/>
                <a:cs typeface="Courier New" pitchFamily="34" charset="-120"/>
              </a:rPr>
              <a:t>WWW-Authenticate: Bearer</a:t>
            </a:r>
            <a:endParaRPr lang="en-US" sz="1600" dirty="0"/>
          </a:p>
          <a:p>
            <a:pPr indent="0" marL="0">
              <a:buNone/>
            </a:pPr>
            <a:r>
              <a:rPr lang="en-US" sz="1600" dirty="0">
                <a:solidFill>
                  <a:srgbClr val="9DE8D6"/>
                </a:solidFill>
                <a:latin typeface="Courier New" pitchFamily="34" charset="0"/>
                <a:ea typeface="Courier New" pitchFamily="34" charset="-122"/>
                <a:cs typeface="Courier New" pitchFamily="34" charset="-120"/>
              </a:rPr>
              <a:t> error="insufficient_</a:t>
            </a:r>
            <a:endParaRPr lang="en-US" sz="1600" dirty="0"/>
          </a:p>
          <a:p>
            <a:pPr indent="0" marL="0">
              <a:buNone/>
            </a:pPr>
            <a:r>
              <a:rPr lang="en-US" sz="1600" dirty="0">
                <a:solidFill>
                  <a:srgbClr val="9DE8D6"/>
                </a:solidFill>
                <a:latin typeface="Courier New" pitchFamily="34" charset="0"/>
                <a:ea typeface="Courier New" pitchFamily="34" charset="-122"/>
                <a:cs typeface="Courier New" pitchFamily="34" charset="-120"/>
              </a:rPr>
              <a:t>   user_authentication",</a:t>
            </a:r>
            <a:endParaRPr lang="en-US" sz="1600" dirty="0"/>
          </a:p>
          <a:p>
            <a:pPr indent="0" marL="0">
              <a:buNone/>
            </a:pPr>
            <a:r>
              <a:rPr lang="en-US" sz="1600" dirty="0">
                <a:solidFill>
                  <a:srgbClr val="9DE8D6"/>
                </a:solidFill>
                <a:latin typeface="Courier New" pitchFamily="34" charset="0"/>
                <a:ea typeface="Courier New" pitchFamily="34" charset="-122"/>
                <a:cs typeface="Courier New" pitchFamily="34" charset="-120"/>
              </a:rPr>
              <a:t> acr_values="2",</a:t>
            </a:r>
            <a:endParaRPr lang="en-US" sz="1600" dirty="0"/>
          </a:p>
          <a:p>
            <a:pPr indent="0" marL="0">
              <a:buNone/>
            </a:pPr>
            <a:r>
              <a:rPr lang="en-US" sz="1600" dirty="0">
                <a:solidFill>
                  <a:srgbClr val="9DE8D6"/>
                </a:solidFill>
                <a:latin typeface="Courier New" pitchFamily="34" charset="0"/>
                <a:ea typeface="Courier New" pitchFamily="34" charset="-122"/>
                <a:cs typeface="Courier New" pitchFamily="34" charset="-120"/>
              </a:rPr>
              <a:t> max_age="60"</a:t>
            </a:r>
            <a:endParaRPr lang="en-US" sz="16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2607A"/>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822960"/>
          </a:xfrm>
          <a:prstGeom prst="rect">
            <a:avLst/>
          </a:prstGeom>
          <a:noFill/>
          <a:ln/>
        </p:spPr>
        <p:txBody>
          <a:bodyPr wrap="square" lIns="0" tIns="0" rIns="0" bIns="0" rtlCol="0" anchor="ctr"/>
          <a:lstStyle/>
          <a:p>
            <a:pPr algn="l" indent="0" marL="0">
              <a:buNone/>
            </a:pPr>
            <a:r>
              <a:rPr lang="en-US" sz="3600" b="1" dirty="0">
                <a:solidFill>
                  <a:srgbClr val="12307A"/>
                </a:solidFill>
                <a:latin typeface="Cambria" pitchFamily="34" charset="0"/>
                <a:ea typeface="Cambria" pitchFamily="34" charset="-122"/>
                <a:cs typeface="Cambria" pitchFamily="34" charset="-120"/>
              </a:rPr>
              <a:t>One shared window for all three apps</a:t>
            </a:r>
            <a:endParaRPr lang="en-US" sz="3600" dirty="0"/>
          </a:p>
        </p:txBody>
      </p:sp>
      <p:sp>
        <p:nvSpPr>
          <p:cNvPr id="4" name="Text 1"/>
          <p:cNvSpPr txBox="1"/>
          <p:nvPr/>
        </p:nvSpPr>
        <p:spPr>
          <a:xfrm>
            <a:off x="640080" y="1280160"/>
            <a:ext cx="10881360" cy="457200"/>
          </a:xfrm>
          <a:prstGeom prst="rect">
            <a:avLst/>
          </a:prstGeom>
          <a:noFill/>
          <a:ln/>
        </p:spPr>
        <p:txBody>
          <a:bodyPr wrap="square" lIns="0" tIns="0" rIns="0" bIns="0" rtlCol="0" anchor="ctr"/>
          <a:lstStyle/>
          <a:p>
            <a:pPr indent="0" marL="0">
              <a:buNone/>
            </a:pPr>
            <a:r>
              <a:rPr lang="en-US" sz="1800" dirty="0">
                <a:solidFill>
                  <a:srgbClr val="52607A"/>
                </a:solidFill>
                <a:latin typeface="Calibri" pitchFamily="34" charset="0"/>
                <a:ea typeface="Calibri" pitchFamily="34" charset="-122"/>
                <a:cs typeface="Calibri" pitchFamily="34" charset="-120"/>
              </a:rPr>
              <a:t>For managers: one proof, valid in all apps, for a short time. The length is a setting.</a:t>
            </a:r>
            <a:endParaRPr lang="en-US" sz="1800" dirty="0"/>
          </a:p>
        </p:txBody>
      </p:sp>
      <p:sp>
        <p:nvSpPr>
          <p:cNvPr id="5" name="Shape 2"/>
          <p:cNvSpPr/>
          <p:nvPr/>
        </p:nvSpPr>
        <p:spPr>
          <a:xfrm>
            <a:off x="640080" y="3017520"/>
            <a:ext cx="10881360" cy="457200"/>
          </a:xfrm>
          <a:prstGeom prst="roundRect">
            <a:avLst>
              <a:gd name="adj" fmla="val 50000"/>
            </a:avLst>
          </a:prstGeom>
          <a:solidFill>
            <a:srgbClr val="DDE4EF"/>
          </a:solidFill>
          <a:ln w="12700">
            <a:solidFill>
              <a:srgbClr val="DDE4EF"/>
            </a:solidFill>
            <a:prstDash val="solid"/>
          </a:ln>
        </p:spPr>
      </p:sp>
      <p:sp>
        <p:nvSpPr>
          <p:cNvPr id="6" name="Shape 3"/>
          <p:cNvSpPr/>
          <p:nvPr/>
        </p:nvSpPr>
        <p:spPr>
          <a:xfrm>
            <a:off x="2286000" y="3017520"/>
            <a:ext cx="6583680" cy="457200"/>
          </a:xfrm>
          <a:prstGeom prst="roundRect">
            <a:avLst>
              <a:gd name="adj" fmla="val 50000"/>
            </a:avLst>
          </a:prstGeom>
          <a:solidFill>
            <a:srgbClr val="0FB59A"/>
          </a:solidFill>
          <a:ln w="12700">
            <a:solidFill>
              <a:srgbClr val="0FB59A"/>
            </a:solidFill>
            <a:prstDash val="solid"/>
          </a:ln>
        </p:spPr>
      </p:sp>
      <p:sp>
        <p:nvSpPr>
          <p:cNvPr id="7" name="Text 4"/>
          <p:cNvSpPr txBox="1"/>
          <p:nvPr/>
        </p:nvSpPr>
        <p:spPr>
          <a:xfrm>
            <a:off x="2286000" y="3017520"/>
            <a:ext cx="6583680" cy="457200"/>
          </a:xfrm>
          <a:prstGeom prst="rect">
            <a:avLst/>
          </a:prstGeom>
          <a:noFill/>
          <a:ln/>
        </p:spPr>
        <p:txBody>
          <a:bodyPr wrap="square" lIns="0" tIns="0" rIns="0" bIns="0" rtlCol="0" anchor="ctr"/>
          <a:lstStyle/>
          <a:p>
            <a:pPr algn="ctr" indent="0" marL="0">
              <a:buNone/>
            </a:pPr>
            <a:r>
              <a:rPr lang="en-US" sz="1500" b="1" dirty="0">
                <a:solidFill>
                  <a:srgbClr val="0F1B33"/>
                </a:solidFill>
                <a:latin typeface="Calibri" pitchFamily="34" charset="0"/>
                <a:ea typeface="Calibri" pitchFamily="34" charset="-122"/>
                <a:cs typeface="Calibri" pitchFamily="34" charset="-120"/>
              </a:rPr>
              <a:t>Window: 60 s (up to 65 s with clock leeway)</a:t>
            </a:r>
            <a:endParaRPr lang="en-US" sz="1500" dirty="0"/>
          </a:p>
        </p:txBody>
      </p:sp>
      <p:sp>
        <p:nvSpPr>
          <p:cNvPr id="8" name="Text 5"/>
          <p:cNvSpPr txBox="1"/>
          <p:nvPr/>
        </p:nvSpPr>
        <p:spPr>
          <a:xfrm>
            <a:off x="640080" y="2377440"/>
            <a:ext cx="1737360" cy="548640"/>
          </a:xfrm>
          <a:prstGeom prst="rect">
            <a:avLst/>
          </a:prstGeom>
          <a:noFill/>
          <a:ln/>
        </p:spPr>
        <p:txBody>
          <a:bodyPr wrap="square" lIns="0" tIns="0" rIns="0" bIns="0" rtlCol="0" anchor="ctr"/>
          <a:lstStyle/>
          <a:p>
            <a:pPr indent="0" marL="0">
              <a:buNone/>
            </a:pPr>
            <a:r>
              <a:rPr lang="en-US" sz="1500" dirty="0">
                <a:solidFill>
                  <a:srgbClr val="52607A"/>
                </a:solidFill>
                <a:latin typeface="Calibri" pitchFamily="34" charset="0"/>
                <a:ea typeface="Calibri" pitchFamily="34" charset="-122"/>
                <a:cs typeface="Calibri" pitchFamily="34" charset="-120"/>
              </a:rPr>
              <a:t>Login (password)</a:t>
            </a:r>
            <a:endParaRPr lang="en-US" sz="1500" dirty="0"/>
          </a:p>
        </p:txBody>
      </p:sp>
      <p:sp>
        <p:nvSpPr>
          <p:cNvPr id="9" name="Text 6"/>
          <p:cNvSpPr txBox="1"/>
          <p:nvPr/>
        </p:nvSpPr>
        <p:spPr>
          <a:xfrm>
            <a:off x="2286000" y="3657600"/>
            <a:ext cx="2743200" cy="731520"/>
          </a:xfrm>
          <a:prstGeom prst="rect">
            <a:avLst/>
          </a:prstGeom>
          <a:noFill/>
          <a:ln/>
        </p:spPr>
        <p:txBody>
          <a:bodyPr wrap="square" lIns="0" tIns="0" rIns="0" bIns="0" rtlCol="0" anchor="ctr"/>
          <a:lstStyle/>
          <a:p>
            <a:pPr indent="0" marL="0">
              <a:buNone/>
            </a:pPr>
            <a:r>
              <a:rPr lang="en-US" sz="1500" b="1" dirty="0">
                <a:solidFill>
                  <a:srgbClr val="12307A"/>
                </a:solidFill>
                <a:latin typeface="Calibri" pitchFamily="34" charset="0"/>
                <a:ea typeface="Calibri" pitchFamily="34" charset="-122"/>
                <a:cs typeface="Calibri" pitchFamily="34" charset="-120"/>
              </a:rPr>
              <a:t>Authenticator code: window starts</a:t>
            </a:r>
            <a:endParaRPr lang="en-US" sz="1500" dirty="0"/>
          </a:p>
        </p:txBody>
      </p:sp>
      <p:sp>
        <p:nvSpPr>
          <p:cNvPr id="10" name="Text 7"/>
          <p:cNvSpPr txBox="1"/>
          <p:nvPr/>
        </p:nvSpPr>
        <p:spPr>
          <a:xfrm>
            <a:off x="4572000" y="2194560"/>
            <a:ext cx="4114800" cy="731520"/>
          </a:xfrm>
          <a:prstGeom prst="rect">
            <a:avLst/>
          </a:prstGeom>
          <a:noFill/>
          <a:ln/>
        </p:spPr>
        <p:txBody>
          <a:bodyPr wrap="square" lIns="0" tIns="0" rIns="0" bIns="0" rtlCol="0" anchor="ctr"/>
          <a:lstStyle/>
          <a:p>
            <a:pPr indent="0" marL="0">
              <a:buNone/>
            </a:pPr>
            <a:r>
              <a:rPr lang="en-US" sz="1500" b="1" dirty="0">
                <a:solidFill>
                  <a:srgbClr val="0B6B58"/>
                </a:solidFill>
                <a:latin typeface="Calibri" pitchFamily="34" charset="0"/>
                <a:ea typeface="Calibri" pitchFamily="34" charset="-122"/>
                <a:cs typeface="Calibri" pitchFamily="34" charset="-120"/>
              </a:rPr>
              <a:t>Inside the window: Payments and Back Office open with no prompt</a:t>
            </a:r>
            <a:endParaRPr lang="en-US" sz="1500" dirty="0"/>
          </a:p>
        </p:txBody>
      </p:sp>
      <p:sp>
        <p:nvSpPr>
          <p:cNvPr id="11" name="Text 8"/>
          <p:cNvSpPr txBox="1"/>
          <p:nvPr/>
        </p:nvSpPr>
        <p:spPr>
          <a:xfrm>
            <a:off x="8503920" y="3657600"/>
            <a:ext cx="3017520" cy="731520"/>
          </a:xfrm>
          <a:prstGeom prst="rect">
            <a:avLst/>
          </a:prstGeom>
          <a:noFill/>
          <a:ln/>
        </p:spPr>
        <p:txBody>
          <a:bodyPr wrap="square" lIns="0" tIns="0" rIns="0" bIns="0" rtlCol="0" anchor="ctr"/>
          <a:lstStyle/>
          <a:p>
            <a:pPr indent="0" marL="0">
              <a:buNone/>
            </a:pPr>
            <a:r>
              <a:rPr lang="en-US" sz="1500" b="1" dirty="0">
                <a:solidFill>
                  <a:srgbClr val="D93A4A"/>
                </a:solidFill>
                <a:latin typeface="Calibri" pitchFamily="34" charset="0"/>
                <a:ea typeface="Calibri" pitchFamily="34" charset="-122"/>
                <a:cs typeface="Calibri" pitchFamily="34" charset="-120"/>
              </a:rPr>
              <a:t>Window over: the next sensitive action asks again</a:t>
            </a:r>
            <a:endParaRPr lang="en-US" sz="1500" dirty="0"/>
          </a:p>
        </p:txBody>
      </p:sp>
      <p:sp>
        <p:nvSpPr>
          <p:cNvPr id="12" name="Text 9"/>
          <p:cNvSpPr txBox="1"/>
          <p:nvPr/>
        </p:nvSpPr>
        <p:spPr>
          <a:xfrm>
            <a:off x="640080" y="5120640"/>
            <a:ext cx="10881360" cy="457200"/>
          </a:xfrm>
          <a:prstGeom prst="rect">
            <a:avLst/>
          </a:prstGeom>
          <a:noFill/>
          <a:ln/>
        </p:spPr>
        <p:txBody>
          <a:bodyPr wrap="square" lIns="0" tIns="0" rIns="0" bIns="0" rtlCol="0" anchor="ctr"/>
          <a:lstStyle/>
          <a:p>
            <a:pPr indent="0" marL="0">
              <a:buNone/>
            </a:pPr>
            <a:r>
              <a:rPr lang="en-US" sz="1800" dirty="0">
                <a:solidFill>
                  <a:srgbClr val="0F1B33"/>
                </a:solidFill>
                <a:latin typeface="Calibri" pitchFamily="34" charset="0"/>
                <a:ea typeface="Calibri" pitchFamily="34" charset="-122"/>
                <a:cs typeface="Calibri" pitchFamily="34" charset="-120"/>
              </a:rPr>
              <a:t>Refreshing a token does not extend the window: it keeps the old login time.</a:t>
            </a:r>
            <a:endParaRPr lang="en-US" sz="18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2607A"/>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822960" y="2011680"/>
            <a:ext cx="10515600" cy="1463040"/>
          </a:xfrm>
          <a:prstGeom prst="rect">
            <a:avLst/>
          </a:prstGeom>
          <a:noFill/>
          <a:ln/>
        </p:spPr>
        <p:txBody>
          <a:bodyPr wrap="square" lIns="0" tIns="0" rIns="0" bIns="0" rtlCol="0" anchor="ctr"/>
          <a:lstStyle/>
          <a:p>
            <a:pPr algn="l" indent="0" marL="0">
              <a:buNone/>
            </a:pPr>
            <a:r>
              <a:rPr lang="en-US" sz="4800" b="1" dirty="0">
                <a:solidFill>
                  <a:srgbClr val="FFFFFF"/>
                </a:solidFill>
                <a:latin typeface="Cambria" pitchFamily="34" charset="0"/>
                <a:ea typeface="Cambria" pitchFamily="34" charset="-122"/>
                <a:cs typeface="Cambria" pitchFamily="34" charset="-120"/>
              </a:rPr>
              <a:t>Live demo</a:t>
            </a:r>
            <a:endParaRPr lang="en-US" sz="4800" dirty="0"/>
          </a:p>
        </p:txBody>
      </p:sp>
      <p:sp>
        <p:nvSpPr>
          <p:cNvPr id="3" name="Text 1"/>
          <p:cNvSpPr txBox="1"/>
          <p:nvPr/>
        </p:nvSpPr>
        <p:spPr>
          <a:xfrm>
            <a:off x="822960" y="3566160"/>
            <a:ext cx="10515600" cy="548640"/>
          </a:xfrm>
          <a:prstGeom prst="rect">
            <a:avLst/>
          </a:prstGeom>
          <a:noFill/>
          <a:ln/>
        </p:spPr>
        <p:txBody>
          <a:bodyPr wrap="square" lIns="0" tIns="0" rIns="0" bIns="0" rtlCol="0" anchor="ctr"/>
          <a:lstStyle/>
          <a:p>
            <a:pPr indent="0" marL="0">
              <a:buNone/>
            </a:pPr>
            <a:r>
              <a:rPr lang="en-US" sz="2200" dirty="0">
                <a:solidFill>
                  <a:srgbClr val="CADCFC"/>
                </a:solidFill>
                <a:latin typeface="Calibri" pitchFamily="34" charset="0"/>
                <a:ea typeface="Calibri" pitchFamily="34" charset="-122"/>
                <a:cs typeface="Calibri" pitchFamily="34" charset="-120"/>
              </a:rPr>
              <a:t>Acme Bank: one login, three apps, extra proof when it matters (about 12 minutes)</a:t>
            </a:r>
            <a:endParaRPr lang="en-US"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822960"/>
          </a:xfrm>
          <a:prstGeom prst="rect">
            <a:avLst/>
          </a:prstGeom>
          <a:noFill/>
          <a:ln/>
        </p:spPr>
        <p:txBody>
          <a:bodyPr wrap="square" lIns="0" tIns="0" rIns="0" bIns="0" rtlCol="0" anchor="ctr"/>
          <a:lstStyle/>
          <a:p>
            <a:pPr algn="l" indent="0" marL="0">
              <a:buNone/>
            </a:pPr>
            <a:r>
              <a:rPr lang="en-US" sz="3600" b="1" dirty="0">
                <a:solidFill>
                  <a:srgbClr val="12307A"/>
                </a:solidFill>
                <a:latin typeface="Cambria" pitchFamily="34" charset="0"/>
                <a:ea typeface="Cambria" pitchFamily="34" charset="-122"/>
                <a:cs typeface="Cambria" pitchFamily="34" charset="-120"/>
              </a:rPr>
              <a:t>Demo script: what you will see</a:t>
            </a:r>
            <a:endParaRPr lang="en-US" sz="3600" dirty="0"/>
          </a:p>
        </p:txBody>
      </p:sp>
      <p:sp>
        <p:nvSpPr>
          <p:cNvPr id="4" name="Text 1"/>
          <p:cNvSpPr txBox="1"/>
          <p:nvPr/>
        </p:nvSpPr>
        <p:spPr>
          <a:xfrm>
            <a:off x="640080" y="1554480"/>
            <a:ext cx="548640" cy="365760"/>
          </a:xfrm>
          <a:prstGeom prst="roundRect">
            <a:avLst>
              <a:gd name="adj" fmla="val 50000"/>
            </a:avLst>
          </a:prstGeom>
          <a:solidFill>
            <a:srgbClr val="1F56D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5" name="Text 2"/>
          <p:cNvSpPr txBox="1"/>
          <p:nvPr/>
        </p:nvSpPr>
        <p:spPr>
          <a:xfrm>
            <a:off x="1371600" y="1463040"/>
            <a:ext cx="4572000" cy="731520"/>
          </a:xfrm>
          <a:prstGeom prst="rect">
            <a:avLst/>
          </a:prstGeom>
          <a:noFill/>
          <a:ln/>
        </p:spPr>
        <p:txBody>
          <a:bodyPr wrap="square" lIns="0" tIns="0" rIns="0" bIns="0" rtlCol="0" anchor="ctr"/>
          <a:lstStyle/>
          <a:p>
            <a:pPr indent="0" marL="0">
              <a:buNone/>
            </a:pPr>
            <a:r>
              <a:rPr lang="en-US" sz="1700" dirty="0">
                <a:solidFill>
                  <a:srgbClr val="0F1B33"/>
                </a:solidFill>
                <a:latin typeface="Calibri" pitchFamily="34" charset="0"/>
                <a:ea typeface="Calibri" pitchFamily="34" charset="-122"/>
                <a:cs typeface="Calibri" pitchFamily="34" charset="-120"/>
              </a:rPr>
              <a:t>Sign in to the Customer Portal (password): LoA1</a:t>
            </a:r>
            <a:endParaRPr lang="en-US" sz="1700" dirty="0"/>
          </a:p>
        </p:txBody>
      </p:sp>
      <p:sp>
        <p:nvSpPr>
          <p:cNvPr id="6" name="Text 3"/>
          <p:cNvSpPr txBox="1"/>
          <p:nvPr/>
        </p:nvSpPr>
        <p:spPr>
          <a:xfrm>
            <a:off x="640080" y="2468880"/>
            <a:ext cx="548640" cy="365760"/>
          </a:xfrm>
          <a:prstGeom prst="roundRect">
            <a:avLst>
              <a:gd name="adj" fmla="val 50000"/>
            </a:avLst>
          </a:prstGeom>
          <a:solidFill>
            <a:srgbClr val="1F56D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7" name="Text 4"/>
          <p:cNvSpPr txBox="1"/>
          <p:nvPr/>
        </p:nvSpPr>
        <p:spPr>
          <a:xfrm>
            <a:off x="1371600" y="2377440"/>
            <a:ext cx="4572000" cy="731520"/>
          </a:xfrm>
          <a:prstGeom prst="rect">
            <a:avLst/>
          </a:prstGeom>
          <a:noFill/>
          <a:ln/>
        </p:spPr>
        <p:txBody>
          <a:bodyPr wrap="square" lIns="0" tIns="0" rIns="0" bIns="0" rtlCol="0" anchor="ctr"/>
          <a:lstStyle/>
          <a:p>
            <a:pPr indent="0" marL="0">
              <a:buNone/>
            </a:pPr>
            <a:r>
              <a:rPr lang="en-US" sz="1700" dirty="0">
                <a:solidFill>
                  <a:srgbClr val="0F1B33"/>
                </a:solidFill>
                <a:latin typeface="Calibri" pitchFamily="34" charset="0"/>
                <a:ea typeface="Calibri" pitchFamily="34" charset="-122"/>
                <a:cs typeface="Calibri" pitchFamily="34" charset="-120"/>
              </a:rPr>
              <a:t>Change e-mail: popup asks for extra proof</a:t>
            </a:r>
            <a:endParaRPr lang="en-US" sz="1700" dirty="0"/>
          </a:p>
        </p:txBody>
      </p:sp>
      <p:sp>
        <p:nvSpPr>
          <p:cNvPr id="8" name="Text 5"/>
          <p:cNvSpPr txBox="1"/>
          <p:nvPr/>
        </p:nvSpPr>
        <p:spPr>
          <a:xfrm>
            <a:off x="640080" y="3383280"/>
            <a:ext cx="548640" cy="365760"/>
          </a:xfrm>
          <a:prstGeom prst="roundRect">
            <a:avLst>
              <a:gd name="adj" fmla="val 50000"/>
            </a:avLst>
          </a:prstGeom>
          <a:solidFill>
            <a:srgbClr val="1F56D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9" name="Text 6"/>
          <p:cNvSpPr txBox="1"/>
          <p:nvPr/>
        </p:nvSpPr>
        <p:spPr>
          <a:xfrm>
            <a:off x="1371600" y="3291840"/>
            <a:ext cx="4572000" cy="731520"/>
          </a:xfrm>
          <a:prstGeom prst="rect">
            <a:avLst/>
          </a:prstGeom>
          <a:noFill/>
          <a:ln/>
        </p:spPr>
        <p:txBody>
          <a:bodyPr wrap="square" lIns="0" tIns="0" rIns="0" bIns="0" rtlCol="0" anchor="ctr"/>
          <a:lstStyle/>
          <a:p>
            <a:pPr indent="0" marL="0">
              <a:buNone/>
            </a:pPr>
            <a:r>
              <a:rPr lang="en-US" sz="1700" dirty="0">
                <a:solidFill>
                  <a:srgbClr val="0F1B33"/>
                </a:solidFill>
                <a:latin typeface="Calibri" pitchFamily="34" charset="0"/>
                <a:ea typeface="Calibri" pitchFamily="34" charset="-122"/>
                <a:cs typeface="Calibri" pitchFamily="34" charset="-120"/>
              </a:rPr>
              <a:t>Authenticator code: LoA2, countdown starts</a:t>
            </a:r>
            <a:endParaRPr lang="en-US" sz="1700" dirty="0"/>
          </a:p>
        </p:txBody>
      </p:sp>
      <p:sp>
        <p:nvSpPr>
          <p:cNvPr id="10" name="Text 7"/>
          <p:cNvSpPr txBox="1"/>
          <p:nvPr/>
        </p:nvSpPr>
        <p:spPr>
          <a:xfrm>
            <a:off x="640080" y="4297680"/>
            <a:ext cx="548640" cy="365760"/>
          </a:xfrm>
          <a:prstGeom prst="roundRect">
            <a:avLst>
              <a:gd name="adj" fmla="val 50000"/>
            </a:avLst>
          </a:prstGeom>
          <a:solidFill>
            <a:srgbClr val="1F56D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1" name="Text 8"/>
          <p:cNvSpPr txBox="1"/>
          <p:nvPr/>
        </p:nvSpPr>
        <p:spPr>
          <a:xfrm>
            <a:off x="1371600" y="4206240"/>
            <a:ext cx="4572000" cy="731520"/>
          </a:xfrm>
          <a:prstGeom prst="rect">
            <a:avLst/>
          </a:prstGeom>
          <a:noFill/>
          <a:ln/>
        </p:spPr>
        <p:txBody>
          <a:bodyPr wrap="square" lIns="0" tIns="0" rIns="0" bIns="0" rtlCol="0" anchor="ctr"/>
          <a:lstStyle/>
          <a:p>
            <a:pPr indent="0" marL="0">
              <a:buNone/>
            </a:pPr>
            <a:r>
              <a:rPr lang="en-US" sz="1700" dirty="0">
                <a:solidFill>
                  <a:srgbClr val="0F1B33"/>
                </a:solidFill>
                <a:latin typeface="Calibri" pitchFamily="34" charset="0"/>
                <a:ea typeface="Calibri" pitchFamily="34" charset="-122"/>
                <a:cs typeface="Calibri" pitchFamily="34" charset="-120"/>
              </a:rPr>
              <a:t>Click Payments in the nav: no login prompt</a:t>
            </a:r>
            <a:endParaRPr lang="en-US" sz="1700" dirty="0"/>
          </a:p>
        </p:txBody>
      </p:sp>
      <p:sp>
        <p:nvSpPr>
          <p:cNvPr id="12" name="Text 9"/>
          <p:cNvSpPr txBox="1"/>
          <p:nvPr/>
        </p:nvSpPr>
        <p:spPr>
          <a:xfrm>
            <a:off x="640080" y="5212080"/>
            <a:ext cx="548640" cy="365760"/>
          </a:xfrm>
          <a:prstGeom prst="roundRect">
            <a:avLst>
              <a:gd name="adj" fmla="val 50000"/>
            </a:avLst>
          </a:prstGeom>
          <a:solidFill>
            <a:srgbClr val="1F56D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3" name="Text 10"/>
          <p:cNvSpPr txBox="1"/>
          <p:nvPr/>
        </p:nvSpPr>
        <p:spPr>
          <a:xfrm>
            <a:off x="1371600" y="5120640"/>
            <a:ext cx="4572000" cy="731520"/>
          </a:xfrm>
          <a:prstGeom prst="rect">
            <a:avLst/>
          </a:prstGeom>
          <a:noFill/>
          <a:ln/>
        </p:spPr>
        <p:txBody>
          <a:bodyPr wrap="square" lIns="0" tIns="0" rIns="0" bIns="0" rtlCol="0" anchor="ctr"/>
          <a:lstStyle/>
          <a:p>
            <a:pPr indent="0" marL="0">
              <a:buNone/>
            </a:pPr>
            <a:r>
              <a:rPr lang="en-US" sz="1700" dirty="0">
                <a:solidFill>
                  <a:srgbClr val="0F1B33"/>
                </a:solidFill>
                <a:latin typeface="Calibri" pitchFamily="34" charset="0"/>
                <a:ea typeface="Calibri" pitchFamily="34" charset="-122"/>
                <a:cs typeface="Calibri" pitchFamily="34" charset="-120"/>
              </a:rPr>
              <a:t>Send 2500 inside the minute: no second prompt</a:t>
            </a:r>
            <a:endParaRPr lang="en-US" sz="1700" dirty="0"/>
          </a:p>
        </p:txBody>
      </p:sp>
      <p:sp>
        <p:nvSpPr>
          <p:cNvPr id="14" name="Text 11"/>
          <p:cNvSpPr txBox="1"/>
          <p:nvPr/>
        </p:nvSpPr>
        <p:spPr>
          <a:xfrm>
            <a:off x="6217920" y="1554480"/>
            <a:ext cx="548640" cy="365760"/>
          </a:xfrm>
          <a:prstGeom prst="roundRect">
            <a:avLst>
              <a:gd name="adj" fmla="val 50000"/>
            </a:avLst>
          </a:prstGeom>
          <a:solidFill>
            <a:srgbClr val="1F56D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15" name="Text 12"/>
          <p:cNvSpPr txBox="1"/>
          <p:nvPr/>
        </p:nvSpPr>
        <p:spPr>
          <a:xfrm>
            <a:off x="6949440" y="1463040"/>
            <a:ext cx="4572000" cy="731520"/>
          </a:xfrm>
          <a:prstGeom prst="rect">
            <a:avLst/>
          </a:prstGeom>
          <a:noFill/>
          <a:ln/>
        </p:spPr>
        <p:txBody>
          <a:bodyPr wrap="square" lIns="0" tIns="0" rIns="0" bIns="0" rtlCol="0" anchor="ctr"/>
          <a:lstStyle/>
          <a:p>
            <a:pPr indent="0" marL="0">
              <a:buNone/>
            </a:pPr>
            <a:r>
              <a:rPr lang="en-US" sz="1700" dirty="0">
                <a:solidFill>
                  <a:srgbClr val="0F1B33"/>
                </a:solidFill>
                <a:latin typeface="Calibri" pitchFamily="34" charset="0"/>
                <a:ea typeface="Calibri" pitchFamily="34" charset="-122"/>
                <a:cs typeface="Calibri" pitchFamily="34" charset="-120"/>
              </a:rPr>
              <a:t>Back Office: approve a transfer, no prompt</a:t>
            </a:r>
            <a:endParaRPr lang="en-US" sz="1700" dirty="0"/>
          </a:p>
        </p:txBody>
      </p:sp>
      <p:sp>
        <p:nvSpPr>
          <p:cNvPr id="16" name="Text 13"/>
          <p:cNvSpPr txBox="1"/>
          <p:nvPr/>
        </p:nvSpPr>
        <p:spPr>
          <a:xfrm>
            <a:off x="6217920" y="2468880"/>
            <a:ext cx="548640" cy="365760"/>
          </a:xfrm>
          <a:prstGeom prst="roundRect">
            <a:avLst>
              <a:gd name="adj" fmla="val 50000"/>
            </a:avLst>
          </a:prstGeom>
          <a:solidFill>
            <a:srgbClr val="F59E0B"/>
          </a:solidFill>
          <a:ln/>
        </p:spPr>
        <p:txBody>
          <a:bodyPr wrap="square" lIns="0" tIns="0" rIns="0" bIns="0" rtlCol="0" anchor="ctr"/>
          <a:lstStyle/>
          <a:p>
            <a:pPr algn="ctr" indent="0" marL="0">
              <a:buNone/>
            </a:pPr>
            <a:r>
              <a:rPr lang="en-US" sz="1400" b="1" dirty="0">
                <a:solidFill>
                  <a:srgbClr val="0F1B33"/>
                </a:solidFill>
                <a:latin typeface="Calibri" pitchFamily="34" charset="0"/>
                <a:ea typeface="Calibri" pitchFamily="34" charset="-122"/>
                <a:cs typeface="Calibri" pitchFamily="34" charset="-120"/>
              </a:rPr>
              <a:t>7</a:t>
            </a:r>
            <a:endParaRPr lang="en-US" sz="1400" dirty="0"/>
          </a:p>
        </p:txBody>
      </p:sp>
      <p:sp>
        <p:nvSpPr>
          <p:cNvPr id="17" name="Text 14"/>
          <p:cNvSpPr txBox="1"/>
          <p:nvPr/>
        </p:nvSpPr>
        <p:spPr>
          <a:xfrm>
            <a:off x="6949440" y="2377440"/>
            <a:ext cx="4572000" cy="731520"/>
          </a:xfrm>
          <a:prstGeom prst="rect">
            <a:avLst/>
          </a:prstGeom>
          <a:noFill/>
          <a:ln/>
        </p:spPr>
        <p:txBody>
          <a:bodyPr wrap="square" lIns="0" tIns="0" rIns="0" bIns="0" rtlCol="0" anchor="ctr"/>
          <a:lstStyle/>
          <a:p>
            <a:pPr indent="0" marL="0">
              <a:buNone/>
            </a:pPr>
            <a:r>
              <a:rPr lang="en-US" sz="1700" dirty="0">
                <a:solidFill>
                  <a:srgbClr val="0F1B33"/>
                </a:solidFill>
                <a:latin typeface="Calibri" pitchFamily="34" charset="0"/>
                <a:ea typeface="Calibri" pitchFamily="34" charset="-122"/>
                <a:cs typeface="Calibri" pitchFamily="34" charset="-120"/>
              </a:rPr>
              <a:t>Wait for the countdown to reach zero</a:t>
            </a:r>
            <a:endParaRPr lang="en-US" sz="1700" dirty="0"/>
          </a:p>
        </p:txBody>
      </p:sp>
      <p:sp>
        <p:nvSpPr>
          <p:cNvPr id="18" name="Text 15"/>
          <p:cNvSpPr txBox="1"/>
          <p:nvPr/>
        </p:nvSpPr>
        <p:spPr>
          <a:xfrm>
            <a:off x="6217920" y="3383280"/>
            <a:ext cx="548640" cy="365760"/>
          </a:xfrm>
          <a:prstGeom prst="roundRect">
            <a:avLst>
              <a:gd name="adj" fmla="val 50000"/>
            </a:avLst>
          </a:prstGeom>
          <a:solidFill>
            <a:srgbClr val="1F56D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19" name="Text 16"/>
          <p:cNvSpPr txBox="1"/>
          <p:nvPr/>
        </p:nvSpPr>
        <p:spPr>
          <a:xfrm>
            <a:off x="6949440" y="3291840"/>
            <a:ext cx="4572000" cy="731520"/>
          </a:xfrm>
          <a:prstGeom prst="rect">
            <a:avLst/>
          </a:prstGeom>
          <a:noFill/>
          <a:ln/>
        </p:spPr>
        <p:txBody>
          <a:bodyPr wrap="square" lIns="0" tIns="0" rIns="0" bIns="0" rtlCol="0" anchor="ctr"/>
          <a:lstStyle/>
          <a:p>
            <a:pPr indent="0" marL="0">
              <a:buNone/>
            </a:pPr>
            <a:r>
              <a:rPr lang="en-US" sz="1700" dirty="0">
                <a:solidFill>
                  <a:srgbClr val="0F1B33"/>
                </a:solidFill>
                <a:latin typeface="Calibri" pitchFamily="34" charset="0"/>
                <a:ea typeface="Calibri" pitchFamily="34" charset="-122"/>
                <a:cs typeface="Calibri" pitchFamily="34" charset="-120"/>
              </a:rPr>
              <a:t>Send 2500 again: asked again. "Not now" cancels</a:t>
            </a:r>
            <a:endParaRPr lang="en-US" sz="1700" dirty="0"/>
          </a:p>
        </p:txBody>
      </p:sp>
      <p:sp>
        <p:nvSpPr>
          <p:cNvPr id="20" name="Text 17"/>
          <p:cNvSpPr txBox="1"/>
          <p:nvPr/>
        </p:nvSpPr>
        <p:spPr>
          <a:xfrm>
            <a:off x="6217920" y="4297680"/>
            <a:ext cx="548640" cy="365760"/>
          </a:xfrm>
          <a:prstGeom prst="roundRect">
            <a:avLst>
              <a:gd name="adj" fmla="val 50000"/>
            </a:avLst>
          </a:prstGeom>
          <a:solidFill>
            <a:srgbClr val="1F56D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9</a:t>
            </a:r>
            <a:endParaRPr lang="en-US" sz="1400" dirty="0"/>
          </a:p>
        </p:txBody>
      </p:sp>
      <p:sp>
        <p:nvSpPr>
          <p:cNvPr id="21" name="Text 18"/>
          <p:cNvSpPr txBox="1"/>
          <p:nvPr/>
        </p:nvSpPr>
        <p:spPr>
          <a:xfrm>
            <a:off x="6949440" y="4206240"/>
            <a:ext cx="4572000" cy="731520"/>
          </a:xfrm>
          <a:prstGeom prst="rect">
            <a:avLst/>
          </a:prstGeom>
          <a:noFill/>
          <a:ln/>
        </p:spPr>
        <p:txBody>
          <a:bodyPr wrap="square" lIns="0" tIns="0" rIns="0" bIns="0" rtlCol="0" anchor="ctr"/>
          <a:lstStyle/>
          <a:p>
            <a:pPr indent="0" marL="0">
              <a:buNone/>
            </a:pPr>
            <a:r>
              <a:rPr lang="en-US" sz="1700" dirty="0">
                <a:solidFill>
                  <a:srgbClr val="0F1B33"/>
                </a:solidFill>
                <a:latin typeface="Calibri" pitchFamily="34" charset="0"/>
                <a:ea typeface="Calibri" pitchFamily="34" charset="-122"/>
                <a:cs typeface="Calibri" pitchFamily="34" charset="-120"/>
              </a:rPr>
              <a:t>API refuses a tampered call (optional)</a:t>
            </a:r>
            <a:endParaRPr lang="en-US" sz="1700" dirty="0"/>
          </a:p>
        </p:txBody>
      </p:sp>
      <p:sp>
        <p:nvSpPr>
          <p:cNvPr id="22" name="Text 19"/>
          <p:cNvSpPr txBox="1"/>
          <p:nvPr/>
        </p:nvSpPr>
        <p:spPr>
          <a:xfrm>
            <a:off x="6217920" y="5212080"/>
            <a:ext cx="548640" cy="365760"/>
          </a:xfrm>
          <a:prstGeom prst="roundRect">
            <a:avLst>
              <a:gd name="adj" fmla="val 50000"/>
            </a:avLst>
          </a:prstGeom>
          <a:solidFill>
            <a:srgbClr val="1F56D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10</a:t>
            </a:r>
            <a:endParaRPr lang="en-US" sz="1400" dirty="0"/>
          </a:p>
        </p:txBody>
      </p:sp>
      <p:sp>
        <p:nvSpPr>
          <p:cNvPr id="23" name="Text 20"/>
          <p:cNvSpPr txBox="1"/>
          <p:nvPr/>
        </p:nvSpPr>
        <p:spPr>
          <a:xfrm>
            <a:off x="6949440" y="5120640"/>
            <a:ext cx="4572000" cy="731520"/>
          </a:xfrm>
          <a:prstGeom prst="rect">
            <a:avLst/>
          </a:prstGeom>
          <a:noFill/>
          <a:ln/>
        </p:spPr>
        <p:txBody>
          <a:bodyPr wrap="square" lIns="0" tIns="0" rIns="0" bIns="0" rtlCol="0" anchor="ctr"/>
          <a:lstStyle/>
          <a:p>
            <a:pPr indent="0" marL="0">
              <a:buNone/>
            </a:pPr>
            <a:r>
              <a:rPr lang="en-US" sz="1700" dirty="0">
                <a:solidFill>
                  <a:srgbClr val="0F1B33"/>
                </a:solidFill>
                <a:latin typeface="Calibri" pitchFamily="34" charset="0"/>
                <a:ea typeface="Calibri" pitchFamily="34" charset="-122"/>
                <a:cs typeface="Calibri" pitchFamily="34" charset="-120"/>
              </a:rPr>
              <a:t>Sign out: other apps ask for a login</a:t>
            </a:r>
            <a:endParaRPr lang="en-US" sz="1700" dirty="0"/>
          </a:p>
        </p:txBody>
      </p:sp>
      <p:sp>
        <p:nvSpPr>
          <p:cNvPr id="24" name="Text 21"/>
          <p:cNvSpPr txBox="1"/>
          <p:nvPr/>
        </p:nvSpPr>
        <p:spPr>
          <a:xfrm>
            <a:off x="640080" y="6035040"/>
            <a:ext cx="10881360" cy="365760"/>
          </a:xfrm>
          <a:prstGeom prst="rect">
            <a:avLst/>
          </a:prstGeom>
          <a:noFill/>
          <a:ln/>
        </p:spPr>
        <p:txBody>
          <a:bodyPr wrap="square" lIns="0" tIns="0" rIns="0" bIns="0" rtlCol="0" anchor="ctr"/>
          <a:lstStyle/>
          <a:p>
            <a:pPr indent="0" marL="0">
              <a:buNone/>
            </a:pPr>
            <a:r>
              <a:rPr lang="en-US" sz="1400" dirty="0">
                <a:solidFill>
                  <a:srgbClr val="52607A"/>
                </a:solidFill>
                <a:latin typeface="Calibri" pitchFamily="34" charset="0"/>
                <a:ea typeface="Calibri" pitchFamily="34" charset="-122"/>
                <a:cs typeface="Calibri" pitchFamily="34" charset="-120"/>
              </a:rPr>
              <a:t>Login: alice / alice-dev-only (fake). Tips: wait for the next authenticator code between step-ups; clocks in sync.</a:t>
            </a:r>
            <a:endParaRPr lang="en-US" sz="14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2607A"/>
                </a:solidFill>
                <a:latin typeface="Calibri"/>
                <a:ea typeface="Calibri"/>
                <a:cs typeface="Calibri"/>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822960"/>
          </a:xfrm>
          <a:prstGeom prst="rect">
            <a:avLst/>
          </a:prstGeom>
          <a:noFill/>
          <a:ln/>
        </p:spPr>
        <p:txBody>
          <a:bodyPr wrap="square" lIns="0" tIns="0" rIns="0" bIns="0" rtlCol="0" anchor="ctr"/>
          <a:lstStyle/>
          <a:p>
            <a:pPr algn="l" indent="0" marL="0">
              <a:buNone/>
            </a:pPr>
            <a:r>
              <a:rPr lang="en-US" sz="3600" b="1" dirty="0">
                <a:solidFill>
                  <a:srgbClr val="12307A"/>
                </a:solidFill>
                <a:latin typeface="Cambria" pitchFamily="34" charset="0"/>
                <a:ea typeface="Cambria" pitchFamily="34" charset="-122"/>
                <a:cs typeface="Cambria" pitchFamily="34" charset="-120"/>
              </a:rPr>
              <a:t>What the demo looks like (backup screenshots)</a:t>
            </a:r>
            <a:endParaRPr lang="en-US" sz="3600" dirty="0"/>
          </a:p>
        </p:txBody>
      </p:sp>
      <p:pic>
        <p:nvPicPr>
          <p:cNvPr id="4" name="Step-up popup screenshot" descr="/Users/shubham/Documents/GitHub/multi-app-sso-stepup/demo/screenshots/03-step-up-modal.png">    </p:cNvPr>
          <p:cNvPicPr>
            <a:picLocks noChangeAspect="1"/>
          </p:cNvPicPr>
          <p:nvPr/>
        </p:nvPicPr>
        <p:blipFill>
          <a:blip r:embed="rId1"/>
          <a:stretch>
            <a:fillRect/>
          </a:stretch>
        </p:blipFill>
        <p:spPr>
          <a:xfrm>
            <a:off x="640080" y="1371600"/>
            <a:ext cx="5394960" cy="3374136"/>
          </a:xfrm>
          <a:prstGeom prst="rect">
            <a:avLst/>
          </a:prstGeom>
        </p:spPr>
      </p:pic>
      <p:pic>
        <p:nvPicPr>
          <p:cNvPr id="5" name="Session panel screenshot" descr="/Users/shubham/Documents/GitHub/multi-app-sso-stepup/demo/screenshots/05-portal-loa2-countdown.png">    </p:cNvPr>
          <p:cNvPicPr>
            <a:picLocks noChangeAspect="1"/>
          </p:cNvPicPr>
          <p:nvPr/>
        </p:nvPicPr>
        <p:blipFill>
          <a:blip r:embed="rId2"/>
          <a:stretch>
            <a:fillRect/>
          </a:stretch>
        </p:blipFill>
        <p:spPr>
          <a:xfrm>
            <a:off x="6172200" y="1371600"/>
            <a:ext cx="5394960" cy="3374136"/>
          </a:xfrm>
          <a:prstGeom prst="rect">
            <a:avLst/>
          </a:prstGeom>
        </p:spPr>
      </p:pic>
      <p:sp>
        <p:nvSpPr>
          <p:cNvPr id="6" name="Text 1"/>
          <p:cNvSpPr txBox="1"/>
          <p:nvPr/>
        </p:nvSpPr>
        <p:spPr>
          <a:xfrm>
            <a:off x="640080" y="4892040"/>
            <a:ext cx="5394960" cy="640080"/>
          </a:xfrm>
          <a:prstGeom prst="rect">
            <a:avLst/>
          </a:prstGeom>
          <a:noFill/>
          <a:ln/>
        </p:spPr>
        <p:txBody>
          <a:bodyPr wrap="square" lIns="0" tIns="0" rIns="0" bIns="0" rtlCol="0" anchor="ctr"/>
          <a:lstStyle/>
          <a:p>
            <a:pPr indent="0" marL="0">
              <a:buNone/>
            </a:pPr>
            <a:r>
              <a:rPr lang="en-US" sz="1600" dirty="0">
                <a:solidFill>
                  <a:srgbClr val="0F1B33"/>
                </a:solidFill>
                <a:latin typeface="Calibri" pitchFamily="34" charset="0"/>
                <a:ea typeface="Calibri" pitchFamily="34" charset="-122"/>
                <a:cs typeface="Calibri" pitchFamily="34" charset="-120"/>
              </a:rPr>
              <a:t>Step 3: a clear popup explains why extra proof is needed</a:t>
            </a:r>
            <a:endParaRPr lang="en-US" sz="1600" dirty="0"/>
          </a:p>
        </p:txBody>
      </p:sp>
      <p:sp>
        <p:nvSpPr>
          <p:cNvPr id="7" name="Text 2"/>
          <p:cNvSpPr txBox="1"/>
          <p:nvPr/>
        </p:nvSpPr>
        <p:spPr>
          <a:xfrm>
            <a:off x="6172200" y="4892040"/>
            <a:ext cx="5394960" cy="640080"/>
          </a:xfrm>
          <a:prstGeom prst="rect">
            <a:avLst/>
          </a:prstGeom>
          <a:noFill/>
          <a:ln/>
        </p:spPr>
        <p:txBody>
          <a:bodyPr wrap="square" lIns="0" tIns="0" rIns="0" bIns="0" rtlCol="0" anchor="ctr"/>
          <a:lstStyle/>
          <a:p>
            <a:pPr indent="0" marL="0">
              <a:buNone/>
            </a:pPr>
            <a:r>
              <a:rPr lang="en-US" sz="1600" dirty="0">
                <a:solidFill>
                  <a:srgbClr val="0F1B33"/>
                </a:solidFill>
                <a:latin typeface="Calibri" pitchFamily="34" charset="0"/>
                <a:ea typeface="Calibri" pitchFamily="34" charset="-122"/>
                <a:cs typeface="Calibri" pitchFamily="34" charset="-120"/>
              </a:rPr>
              <a:t>Step 5: the session panel shows LoA2 and the 60 s countdown</a:t>
            </a:r>
            <a:endParaRPr lang="en-US" sz="1600" dirty="0"/>
          </a:p>
        </p:txBody>
      </p:sp>
      <p:sp>
        <p:nvSpPr>
          <p:cNvPr id="8" name="Text 3"/>
          <p:cNvSpPr txBox="1"/>
          <p:nvPr/>
        </p:nvSpPr>
        <p:spPr>
          <a:xfrm>
            <a:off x="640080" y="5760720"/>
            <a:ext cx="10881360" cy="365760"/>
          </a:xfrm>
          <a:prstGeom prst="rect">
            <a:avLst/>
          </a:prstGeom>
          <a:noFill/>
          <a:ln/>
        </p:spPr>
        <p:txBody>
          <a:bodyPr wrap="square" lIns="0" tIns="0" rIns="0" bIns="0" rtlCol="0" anchor="ctr"/>
          <a:lstStyle/>
          <a:p>
            <a:pPr indent="0" marL="0">
              <a:buNone/>
            </a:pPr>
            <a:r>
              <a:rPr lang="en-US" sz="1400" dirty="0">
                <a:solidFill>
                  <a:srgbClr val="52607A"/>
                </a:solidFill>
                <a:latin typeface="Calibri" pitchFamily="34" charset="0"/>
                <a:ea typeface="Calibri" pitchFamily="34" charset="-122"/>
                <a:cs typeface="Calibri" pitchFamily="34" charset="-120"/>
              </a:rPr>
              <a:t>All 14 numbered screenshots are in demo/screenshots</a:t>
            </a:r>
            <a:endParaRPr lang="en-US" sz="14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2607A"/>
                </a:solidFill>
                <a:latin typeface="Calibri"/>
                <a:ea typeface="Calibri"/>
                <a:cs typeface="Calibri"/>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822960"/>
          </a:xfrm>
          <a:prstGeom prst="rect">
            <a:avLst/>
          </a:prstGeom>
          <a:noFill/>
          <a:ln/>
        </p:spPr>
        <p:txBody>
          <a:bodyPr wrap="square" lIns="0" tIns="0" rIns="0" bIns="0" rtlCol="0" anchor="ctr"/>
          <a:lstStyle/>
          <a:p>
            <a:pPr algn="l" indent="0" marL="0">
              <a:buNone/>
            </a:pPr>
            <a:r>
              <a:rPr lang="en-US" sz="3600" b="1" dirty="0">
                <a:solidFill>
                  <a:srgbClr val="12307A"/>
                </a:solidFill>
                <a:latin typeface="Cambria" pitchFamily="34" charset="0"/>
                <a:ea typeface="Cambria" pitchFamily="34" charset="-122"/>
                <a:cs typeface="Cambria" pitchFamily="34" charset="-120"/>
              </a:rPr>
              <a:t>Any identity provider: a profile file, not new code</a:t>
            </a:r>
            <a:endParaRPr lang="en-US" sz="3600" dirty="0"/>
          </a:p>
        </p:txBody>
      </p:sp>
      <p:sp>
        <p:nvSpPr>
          <p:cNvPr id="4" name="Text 1"/>
          <p:cNvSpPr txBox="1"/>
          <p:nvPr/>
        </p:nvSpPr>
        <p:spPr>
          <a:xfrm>
            <a:off x="640080" y="1280160"/>
            <a:ext cx="10881360" cy="457200"/>
          </a:xfrm>
          <a:prstGeom prst="rect">
            <a:avLst/>
          </a:prstGeom>
          <a:noFill/>
          <a:ln/>
        </p:spPr>
        <p:txBody>
          <a:bodyPr wrap="square" lIns="0" tIns="0" rIns="0" bIns="0" rtlCol="0" anchor="ctr"/>
          <a:lstStyle/>
          <a:p>
            <a:pPr indent="0" marL="0">
              <a:buNone/>
            </a:pPr>
            <a:r>
              <a:rPr lang="en-US" sz="1800" dirty="0">
                <a:solidFill>
                  <a:srgbClr val="52607A"/>
                </a:solidFill>
                <a:latin typeface="Calibri" pitchFamily="34" charset="0"/>
                <a:ea typeface="Calibri" pitchFamily="34" charset="-122"/>
                <a:cs typeface="Calibri" pitchFamily="34" charset="-120"/>
              </a:rPr>
              <a:t>For managers: switching provider is configuration work and testing, not a rewrite. We only proved Keycloak.</a:t>
            </a:r>
            <a:endParaRPr lang="en-US" sz="1800" dirty="0"/>
          </a:p>
        </p:txBody>
      </p:sp>
      <p:sp>
        <p:nvSpPr>
          <p:cNvPr id="5" name="Text 2"/>
          <p:cNvSpPr txBox="1"/>
          <p:nvPr/>
        </p:nvSpPr>
        <p:spPr>
          <a:xfrm>
            <a:off x="640080" y="2194560"/>
            <a:ext cx="2377440" cy="365760"/>
          </a:xfrm>
          <a:prstGeom prst="roundRect">
            <a:avLst>
              <a:gd name="adj" fmla="val 50000"/>
            </a:avLst>
          </a:prstGeom>
          <a:solidFill>
            <a:srgbClr val="0FB59A"/>
          </a:solidFill>
          <a:ln/>
        </p:spPr>
        <p:txBody>
          <a:bodyPr wrap="square" lIns="0" tIns="0" rIns="0" bIns="0" rtlCol="0" anchor="ctr"/>
          <a:lstStyle/>
          <a:p>
            <a:pPr algn="ctr" indent="0" marL="0">
              <a:buNone/>
            </a:pPr>
            <a:r>
              <a:rPr lang="en-US" sz="1400" b="1" dirty="0">
                <a:solidFill>
                  <a:srgbClr val="0F1B33"/>
                </a:solidFill>
                <a:latin typeface="Calibri" pitchFamily="34" charset="0"/>
                <a:ea typeface="Calibri" pitchFamily="34" charset="-122"/>
                <a:cs typeface="Calibri" pitchFamily="34" charset="-120"/>
              </a:rPr>
              <a:t>Keycloak</a:t>
            </a:r>
            <a:endParaRPr lang="en-US" sz="1400" dirty="0"/>
          </a:p>
        </p:txBody>
      </p:sp>
      <p:sp>
        <p:nvSpPr>
          <p:cNvPr id="6" name="Text 3"/>
          <p:cNvSpPr txBox="1"/>
          <p:nvPr/>
        </p:nvSpPr>
        <p:spPr>
          <a:xfrm>
            <a:off x="3291840" y="2103120"/>
            <a:ext cx="8229600" cy="640080"/>
          </a:xfrm>
          <a:prstGeom prst="rect">
            <a:avLst/>
          </a:prstGeom>
          <a:noFill/>
          <a:ln/>
        </p:spPr>
        <p:txBody>
          <a:bodyPr wrap="square" lIns="0" tIns="0" rIns="0" bIns="0" rtlCol="0" anchor="ctr"/>
          <a:lstStyle/>
          <a:p>
            <a:pPr indent="0" marL="0">
              <a:buNone/>
            </a:pPr>
            <a:r>
              <a:rPr lang="en-US" sz="1700" dirty="0">
                <a:solidFill>
                  <a:srgbClr val="0F1B33"/>
                </a:solidFill>
                <a:latin typeface="Calibri" pitchFamily="34" charset="0"/>
                <a:ea typeface="Calibri" pitchFamily="34" charset="-122"/>
                <a:cs typeface="Calibri" pitchFamily="34" charset="-120"/>
              </a:rPr>
              <a:t>Tested: login, SSO, step-up, expiry, logout</a:t>
            </a:r>
            <a:endParaRPr lang="en-US" sz="1700" dirty="0"/>
          </a:p>
        </p:txBody>
      </p:sp>
      <p:sp>
        <p:nvSpPr>
          <p:cNvPr id="7" name="Text 4"/>
          <p:cNvSpPr txBox="1"/>
          <p:nvPr/>
        </p:nvSpPr>
        <p:spPr>
          <a:xfrm>
            <a:off x="640080" y="2971800"/>
            <a:ext cx="2377440" cy="365760"/>
          </a:xfrm>
          <a:prstGeom prst="roundRect">
            <a:avLst>
              <a:gd name="adj" fmla="val 50000"/>
            </a:avLst>
          </a:prstGeom>
          <a:solidFill>
            <a:srgbClr val="F59E0B"/>
          </a:solidFill>
          <a:ln/>
        </p:spPr>
        <p:txBody>
          <a:bodyPr wrap="square" lIns="0" tIns="0" rIns="0" bIns="0" rtlCol="0" anchor="ctr"/>
          <a:lstStyle/>
          <a:p>
            <a:pPr algn="ctr" indent="0" marL="0">
              <a:buNone/>
            </a:pPr>
            <a:r>
              <a:rPr lang="en-US" sz="1400" b="1" dirty="0">
                <a:solidFill>
                  <a:srgbClr val="0F1B33"/>
                </a:solidFill>
                <a:latin typeface="Calibri" pitchFamily="34" charset="0"/>
                <a:ea typeface="Calibri" pitchFamily="34" charset="-122"/>
                <a:cs typeface="Calibri" pitchFamily="34" charset="-120"/>
              </a:rPr>
              <a:t>Microsoft Entra ID</a:t>
            </a:r>
            <a:endParaRPr lang="en-US" sz="1400" dirty="0"/>
          </a:p>
        </p:txBody>
      </p:sp>
      <p:sp>
        <p:nvSpPr>
          <p:cNvPr id="8" name="Text 5"/>
          <p:cNvSpPr txBox="1"/>
          <p:nvPr/>
        </p:nvSpPr>
        <p:spPr>
          <a:xfrm>
            <a:off x="3291840" y="2880360"/>
            <a:ext cx="8229600" cy="640080"/>
          </a:xfrm>
          <a:prstGeom prst="rect">
            <a:avLst/>
          </a:prstGeom>
          <a:noFill/>
          <a:ln/>
        </p:spPr>
        <p:txBody>
          <a:bodyPr wrap="square" lIns="0" tIns="0" rIns="0" bIns="0" rtlCol="0" anchor="ctr"/>
          <a:lstStyle/>
          <a:p>
            <a:pPr indent="0" marL="0">
              <a:buNone/>
            </a:pPr>
            <a:r>
              <a:rPr lang="en-US" sz="1700" dirty="0">
                <a:solidFill>
                  <a:srgbClr val="0F1B33"/>
                </a:solidFill>
                <a:latin typeface="Calibri" pitchFamily="34" charset="0"/>
                <a:ea typeface="Calibri" pitchFamily="34" charset="-122"/>
                <a:cs typeface="Calibri" pitchFamily="34" charset="-120"/>
              </a:rPr>
              <a:t>Template, untested. Uses authentication contexts; no documented login-time claim</a:t>
            </a:r>
            <a:endParaRPr lang="en-US" sz="1700" dirty="0"/>
          </a:p>
        </p:txBody>
      </p:sp>
      <p:sp>
        <p:nvSpPr>
          <p:cNvPr id="9" name="Text 6"/>
          <p:cNvSpPr txBox="1"/>
          <p:nvPr/>
        </p:nvSpPr>
        <p:spPr>
          <a:xfrm>
            <a:off x="640080" y="3749040"/>
            <a:ext cx="2377440" cy="365760"/>
          </a:xfrm>
          <a:prstGeom prst="roundRect">
            <a:avLst>
              <a:gd name="adj" fmla="val 50000"/>
            </a:avLst>
          </a:prstGeom>
          <a:solidFill>
            <a:srgbClr val="F59E0B"/>
          </a:solidFill>
          <a:ln/>
        </p:spPr>
        <p:txBody>
          <a:bodyPr wrap="square" lIns="0" tIns="0" rIns="0" bIns="0" rtlCol="0" anchor="ctr"/>
          <a:lstStyle/>
          <a:p>
            <a:pPr algn="ctr" indent="0" marL="0">
              <a:buNone/>
            </a:pPr>
            <a:r>
              <a:rPr lang="en-US" sz="1400" b="1" dirty="0">
                <a:solidFill>
                  <a:srgbClr val="0F1B33"/>
                </a:solidFill>
                <a:latin typeface="Calibri" pitchFamily="34" charset="0"/>
                <a:ea typeface="Calibri" pitchFamily="34" charset="-122"/>
                <a:cs typeface="Calibri" pitchFamily="34" charset="-120"/>
              </a:rPr>
              <a:t>Okta</a:t>
            </a:r>
            <a:endParaRPr lang="en-US" sz="1400" dirty="0"/>
          </a:p>
        </p:txBody>
      </p:sp>
      <p:sp>
        <p:nvSpPr>
          <p:cNvPr id="10" name="Text 7"/>
          <p:cNvSpPr txBox="1"/>
          <p:nvPr/>
        </p:nvSpPr>
        <p:spPr>
          <a:xfrm>
            <a:off x="3291840" y="3657600"/>
            <a:ext cx="8229600" cy="640080"/>
          </a:xfrm>
          <a:prstGeom prst="rect">
            <a:avLst/>
          </a:prstGeom>
          <a:noFill/>
          <a:ln/>
        </p:spPr>
        <p:txBody>
          <a:bodyPr wrap="square" lIns="0" tIns="0" rIns="0" bIns="0" rtlCol="0" anchor="ctr"/>
          <a:lstStyle/>
          <a:p>
            <a:pPr indent="0" marL="0">
              <a:buNone/>
            </a:pPr>
            <a:r>
              <a:rPr lang="en-US" sz="1700" dirty="0">
                <a:solidFill>
                  <a:srgbClr val="0F1B33"/>
                </a:solidFill>
                <a:latin typeface="Calibri" pitchFamily="34" charset="0"/>
                <a:ea typeface="Calibri" pitchFamily="34" charset="-122"/>
                <a:cs typeface="Calibri" pitchFamily="34" charset="-120"/>
              </a:rPr>
              <a:t>Template, untested</a:t>
            </a:r>
            <a:endParaRPr lang="en-US" sz="1700" dirty="0"/>
          </a:p>
        </p:txBody>
      </p:sp>
      <p:sp>
        <p:nvSpPr>
          <p:cNvPr id="11" name="Text 8"/>
          <p:cNvSpPr txBox="1"/>
          <p:nvPr/>
        </p:nvSpPr>
        <p:spPr>
          <a:xfrm>
            <a:off x="640080" y="4526280"/>
            <a:ext cx="2377440" cy="365760"/>
          </a:xfrm>
          <a:prstGeom prst="roundRect">
            <a:avLst>
              <a:gd name="adj" fmla="val 50000"/>
            </a:avLst>
          </a:prstGeom>
          <a:solidFill>
            <a:srgbClr val="F59E0B"/>
          </a:solidFill>
          <a:ln/>
        </p:spPr>
        <p:txBody>
          <a:bodyPr wrap="square" lIns="0" tIns="0" rIns="0" bIns="0" rtlCol="0" anchor="ctr"/>
          <a:lstStyle/>
          <a:p>
            <a:pPr algn="ctr" indent="0" marL="0">
              <a:buNone/>
            </a:pPr>
            <a:r>
              <a:rPr lang="en-US" sz="1400" b="1" dirty="0">
                <a:solidFill>
                  <a:srgbClr val="0F1B33"/>
                </a:solidFill>
                <a:latin typeface="Calibri" pitchFamily="34" charset="0"/>
                <a:ea typeface="Calibri" pitchFamily="34" charset="-122"/>
                <a:cs typeface="Calibri" pitchFamily="34" charset="-120"/>
              </a:rPr>
              <a:t>Amazon Cognito</a:t>
            </a:r>
            <a:endParaRPr lang="en-US" sz="1400" dirty="0"/>
          </a:p>
        </p:txBody>
      </p:sp>
      <p:sp>
        <p:nvSpPr>
          <p:cNvPr id="12" name="Text 9"/>
          <p:cNvSpPr txBox="1"/>
          <p:nvPr/>
        </p:nvSpPr>
        <p:spPr>
          <a:xfrm>
            <a:off x="3291840" y="4434840"/>
            <a:ext cx="8229600" cy="640080"/>
          </a:xfrm>
          <a:prstGeom prst="rect">
            <a:avLst/>
          </a:prstGeom>
          <a:noFill/>
          <a:ln/>
        </p:spPr>
        <p:txBody>
          <a:bodyPr wrap="square" lIns="0" tIns="0" rIns="0" bIns="0" rtlCol="0" anchor="ctr"/>
          <a:lstStyle/>
          <a:p>
            <a:pPr indent="0" marL="0">
              <a:buNone/>
            </a:pPr>
            <a:r>
              <a:rPr lang="en-US" sz="1700" dirty="0">
                <a:solidFill>
                  <a:srgbClr val="0F1B33"/>
                </a:solidFill>
                <a:latin typeface="Calibri" pitchFamily="34" charset="0"/>
                <a:ea typeface="Calibri" pitchFamily="34" charset="-122"/>
                <a:cs typeface="Calibri" pitchFamily="34" charset="-120"/>
              </a:rPr>
              <a:t>Template, untested. Needs managed login and a paid feature plan</a:t>
            </a:r>
            <a:endParaRPr lang="en-US" sz="1700" dirty="0"/>
          </a:p>
        </p:txBody>
      </p:sp>
      <p:sp>
        <p:nvSpPr>
          <p:cNvPr id="13" name="Text 10"/>
          <p:cNvSpPr txBox="1"/>
          <p:nvPr/>
        </p:nvSpPr>
        <p:spPr>
          <a:xfrm>
            <a:off x="640080" y="5303520"/>
            <a:ext cx="2377440" cy="365760"/>
          </a:xfrm>
          <a:prstGeom prst="roundRect">
            <a:avLst>
              <a:gd name="adj" fmla="val 50000"/>
            </a:avLst>
          </a:prstGeom>
          <a:solidFill>
            <a:srgbClr val="F59E0B"/>
          </a:solidFill>
          <a:ln/>
        </p:spPr>
        <p:txBody>
          <a:bodyPr wrap="square" lIns="0" tIns="0" rIns="0" bIns="0" rtlCol="0" anchor="ctr"/>
          <a:lstStyle/>
          <a:p>
            <a:pPr algn="ctr" indent="0" marL="0">
              <a:buNone/>
            </a:pPr>
            <a:r>
              <a:rPr lang="en-US" sz="1400" b="1" dirty="0">
                <a:solidFill>
                  <a:srgbClr val="0F1B33"/>
                </a:solidFill>
                <a:latin typeface="Calibri" pitchFamily="34" charset="0"/>
                <a:ea typeface="Calibri" pitchFamily="34" charset="-122"/>
                <a:cs typeface="Calibri" pitchFamily="34" charset="-120"/>
              </a:rPr>
              <a:t>Other OIDC</a:t>
            </a:r>
            <a:endParaRPr lang="en-US" sz="1400" dirty="0"/>
          </a:p>
        </p:txBody>
      </p:sp>
      <p:sp>
        <p:nvSpPr>
          <p:cNvPr id="14" name="Text 11"/>
          <p:cNvSpPr txBox="1"/>
          <p:nvPr/>
        </p:nvSpPr>
        <p:spPr>
          <a:xfrm>
            <a:off x="3291840" y="5212080"/>
            <a:ext cx="8229600" cy="640080"/>
          </a:xfrm>
          <a:prstGeom prst="rect">
            <a:avLst/>
          </a:prstGeom>
          <a:noFill/>
          <a:ln/>
        </p:spPr>
        <p:txBody>
          <a:bodyPr wrap="square" lIns="0" tIns="0" rIns="0" bIns="0" rtlCol="0" anchor="ctr"/>
          <a:lstStyle/>
          <a:p>
            <a:pPr indent="0" marL="0">
              <a:buNone/>
            </a:pPr>
            <a:r>
              <a:rPr lang="en-US" sz="1700" dirty="0">
                <a:solidFill>
                  <a:srgbClr val="0F1B33"/>
                </a:solidFill>
                <a:latin typeface="Calibri" pitchFamily="34" charset="0"/>
                <a:ea typeface="Calibri" pitchFamily="34" charset="-122"/>
                <a:cs typeface="Calibri" pitchFamily="34" charset="-120"/>
              </a:rPr>
              <a:t>Generic profile, untested elsewhere</a:t>
            </a:r>
            <a:endParaRPr lang="en-US" sz="17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2607A"/>
                </a:solidFill>
                <a:latin typeface="Calibri"/>
                <a:ea typeface="Calibri"/>
                <a:cs typeface="Calibri"/>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822960"/>
          </a:xfrm>
          <a:prstGeom prst="rect">
            <a:avLst/>
          </a:prstGeom>
          <a:noFill/>
          <a:ln/>
        </p:spPr>
        <p:txBody>
          <a:bodyPr wrap="square" lIns="0" tIns="0" rIns="0" bIns="0" rtlCol="0" anchor="ctr"/>
          <a:lstStyle/>
          <a:p>
            <a:pPr algn="l" indent="0" marL="0">
              <a:buNone/>
            </a:pPr>
            <a:r>
              <a:rPr lang="en-US" sz="3600" b="1" dirty="0">
                <a:solidFill>
                  <a:srgbClr val="12307A"/>
                </a:solidFill>
                <a:latin typeface="Cambria" pitchFamily="34" charset="0"/>
                <a:ea typeface="Cambria" pitchFamily="34" charset="-122"/>
                <a:cs typeface="Cambria" pitchFamily="34" charset="-120"/>
              </a:rPr>
              <a:t>Security decisions and honest trade-offs</a:t>
            </a:r>
            <a:endParaRPr lang="en-US" sz="3600" dirty="0"/>
          </a:p>
        </p:txBody>
      </p:sp>
      <p:sp>
        <p:nvSpPr>
          <p:cNvPr id="4" name="Text 1"/>
          <p:cNvSpPr txBox="1"/>
          <p:nvPr/>
        </p:nvSpPr>
        <p:spPr>
          <a:xfrm>
            <a:off x="640080" y="1280160"/>
            <a:ext cx="10881360" cy="457200"/>
          </a:xfrm>
          <a:prstGeom prst="rect">
            <a:avLst/>
          </a:prstGeom>
          <a:noFill/>
          <a:ln/>
        </p:spPr>
        <p:txBody>
          <a:bodyPr wrap="square" lIns="0" tIns="0" rIns="0" bIns="0" rtlCol="0" anchor="ctr"/>
          <a:lstStyle/>
          <a:p>
            <a:pPr indent="0" marL="0">
              <a:buNone/>
            </a:pPr>
            <a:r>
              <a:rPr lang="en-US" sz="1800" dirty="0">
                <a:solidFill>
                  <a:srgbClr val="52607A"/>
                </a:solidFill>
                <a:latin typeface="Calibri" pitchFamily="34" charset="0"/>
                <a:ea typeface="Calibri" pitchFamily="34" charset="-122"/>
                <a:cs typeface="Calibri" pitchFamily="34" charset="-120"/>
              </a:rPr>
              <a:t>For managers: strong where it matters, and we list where it is not production grade.</a:t>
            </a:r>
            <a:endParaRPr lang="en-US" sz="1800" dirty="0"/>
          </a:p>
        </p:txBody>
      </p:sp>
      <p:sp>
        <p:nvSpPr>
          <p:cNvPr id="5" name="Shape 2"/>
          <p:cNvSpPr/>
          <p:nvPr/>
        </p:nvSpPr>
        <p:spPr>
          <a:xfrm>
            <a:off x="640080" y="2103120"/>
            <a:ext cx="5394960" cy="3566160"/>
          </a:xfrm>
          <a:prstGeom prst="roundRect">
            <a:avLst>
              <a:gd name="adj" fmla="val 3077"/>
            </a:avLst>
          </a:prstGeom>
          <a:solidFill>
            <a:srgbClr val="F3F6FB"/>
          </a:solidFill>
          <a:ln w="12700">
            <a:solidFill>
              <a:srgbClr val="DDE4EF"/>
            </a:solidFill>
            <a:prstDash val="solid"/>
          </a:ln>
          <a:effectLst>
            <a:outerShdw sx="100000" sy="100000" kx="0" ky="0" algn="bl" rotWithShape="0" blurRad="76200" dist="25400" dir="5400000">
              <a:srgbClr val="000000">
                <a:alpha val="12000"/>
              </a:srgbClr>
            </a:outerShdw>
          </a:effectLst>
        </p:spPr>
      </p:sp>
      <p:sp>
        <p:nvSpPr>
          <p:cNvPr id="6" name="Text 3"/>
          <p:cNvSpPr txBox="1"/>
          <p:nvPr/>
        </p:nvSpPr>
        <p:spPr>
          <a:xfrm>
            <a:off x="868680" y="2267712"/>
            <a:ext cx="4937760" cy="731520"/>
          </a:xfrm>
          <a:prstGeom prst="rect">
            <a:avLst/>
          </a:prstGeom>
          <a:noFill/>
          <a:ln/>
        </p:spPr>
        <p:txBody>
          <a:bodyPr wrap="square" lIns="0" tIns="0" rIns="0" bIns="0" rtlCol="0" anchor="t"/>
          <a:lstStyle/>
          <a:p>
            <a:pPr indent="0" marL="0">
              <a:buNone/>
            </a:pPr>
            <a:r>
              <a:rPr lang="en-US" sz="2000" b="1" dirty="0">
                <a:solidFill>
                  <a:srgbClr val="12307A"/>
                </a:solidFill>
                <a:latin typeface="Cambria" pitchFamily="34" charset="0"/>
                <a:ea typeface="Cambria" pitchFamily="34" charset="-122"/>
                <a:cs typeface="Cambria" pitchFamily="34" charset="-120"/>
              </a:rPr>
              <a:t>Chosen on purpose</a:t>
            </a:r>
            <a:endParaRPr lang="en-US" sz="2000" dirty="0"/>
          </a:p>
        </p:txBody>
      </p:sp>
      <p:sp>
        <p:nvSpPr>
          <p:cNvPr id="7" name="Text 4"/>
          <p:cNvSpPr txBox="1"/>
          <p:nvPr/>
        </p:nvSpPr>
        <p:spPr>
          <a:xfrm>
            <a:off x="868680" y="3063240"/>
            <a:ext cx="4937760" cy="2468880"/>
          </a:xfrm>
          <a:prstGeom prst="rect">
            <a:avLst/>
          </a:prstGeom>
          <a:noFill/>
          <a:ln/>
        </p:spPr>
        <p:txBody>
          <a:bodyPr wrap="square" lIns="0" tIns="0" rIns="0" bIns="0" rtlCol="0" anchor="t"/>
          <a:lstStyle/>
          <a:p>
            <a:pPr indent="0" marL="0">
              <a:spcAft>
                <a:spcPts val="600"/>
              </a:spcAft>
              <a:buNone/>
            </a:pPr>
            <a:r>
              <a:rPr lang="en-US" sz="1700" dirty="0">
                <a:solidFill>
                  <a:srgbClr val="0F1B33"/>
                </a:solidFill>
                <a:latin typeface="Calibri" pitchFamily="34" charset="0"/>
                <a:ea typeface="Calibri" pitchFamily="34" charset="-122"/>
                <a:cs typeface="Calibri" pitchFamily="34" charset="-120"/>
              </a:rPr>
              <a:t>Authorization Code + PKCE everywhere</a:t>
            </a:r>
            <a:endParaRPr lang="en-US" sz="1700" dirty="0"/>
          </a:p>
          <a:p>
            <a:pPr indent="0" marL="0">
              <a:spcAft>
                <a:spcPts val="600"/>
              </a:spcAft>
              <a:buNone/>
            </a:pPr>
            <a:r>
              <a:rPr lang="en-US" sz="1700" dirty="0">
                <a:solidFill>
                  <a:srgbClr val="0F1B33"/>
                </a:solidFill>
                <a:latin typeface="Calibri" pitchFamily="34" charset="0"/>
                <a:ea typeface="Calibri" pitchFamily="34" charset="-122"/>
                <a:cs typeface="Calibri" pitchFamily="34" charset="-120"/>
              </a:rPr>
              <a:t>Step-up enforced in the API</a:t>
            </a:r>
            <a:endParaRPr lang="en-US" sz="1700" dirty="0"/>
          </a:p>
          <a:p>
            <a:pPr indent="0" marL="0">
              <a:spcAft>
                <a:spcPts val="600"/>
              </a:spcAft>
              <a:buNone/>
            </a:pPr>
            <a:r>
              <a:rPr lang="en-US" sz="1700" dirty="0">
                <a:solidFill>
                  <a:srgbClr val="0F1B33"/>
                </a:solidFill>
                <a:latin typeface="Calibri" pitchFamily="34" charset="0"/>
                <a:ea typeface="Calibri" pitchFamily="34" charset="-122"/>
                <a:cs typeface="Calibri" pitchFamily="34" charset="-120"/>
              </a:rPr>
              <a:t>Tokens in memory; MVC keeps them on the server</a:t>
            </a:r>
            <a:endParaRPr lang="en-US" sz="1700" dirty="0"/>
          </a:p>
          <a:p>
            <a:pPr indent="0" marL="0">
              <a:spcAft>
                <a:spcPts val="600"/>
              </a:spcAft>
              <a:buNone/>
            </a:pPr>
            <a:r>
              <a:rPr lang="en-US" sz="1700" dirty="0">
                <a:solidFill>
                  <a:srgbClr val="0F1B33"/>
                </a:solidFill>
                <a:latin typeface="Calibri" pitchFamily="34" charset="0"/>
                <a:ea typeface="Calibri" pitchFamily="34" charset="-122"/>
                <a:cs typeface="Calibri" pitchFamily="34" charset="-120"/>
              </a:rPr>
              <a:t>One shared window, set by configuration</a:t>
            </a:r>
            <a:endParaRPr lang="en-US" sz="1700" dirty="0"/>
          </a:p>
        </p:txBody>
      </p:sp>
      <p:sp>
        <p:nvSpPr>
          <p:cNvPr id="8" name="Shape 5"/>
          <p:cNvSpPr/>
          <p:nvPr/>
        </p:nvSpPr>
        <p:spPr>
          <a:xfrm>
            <a:off x="6217920" y="2103120"/>
            <a:ext cx="5303520" cy="3566160"/>
          </a:xfrm>
          <a:prstGeom prst="roundRect">
            <a:avLst>
              <a:gd name="adj" fmla="val 3077"/>
            </a:avLst>
          </a:prstGeom>
          <a:solidFill>
            <a:srgbClr val="F3F6FB"/>
          </a:solidFill>
          <a:ln w="12700">
            <a:solidFill>
              <a:srgbClr val="DDE4EF"/>
            </a:solidFill>
            <a:prstDash val="solid"/>
          </a:ln>
          <a:effectLst>
            <a:outerShdw sx="100000" sy="100000" kx="0" ky="0" algn="bl" rotWithShape="0" blurRad="76200" dist="25400" dir="5400000">
              <a:srgbClr val="000000">
                <a:alpha val="12000"/>
              </a:srgbClr>
            </a:outerShdw>
          </a:effectLst>
        </p:spPr>
      </p:sp>
      <p:sp>
        <p:nvSpPr>
          <p:cNvPr id="9" name="Text 6"/>
          <p:cNvSpPr txBox="1"/>
          <p:nvPr/>
        </p:nvSpPr>
        <p:spPr>
          <a:xfrm>
            <a:off x="6446520" y="2267712"/>
            <a:ext cx="4846320" cy="731520"/>
          </a:xfrm>
          <a:prstGeom prst="rect">
            <a:avLst/>
          </a:prstGeom>
          <a:noFill/>
          <a:ln/>
        </p:spPr>
        <p:txBody>
          <a:bodyPr wrap="square" lIns="0" tIns="0" rIns="0" bIns="0" rtlCol="0" anchor="t"/>
          <a:lstStyle/>
          <a:p>
            <a:pPr indent="0" marL="0">
              <a:buNone/>
            </a:pPr>
            <a:r>
              <a:rPr lang="en-US" sz="2000" b="1" dirty="0">
                <a:solidFill>
                  <a:srgbClr val="D93A4A"/>
                </a:solidFill>
                <a:latin typeface="Cambria" pitchFamily="34" charset="0"/>
                <a:ea typeface="Cambria" pitchFamily="34" charset="-122"/>
                <a:cs typeface="Cambria" pitchFamily="34" charset="-120"/>
              </a:rPr>
              <a:t>Known weaknesses</a:t>
            </a:r>
            <a:endParaRPr lang="en-US" sz="2000" dirty="0"/>
          </a:p>
        </p:txBody>
      </p:sp>
      <p:sp>
        <p:nvSpPr>
          <p:cNvPr id="10" name="Text 7"/>
          <p:cNvSpPr txBox="1"/>
          <p:nvPr/>
        </p:nvSpPr>
        <p:spPr>
          <a:xfrm>
            <a:off x="6446520" y="3063240"/>
            <a:ext cx="4846320" cy="2468880"/>
          </a:xfrm>
          <a:prstGeom prst="rect">
            <a:avLst/>
          </a:prstGeom>
          <a:noFill/>
          <a:ln/>
        </p:spPr>
        <p:txBody>
          <a:bodyPr wrap="square" lIns="0" tIns="0" rIns="0" bIns="0" rtlCol="0" anchor="t"/>
          <a:lstStyle/>
          <a:p>
            <a:pPr indent="0" marL="0">
              <a:spcAft>
                <a:spcPts val="600"/>
              </a:spcAft>
              <a:buNone/>
            </a:pPr>
            <a:r>
              <a:rPr lang="en-US" sz="1700" dirty="0">
                <a:solidFill>
                  <a:srgbClr val="0F1B33"/>
                </a:solidFill>
                <a:latin typeface="Calibri" pitchFamily="34" charset="0"/>
                <a:ea typeface="Calibri" pitchFamily="34" charset="-122"/>
                <a:cs typeface="Calibri" pitchFamily="34" charset="-120"/>
              </a:rPr>
              <a:t>Browser memory is exposed to XSS (a BFF is the production pattern)</a:t>
            </a:r>
            <a:endParaRPr lang="en-US" sz="1700" dirty="0"/>
          </a:p>
          <a:p>
            <a:pPr indent="0" marL="0">
              <a:spcAft>
                <a:spcPts val="600"/>
              </a:spcAft>
              <a:buNone/>
            </a:pPr>
            <a:r>
              <a:rPr lang="en-US" sz="1700" dirty="0">
                <a:solidFill>
                  <a:srgbClr val="0F1B33"/>
                </a:solidFill>
                <a:latin typeface="Calibri" pitchFamily="34" charset="0"/>
                <a:ea typeface="Calibri" pitchFamily="34" charset="-122"/>
                <a:cs typeface="Calibri" pitchFamily="34" charset="-120"/>
              </a:rPr>
              <a:t>Small transfers avoid step-up (no cumulative limits)</a:t>
            </a:r>
            <a:endParaRPr lang="en-US" sz="1700" dirty="0"/>
          </a:p>
          <a:p>
            <a:pPr indent="0" marL="0">
              <a:spcAft>
                <a:spcPts val="600"/>
              </a:spcAft>
              <a:buNone/>
            </a:pPr>
            <a:r>
              <a:rPr lang="en-US" sz="1700" dirty="0">
                <a:solidFill>
                  <a:srgbClr val="0F1B33"/>
                </a:solidFill>
                <a:latin typeface="Calibri" pitchFamily="34" charset="0"/>
                <a:ea typeface="Calibri" pitchFamily="34" charset="-122"/>
                <a:cs typeface="Calibri" pitchFamily="34" charset="-120"/>
              </a:rPr>
              <a:t>No front/back-channel logout</a:t>
            </a:r>
            <a:endParaRPr lang="en-US" sz="1700" dirty="0"/>
          </a:p>
          <a:p>
            <a:pPr indent="0" marL="0">
              <a:spcAft>
                <a:spcPts val="600"/>
              </a:spcAft>
              <a:buNone/>
            </a:pPr>
            <a:r>
              <a:rPr lang="en-US" sz="1700" dirty="0">
                <a:solidFill>
                  <a:srgbClr val="0F1B33"/>
                </a:solidFill>
                <a:latin typeface="Calibri" pitchFamily="34" charset="0"/>
                <a:ea typeface="Calibri" pitchFamily="34" charset="-122"/>
                <a:cs typeface="Calibri" pitchFamily="34" charset="-120"/>
              </a:rPr>
              <a:t>Dev setup: http, fake TOTP seed is public</a:t>
            </a:r>
            <a:endParaRPr lang="en-US" sz="17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2607A"/>
                </a:solidFill>
                <a:latin typeface="Calibri"/>
                <a:ea typeface="Calibri"/>
                <a:cs typeface="Calibri"/>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822960"/>
          </a:xfrm>
          <a:prstGeom prst="rect">
            <a:avLst/>
          </a:prstGeom>
          <a:noFill/>
          <a:ln/>
        </p:spPr>
        <p:txBody>
          <a:bodyPr wrap="square" lIns="0" tIns="0" rIns="0" bIns="0" rtlCol="0" anchor="ctr"/>
          <a:lstStyle/>
          <a:p>
            <a:pPr algn="l" indent="0" marL="0">
              <a:buNone/>
            </a:pPr>
            <a:r>
              <a:rPr lang="en-US" sz="3600" b="1" dirty="0">
                <a:solidFill>
                  <a:srgbClr val="12307A"/>
                </a:solidFill>
                <a:latin typeface="Cambria" pitchFamily="34" charset="0"/>
                <a:ea typeface="Cambria" pitchFamily="34" charset="-122"/>
                <a:cs typeface="Cambria" pitchFamily="34" charset="-120"/>
              </a:rPr>
              <a:t>What was actually run, and what was only reviewed</a:t>
            </a:r>
            <a:endParaRPr lang="en-US" sz="3600" dirty="0"/>
          </a:p>
        </p:txBody>
      </p:sp>
      <p:sp>
        <p:nvSpPr>
          <p:cNvPr id="4" name="Text 1"/>
          <p:cNvSpPr txBox="1"/>
          <p:nvPr/>
        </p:nvSpPr>
        <p:spPr>
          <a:xfrm>
            <a:off x="640080" y="1280160"/>
            <a:ext cx="10881360" cy="457200"/>
          </a:xfrm>
          <a:prstGeom prst="rect">
            <a:avLst/>
          </a:prstGeom>
          <a:noFill/>
          <a:ln/>
        </p:spPr>
        <p:txBody>
          <a:bodyPr wrap="square" lIns="0" tIns="0" rIns="0" bIns="0" rtlCol="0" anchor="ctr"/>
          <a:lstStyle/>
          <a:p>
            <a:pPr indent="0" marL="0">
              <a:buNone/>
            </a:pPr>
            <a:r>
              <a:rPr lang="en-US" sz="1800" dirty="0">
                <a:solidFill>
                  <a:srgbClr val="52607A"/>
                </a:solidFill>
                <a:latin typeface="Calibri" pitchFamily="34" charset="0"/>
                <a:ea typeface="Calibri" pitchFamily="34" charset="-122"/>
                <a:cs typeface="Calibri" pitchFamily="34" charset="-120"/>
              </a:rPr>
              <a:t>For managers: we separate what we proved from what we only believe.</a:t>
            </a:r>
            <a:endParaRPr lang="en-US" sz="1800" dirty="0"/>
          </a:p>
        </p:txBody>
      </p:sp>
      <p:sp>
        <p:nvSpPr>
          <p:cNvPr id="5" name="Shape 2"/>
          <p:cNvSpPr/>
          <p:nvPr/>
        </p:nvSpPr>
        <p:spPr>
          <a:xfrm>
            <a:off x="640080" y="2103120"/>
            <a:ext cx="5394960" cy="3566160"/>
          </a:xfrm>
          <a:prstGeom prst="roundRect">
            <a:avLst>
              <a:gd name="adj" fmla="val 3077"/>
            </a:avLst>
          </a:prstGeom>
          <a:solidFill>
            <a:srgbClr val="E6FAF5"/>
          </a:solidFill>
          <a:ln w="12700">
            <a:solidFill>
              <a:srgbClr val="DDE4EF"/>
            </a:solidFill>
            <a:prstDash val="solid"/>
          </a:ln>
          <a:effectLst>
            <a:outerShdw sx="100000" sy="100000" kx="0" ky="0" algn="bl" rotWithShape="0" blurRad="76200" dist="25400" dir="5400000">
              <a:srgbClr val="000000">
                <a:alpha val="12000"/>
              </a:srgbClr>
            </a:outerShdw>
          </a:effectLst>
        </p:spPr>
      </p:sp>
      <p:sp>
        <p:nvSpPr>
          <p:cNvPr id="6" name="Text 3"/>
          <p:cNvSpPr txBox="1"/>
          <p:nvPr/>
        </p:nvSpPr>
        <p:spPr>
          <a:xfrm>
            <a:off x="868680" y="2267712"/>
            <a:ext cx="4937760" cy="731520"/>
          </a:xfrm>
          <a:prstGeom prst="rect">
            <a:avLst/>
          </a:prstGeom>
          <a:noFill/>
          <a:ln/>
        </p:spPr>
        <p:txBody>
          <a:bodyPr wrap="square" lIns="0" tIns="0" rIns="0" bIns="0" rtlCol="0" anchor="t"/>
          <a:lstStyle/>
          <a:p>
            <a:pPr indent="0" marL="0">
              <a:buNone/>
            </a:pPr>
            <a:r>
              <a:rPr lang="en-US" sz="2000" b="1" dirty="0">
                <a:solidFill>
                  <a:srgbClr val="0B6B58"/>
                </a:solidFill>
                <a:latin typeface="Cambria" pitchFamily="34" charset="0"/>
                <a:ea typeface="Cambria" pitchFamily="34" charset="-122"/>
                <a:cs typeface="Cambria" pitchFamily="34" charset="-120"/>
              </a:rPr>
              <a:t>Run, with evidence</a:t>
            </a:r>
            <a:endParaRPr lang="en-US" sz="2000" dirty="0"/>
          </a:p>
        </p:txBody>
      </p:sp>
      <p:sp>
        <p:nvSpPr>
          <p:cNvPr id="7" name="Text 4"/>
          <p:cNvSpPr txBox="1"/>
          <p:nvPr/>
        </p:nvSpPr>
        <p:spPr>
          <a:xfrm>
            <a:off x="868680" y="3063240"/>
            <a:ext cx="4937760" cy="2468880"/>
          </a:xfrm>
          <a:prstGeom prst="rect">
            <a:avLst/>
          </a:prstGeom>
          <a:noFill/>
          <a:ln/>
        </p:spPr>
        <p:txBody>
          <a:bodyPr wrap="square" lIns="0" tIns="0" rIns="0" bIns="0" rtlCol="0" anchor="t"/>
          <a:lstStyle/>
          <a:p>
            <a:pPr indent="0" marL="0">
              <a:spcAft>
                <a:spcPts val="600"/>
              </a:spcAft>
              <a:buNone/>
            </a:pPr>
            <a:r>
              <a:rPr lang="en-US" sz="1600" dirty="0">
                <a:solidFill>
                  <a:srgbClr val="0F1B33"/>
                </a:solidFill>
                <a:latin typeface="Calibri" pitchFamily="34" charset="0"/>
                <a:ea typeface="Calibri" pitchFamily="34" charset="-122"/>
                <a:cs typeface="Calibri" pitchFamily="34" charset="-120"/>
              </a:rPr>
              <a:t>Login, step-up, shared window, expiry, cancel, sign-out across all three apps</a:t>
            </a:r>
            <a:endParaRPr lang="en-US" sz="1600" dirty="0"/>
          </a:p>
          <a:p>
            <a:pPr indent="0" marL="0">
              <a:spcAft>
                <a:spcPts val="600"/>
              </a:spcAft>
              <a:buNone/>
            </a:pPr>
            <a:r>
              <a:rPr lang="en-US" sz="1600" dirty="0">
                <a:solidFill>
                  <a:srgbClr val="0F1B33"/>
                </a:solidFill>
                <a:latin typeface="Calibri" pitchFamily="34" charset="0"/>
                <a:ea typeface="Calibri" pitchFamily="34" charset="-122"/>
                <a:cs typeface="Calibri" pitchFamily="34" charset="-120"/>
              </a:rPr>
              <a:t>IdP error and ignored step-up request</a:t>
            </a:r>
            <a:endParaRPr lang="en-US" sz="1600" dirty="0"/>
          </a:p>
          <a:p>
            <a:pPr indent="0" marL="0">
              <a:spcAft>
                <a:spcPts val="600"/>
              </a:spcAft>
              <a:buNone/>
            </a:pPr>
            <a:r>
              <a:rPr lang="en-US" sz="1600" dirty="0">
                <a:solidFill>
                  <a:srgbClr val="0F1B33"/>
                </a:solidFill>
                <a:latin typeface="Calibri" pitchFamily="34" charset="0"/>
                <a:ea typeface="Calibri" pitchFamily="34" charset="-122"/>
                <a:cs typeface="Calibri" pitchFamily="34" charset="-120"/>
              </a:rPr>
              <a:t>Evaluator with shifted clock</a:t>
            </a:r>
            <a:endParaRPr lang="en-US" sz="1600" dirty="0"/>
          </a:p>
          <a:p>
            <a:pPr indent="0" marL="0">
              <a:spcAft>
                <a:spcPts val="600"/>
              </a:spcAft>
              <a:buNone/>
            </a:pPr>
            <a:r>
              <a:rPr lang="en-US" sz="1600" dirty="0">
                <a:solidFill>
                  <a:srgbClr val="0F1B33"/>
                </a:solidFill>
                <a:latin typeface="Calibri" pitchFamily="34" charset="0"/>
                <a:ea typeface="Calibri" pitchFamily="34" charset="-122"/>
                <a:cs typeface="Calibri" pitchFamily="34" charset="-120"/>
              </a:rPr>
              <a:t>API refuses weak, stale and tampered tokens</a:t>
            </a:r>
            <a:endParaRPr lang="en-US" sz="1600" dirty="0"/>
          </a:p>
        </p:txBody>
      </p:sp>
      <p:sp>
        <p:nvSpPr>
          <p:cNvPr id="8" name="Shape 5"/>
          <p:cNvSpPr/>
          <p:nvPr/>
        </p:nvSpPr>
        <p:spPr>
          <a:xfrm>
            <a:off x="6217920" y="2103120"/>
            <a:ext cx="5303520" cy="3566160"/>
          </a:xfrm>
          <a:prstGeom prst="roundRect">
            <a:avLst>
              <a:gd name="adj" fmla="val 3077"/>
            </a:avLst>
          </a:prstGeom>
          <a:solidFill>
            <a:srgbClr val="FFF3D6"/>
          </a:solidFill>
          <a:ln w="12700">
            <a:solidFill>
              <a:srgbClr val="DDE4EF"/>
            </a:solidFill>
            <a:prstDash val="solid"/>
          </a:ln>
          <a:effectLst>
            <a:outerShdw sx="100000" sy="100000" kx="0" ky="0" algn="bl" rotWithShape="0" blurRad="76200" dist="25400" dir="5400000">
              <a:srgbClr val="000000">
                <a:alpha val="12000"/>
              </a:srgbClr>
            </a:outerShdw>
          </a:effectLst>
        </p:spPr>
      </p:sp>
      <p:sp>
        <p:nvSpPr>
          <p:cNvPr id="9" name="Text 6"/>
          <p:cNvSpPr txBox="1"/>
          <p:nvPr/>
        </p:nvSpPr>
        <p:spPr>
          <a:xfrm>
            <a:off x="6446520" y="2267712"/>
            <a:ext cx="4846320" cy="731520"/>
          </a:xfrm>
          <a:prstGeom prst="rect">
            <a:avLst/>
          </a:prstGeom>
          <a:noFill/>
          <a:ln/>
        </p:spPr>
        <p:txBody>
          <a:bodyPr wrap="square" lIns="0" tIns="0" rIns="0" bIns="0" rtlCol="0" anchor="t"/>
          <a:lstStyle/>
          <a:p>
            <a:pPr indent="0" marL="0">
              <a:buNone/>
            </a:pPr>
            <a:r>
              <a:rPr lang="en-US" sz="2000" b="1" dirty="0">
                <a:solidFill>
                  <a:srgbClr val="8A5A00"/>
                </a:solidFill>
                <a:latin typeface="Cambria" pitchFamily="34" charset="0"/>
                <a:ea typeface="Cambria" pitchFamily="34" charset="-122"/>
                <a:cs typeface="Cambria" pitchFamily="34" charset="-120"/>
              </a:rPr>
              <a:t>Only reviewed, or not run</a:t>
            </a:r>
            <a:endParaRPr lang="en-US" sz="2000" dirty="0"/>
          </a:p>
        </p:txBody>
      </p:sp>
      <p:sp>
        <p:nvSpPr>
          <p:cNvPr id="10" name="Text 7"/>
          <p:cNvSpPr txBox="1"/>
          <p:nvPr/>
        </p:nvSpPr>
        <p:spPr>
          <a:xfrm>
            <a:off x="6446520" y="3063240"/>
            <a:ext cx="4846320" cy="2468880"/>
          </a:xfrm>
          <a:prstGeom prst="rect">
            <a:avLst/>
          </a:prstGeom>
          <a:noFill/>
          <a:ln/>
        </p:spPr>
        <p:txBody>
          <a:bodyPr wrap="square" lIns="0" tIns="0" rIns="0" bIns="0" rtlCol="0" anchor="t"/>
          <a:lstStyle/>
          <a:p>
            <a:pPr indent="0" marL="0">
              <a:spcAft>
                <a:spcPts val="600"/>
              </a:spcAft>
              <a:buNone/>
            </a:pPr>
            <a:r>
              <a:rPr lang="en-US" sz="1600" dirty="0">
                <a:solidFill>
                  <a:srgbClr val="0F1B33"/>
                </a:solidFill>
                <a:latin typeface="Calibri" pitchFamily="34" charset="0"/>
                <a:ea typeface="Calibri" pitchFamily="34" charset="-122"/>
                <a:cs typeface="Calibri" pitchFamily="34" charset="-120"/>
              </a:rPr>
              <a:t>Windows laptop: nothing run</a:t>
            </a:r>
            <a:endParaRPr lang="en-US" sz="1600" dirty="0"/>
          </a:p>
          <a:p>
            <a:pPr indent="0" marL="0">
              <a:spcAft>
                <a:spcPts val="600"/>
              </a:spcAft>
              <a:buNone/>
            </a:pPr>
            <a:r>
              <a:rPr lang="en-US" sz="1600" dirty="0">
                <a:solidFill>
                  <a:srgbClr val="0F1B33"/>
                </a:solidFill>
                <a:latin typeface="Calibri" pitchFamily="34" charset="0"/>
                <a:ea typeface="Calibri" pitchFamily="34" charset="-122"/>
                <a:cs typeface="Calibri" pitchFamily="34" charset="-120"/>
              </a:rPr>
              <a:t>Entra, Okta, Cognito: templates only</a:t>
            </a:r>
            <a:endParaRPr lang="en-US" sz="1600" dirty="0"/>
          </a:p>
          <a:p>
            <a:pPr indent="0" marL="0">
              <a:spcAft>
                <a:spcPts val="600"/>
              </a:spcAft>
              <a:buNone/>
            </a:pPr>
            <a:r>
              <a:rPr lang="en-US" sz="1600" dirty="0">
                <a:solidFill>
                  <a:srgbClr val="0F1B33"/>
                </a:solidFill>
                <a:latin typeface="Calibri" pitchFamily="34" charset="0"/>
                <a:ea typeface="Calibri" pitchFamily="34" charset="-122"/>
                <a:cs typeface="Calibri" pitchFamily="34" charset="-120"/>
              </a:rPr>
              <a:t>Angular with an ignored request (same code pattern)</a:t>
            </a:r>
            <a:endParaRPr lang="en-US" sz="1600" dirty="0"/>
          </a:p>
          <a:p>
            <a:pPr indent="0" marL="0">
              <a:spcAft>
                <a:spcPts val="600"/>
              </a:spcAft>
              <a:buNone/>
            </a:pPr>
            <a:r>
              <a:rPr lang="en-US" sz="1600" dirty="0">
                <a:solidFill>
                  <a:srgbClr val="0F1B33"/>
                </a:solidFill>
                <a:latin typeface="Calibri" pitchFamily="34" charset="0"/>
                <a:ea typeface="Calibri" pitchFamily="34" charset="-122"/>
                <a:cs typeface="Calibri" pitchFamily="34" charset="-120"/>
              </a:rPr>
              <a:t>Real clock skew between machines</a:t>
            </a:r>
            <a:endParaRPr lang="en-US" sz="16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2607A"/>
                </a:solidFill>
                <a:latin typeface="Calibri"/>
                <a:ea typeface="Calibri"/>
                <a:cs typeface="Calibri"/>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822960"/>
          </a:xfrm>
          <a:prstGeom prst="rect">
            <a:avLst/>
          </a:prstGeom>
          <a:noFill/>
          <a:ln/>
        </p:spPr>
        <p:txBody>
          <a:bodyPr wrap="square" lIns="0" tIns="0" rIns="0" bIns="0" rtlCol="0" anchor="ctr"/>
          <a:lstStyle/>
          <a:p>
            <a:pPr algn="l" indent="0" marL="0">
              <a:buNone/>
            </a:pPr>
            <a:r>
              <a:rPr lang="en-US" sz="3600" b="1" dirty="0">
                <a:solidFill>
                  <a:srgbClr val="12307A"/>
                </a:solidFill>
                <a:latin typeface="Cambria" pitchFamily="34" charset="0"/>
                <a:ea typeface="Cambria" pitchFamily="34" charset="-122"/>
                <a:cs typeface="Cambria" pitchFamily="34" charset="-120"/>
              </a:rPr>
              <a:t>Limits and next steps</a:t>
            </a:r>
            <a:endParaRPr lang="en-US" sz="3600" dirty="0"/>
          </a:p>
        </p:txBody>
      </p:sp>
      <p:sp>
        <p:nvSpPr>
          <p:cNvPr id="4" name="Text 1"/>
          <p:cNvSpPr txBox="1"/>
          <p:nvPr/>
        </p:nvSpPr>
        <p:spPr>
          <a:xfrm>
            <a:off x="640080" y="1280160"/>
            <a:ext cx="10881360" cy="457200"/>
          </a:xfrm>
          <a:prstGeom prst="rect">
            <a:avLst/>
          </a:prstGeom>
          <a:noFill/>
          <a:ln/>
        </p:spPr>
        <p:txBody>
          <a:bodyPr wrap="square" lIns="0" tIns="0" rIns="0" bIns="0" rtlCol="0" anchor="ctr"/>
          <a:lstStyle/>
          <a:p>
            <a:pPr indent="0" marL="0">
              <a:buNone/>
            </a:pPr>
            <a:r>
              <a:rPr lang="en-US" sz="1800" dirty="0">
                <a:solidFill>
                  <a:srgbClr val="52607A"/>
                </a:solidFill>
                <a:latin typeface="Calibri" pitchFamily="34" charset="0"/>
                <a:ea typeface="Calibri" pitchFamily="34" charset="-122"/>
                <a:cs typeface="Calibri" pitchFamily="34" charset="-120"/>
              </a:rPr>
              <a:t>For managers: it works end to end in the lab; production needs the items below.</a:t>
            </a:r>
            <a:endParaRPr lang="en-US" sz="1800" dirty="0"/>
          </a:p>
        </p:txBody>
      </p:sp>
      <p:sp>
        <p:nvSpPr>
          <p:cNvPr id="5" name="Shape 2"/>
          <p:cNvSpPr/>
          <p:nvPr/>
        </p:nvSpPr>
        <p:spPr>
          <a:xfrm>
            <a:off x="640080" y="2103120"/>
            <a:ext cx="3474720" cy="3383280"/>
          </a:xfrm>
          <a:prstGeom prst="roundRect">
            <a:avLst>
              <a:gd name="adj" fmla="val 3243"/>
            </a:avLst>
          </a:prstGeom>
          <a:solidFill>
            <a:srgbClr val="F3F6FB"/>
          </a:solidFill>
          <a:ln w="12700">
            <a:solidFill>
              <a:srgbClr val="DDE4EF"/>
            </a:solidFill>
            <a:prstDash val="solid"/>
          </a:ln>
          <a:effectLst>
            <a:outerShdw sx="100000" sy="100000" kx="0" ky="0" algn="bl" rotWithShape="0" blurRad="76200" dist="25400" dir="5400000">
              <a:srgbClr val="000000">
                <a:alpha val="12000"/>
              </a:srgbClr>
            </a:outerShdw>
          </a:effectLst>
        </p:spPr>
      </p:sp>
      <p:sp>
        <p:nvSpPr>
          <p:cNvPr id="6" name="Text 3"/>
          <p:cNvSpPr txBox="1"/>
          <p:nvPr/>
        </p:nvSpPr>
        <p:spPr>
          <a:xfrm>
            <a:off x="868680" y="2267712"/>
            <a:ext cx="3017520" cy="731520"/>
          </a:xfrm>
          <a:prstGeom prst="rect">
            <a:avLst/>
          </a:prstGeom>
          <a:noFill/>
          <a:ln/>
        </p:spPr>
        <p:txBody>
          <a:bodyPr wrap="square" lIns="0" tIns="0" rIns="0" bIns="0" rtlCol="0" anchor="t"/>
          <a:lstStyle/>
          <a:p>
            <a:pPr indent="0" marL="0">
              <a:buNone/>
            </a:pPr>
            <a:r>
              <a:rPr lang="en-US" sz="2000" b="1" dirty="0">
                <a:solidFill>
                  <a:srgbClr val="12307A"/>
                </a:solidFill>
                <a:latin typeface="Cambria" pitchFamily="34" charset="0"/>
                <a:ea typeface="Cambria" pitchFamily="34" charset="-122"/>
                <a:cs typeface="Cambria" pitchFamily="34" charset="-120"/>
              </a:rPr>
              <a:t>Try next</a:t>
            </a:r>
            <a:endParaRPr lang="en-US" sz="2000" dirty="0"/>
          </a:p>
        </p:txBody>
      </p:sp>
      <p:sp>
        <p:nvSpPr>
          <p:cNvPr id="7" name="Text 4"/>
          <p:cNvSpPr txBox="1"/>
          <p:nvPr/>
        </p:nvSpPr>
        <p:spPr>
          <a:xfrm>
            <a:off x="868680" y="3063240"/>
            <a:ext cx="3017520" cy="2286000"/>
          </a:xfrm>
          <a:prstGeom prst="rect">
            <a:avLst/>
          </a:prstGeom>
          <a:noFill/>
          <a:ln/>
        </p:spPr>
        <p:txBody>
          <a:bodyPr wrap="square" lIns="0" tIns="0" rIns="0" bIns="0" rtlCol="0" anchor="t"/>
          <a:lstStyle/>
          <a:p>
            <a:pPr indent="0" marL="0">
              <a:spcAft>
                <a:spcPts val="600"/>
              </a:spcAft>
              <a:buNone/>
            </a:pPr>
            <a:r>
              <a:rPr lang="en-US" sz="1800" dirty="0">
                <a:solidFill>
                  <a:srgbClr val="0F1B33"/>
                </a:solidFill>
                <a:latin typeface="Calibri" pitchFamily="34" charset="0"/>
                <a:ea typeface="Calibri" pitchFamily="34" charset="-122"/>
                <a:cs typeface="Calibri" pitchFamily="34" charset="-120"/>
              </a:rPr>
              <a:t>Run on the Windows laptop</a:t>
            </a:r>
            <a:endParaRPr lang="en-US" sz="1800" dirty="0"/>
          </a:p>
          <a:p>
            <a:pPr indent="0" marL="0">
              <a:spcAft>
                <a:spcPts val="600"/>
              </a:spcAft>
              <a:buNone/>
            </a:pPr>
            <a:r>
              <a:rPr lang="en-US" sz="1800" dirty="0">
                <a:solidFill>
                  <a:srgbClr val="0F1B33"/>
                </a:solidFill>
                <a:latin typeface="Calibri" pitchFamily="34" charset="0"/>
                <a:ea typeface="Calibri" pitchFamily="34" charset="-122"/>
                <a:cs typeface="Calibri" pitchFamily="34" charset="-120"/>
              </a:rPr>
              <a:t>Test a real Entra or Okta tenant</a:t>
            </a:r>
            <a:endParaRPr lang="en-US" sz="1800" dirty="0"/>
          </a:p>
        </p:txBody>
      </p:sp>
      <p:sp>
        <p:nvSpPr>
          <p:cNvPr id="8" name="Shape 5"/>
          <p:cNvSpPr/>
          <p:nvPr/>
        </p:nvSpPr>
        <p:spPr>
          <a:xfrm>
            <a:off x="4343400" y="2103120"/>
            <a:ext cx="3474720" cy="3383280"/>
          </a:xfrm>
          <a:prstGeom prst="roundRect">
            <a:avLst>
              <a:gd name="adj" fmla="val 3243"/>
            </a:avLst>
          </a:prstGeom>
          <a:solidFill>
            <a:srgbClr val="F3F6FB"/>
          </a:solidFill>
          <a:ln w="12700">
            <a:solidFill>
              <a:srgbClr val="DDE4EF"/>
            </a:solidFill>
            <a:prstDash val="solid"/>
          </a:ln>
          <a:effectLst>
            <a:outerShdw sx="100000" sy="100000" kx="0" ky="0" algn="bl" rotWithShape="0" blurRad="76200" dist="25400" dir="5400000">
              <a:srgbClr val="000000">
                <a:alpha val="12000"/>
              </a:srgbClr>
            </a:outerShdw>
          </a:effectLst>
        </p:spPr>
      </p:sp>
      <p:sp>
        <p:nvSpPr>
          <p:cNvPr id="9" name="Text 6"/>
          <p:cNvSpPr txBox="1"/>
          <p:nvPr/>
        </p:nvSpPr>
        <p:spPr>
          <a:xfrm>
            <a:off x="4572000" y="2267712"/>
            <a:ext cx="3017520" cy="731520"/>
          </a:xfrm>
          <a:prstGeom prst="rect">
            <a:avLst/>
          </a:prstGeom>
          <a:noFill/>
          <a:ln/>
        </p:spPr>
        <p:txBody>
          <a:bodyPr wrap="square" lIns="0" tIns="0" rIns="0" bIns="0" rtlCol="0" anchor="t"/>
          <a:lstStyle/>
          <a:p>
            <a:pPr indent="0" marL="0">
              <a:buNone/>
            </a:pPr>
            <a:r>
              <a:rPr lang="en-US" sz="2000" b="1" dirty="0">
                <a:solidFill>
                  <a:srgbClr val="12307A"/>
                </a:solidFill>
                <a:latin typeface="Cambria" pitchFamily="34" charset="0"/>
                <a:ea typeface="Cambria" pitchFamily="34" charset="-122"/>
                <a:cs typeface="Cambria" pitchFamily="34" charset="-120"/>
              </a:rPr>
              <a:t>Harden</a:t>
            </a:r>
            <a:endParaRPr lang="en-US" sz="2000" dirty="0"/>
          </a:p>
        </p:txBody>
      </p:sp>
      <p:sp>
        <p:nvSpPr>
          <p:cNvPr id="10" name="Text 7"/>
          <p:cNvSpPr txBox="1"/>
          <p:nvPr/>
        </p:nvSpPr>
        <p:spPr>
          <a:xfrm>
            <a:off x="4572000" y="3063240"/>
            <a:ext cx="3017520" cy="2286000"/>
          </a:xfrm>
          <a:prstGeom prst="rect">
            <a:avLst/>
          </a:prstGeom>
          <a:noFill/>
          <a:ln/>
        </p:spPr>
        <p:txBody>
          <a:bodyPr wrap="square" lIns="0" tIns="0" rIns="0" bIns="0" rtlCol="0" anchor="t"/>
          <a:lstStyle/>
          <a:p>
            <a:pPr indent="0" marL="0">
              <a:spcAft>
                <a:spcPts val="600"/>
              </a:spcAft>
              <a:buNone/>
            </a:pPr>
            <a:r>
              <a:rPr lang="en-US" sz="1800" dirty="0">
                <a:solidFill>
                  <a:srgbClr val="0F1B33"/>
                </a:solidFill>
                <a:latin typeface="Calibri" pitchFamily="34" charset="0"/>
                <a:ea typeface="Calibri" pitchFamily="34" charset="-122"/>
                <a:cs typeface="Calibri" pitchFamily="34" charset="-120"/>
              </a:rPr>
              <a:t>Backend-for-frontend for SPAs</a:t>
            </a:r>
            <a:endParaRPr lang="en-US" sz="1800" dirty="0"/>
          </a:p>
          <a:p>
            <a:pPr indent="0" marL="0">
              <a:spcAft>
                <a:spcPts val="600"/>
              </a:spcAft>
              <a:buNone/>
            </a:pPr>
            <a:r>
              <a:rPr lang="en-US" sz="1800" dirty="0">
                <a:solidFill>
                  <a:srgbClr val="0F1B33"/>
                </a:solidFill>
                <a:latin typeface="Calibri" pitchFamily="34" charset="0"/>
                <a:ea typeface="Calibri" pitchFamily="34" charset="-122"/>
                <a:cs typeface="Calibri" pitchFamily="34" charset="-120"/>
              </a:rPr>
              <a:t>HTTPS everywhere</a:t>
            </a:r>
            <a:endParaRPr lang="en-US" sz="1800" dirty="0"/>
          </a:p>
          <a:p>
            <a:pPr indent="0" marL="0">
              <a:spcAft>
                <a:spcPts val="600"/>
              </a:spcAft>
              <a:buNone/>
            </a:pPr>
            <a:r>
              <a:rPr lang="en-US" sz="1800" dirty="0">
                <a:solidFill>
                  <a:srgbClr val="0F1B33"/>
                </a:solidFill>
                <a:latin typeface="Calibri" pitchFamily="34" charset="0"/>
                <a:ea typeface="Calibri" pitchFamily="34" charset="-122"/>
                <a:cs typeface="Calibri" pitchFamily="34" charset="-120"/>
              </a:rPr>
              <a:t>Cumulative transfer limits</a:t>
            </a:r>
            <a:endParaRPr lang="en-US" sz="1800" dirty="0"/>
          </a:p>
        </p:txBody>
      </p:sp>
      <p:sp>
        <p:nvSpPr>
          <p:cNvPr id="11" name="Shape 8"/>
          <p:cNvSpPr/>
          <p:nvPr/>
        </p:nvSpPr>
        <p:spPr>
          <a:xfrm>
            <a:off x="8046720" y="2103120"/>
            <a:ext cx="3474720" cy="3383280"/>
          </a:xfrm>
          <a:prstGeom prst="roundRect">
            <a:avLst>
              <a:gd name="adj" fmla="val 3243"/>
            </a:avLst>
          </a:prstGeom>
          <a:solidFill>
            <a:srgbClr val="F3F6FB"/>
          </a:solidFill>
          <a:ln w="12700">
            <a:solidFill>
              <a:srgbClr val="DDE4EF"/>
            </a:solidFill>
            <a:prstDash val="solid"/>
          </a:ln>
          <a:effectLst>
            <a:outerShdw sx="100000" sy="100000" kx="0" ky="0" algn="bl" rotWithShape="0" blurRad="76200" dist="25400" dir="5400000">
              <a:srgbClr val="000000">
                <a:alpha val="12000"/>
              </a:srgbClr>
            </a:outerShdw>
          </a:effectLst>
        </p:spPr>
      </p:sp>
      <p:sp>
        <p:nvSpPr>
          <p:cNvPr id="12" name="Text 9"/>
          <p:cNvSpPr txBox="1"/>
          <p:nvPr/>
        </p:nvSpPr>
        <p:spPr>
          <a:xfrm>
            <a:off x="8275320" y="2267712"/>
            <a:ext cx="3017520" cy="731520"/>
          </a:xfrm>
          <a:prstGeom prst="rect">
            <a:avLst/>
          </a:prstGeom>
          <a:noFill/>
          <a:ln/>
        </p:spPr>
        <p:txBody>
          <a:bodyPr wrap="square" lIns="0" tIns="0" rIns="0" bIns="0" rtlCol="0" anchor="t"/>
          <a:lstStyle/>
          <a:p>
            <a:pPr indent="0" marL="0">
              <a:buNone/>
            </a:pPr>
            <a:r>
              <a:rPr lang="en-US" sz="2000" b="1" dirty="0">
                <a:solidFill>
                  <a:srgbClr val="12307A"/>
                </a:solidFill>
                <a:latin typeface="Cambria" pitchFamily="34" charset="0"/>
                <a:ea typeface="Cambria" pitchFamily="34" charset="-122"/>
                <a:cs typeface="Cambria" pitchFamily="34" charset="-120"/>
              </a:rPr>
              <a:t>Extend</a:t>
            </a:r>
            <a:endParaRPr lang="en-US" sz="2000" dirty="0"/>
          </a:p>
        </p:txBody>
      </p:sp>
      <p:sp>
        <p:nvSpPr>
          <p:cNvPr id="13" name="Text 10"/>
          <p:cNvSpPr txBox="1"/>
          <p:nvPr/>
        </p:nvSpPr>
        <p:spPr>
          <a:xfrm>
            <a:off x="8275320" y="3063240"/>
            <a:ext cx="3017520" cy="2286000"/>
          </a:xfrm>
          <a:prstGeom prst="rect">
            <a:avLst/>
          </a:prstGeom>
          <a:noFill/>
          <a:ln/>
        </p:spPr>
        <p:txBody>
          <a:bodyPr wrap="square" lIns="0" tIns="0" rIns="0" bIns="0" rtlCol="0" anchor="t"/>
          <a:lstStyle/>
          <a:p>
            <a:pPr indent="0" marL="0">
              <a:spcAft>
                <a:spcPts val="600"/>
              </a:spcAft>
              <a:buNone/>
            </a:pPr>
            <a:r>
              <a:rPr lang="en-US" sz="1800" dirty="0">
                <a:solidFill>
                  <a:srgbClr val="0F1B33"/>
                </a:solidFill>
                <a:latin typeface="Calibri" pitchFamily="34" charset="0"/>
                <a:ea typeface="Calibri" pitchFamily="34" charset="-122"/>
                <a:cs typeface="Calibri" pitchFamily="34" charset="-120"/>
              </a:rPr>
              <a:t>Back-channel logout</a:t>
            </a:r>
            <a:endParaRPr lang="en-US" sz="1800" dirty="0"/>
          </a:p>
          <a:p>
            <a:pPr indent="0" marL="0">
              <a:spcAft>
                <a:spcPts val="600"/>
              </a:spcAft>
              <a:buNone/>
            </a:pPr>
            <a:r>
              <a:rPr lang="en-US" sz="1800" dirty="0">
                <a:solidFill>
                  <a:srgbClr val="0F1B33"/>
                </a:solidFill>
                <a:latin typeface="Calibri" pitchFamily="34" charset="0"/>
                <a:ea typeface="Calibri" pitchFamily="34" charset="-122"/>
                <a:cs typeface="Calibri" pitchFamily="34" charset="-120"/>
              </a:rPr>
              <a:t>Passkeys (WebAuthn)</a:t>
            </a:r>
            <a:endParaRPr lang="en-US" sz="1800" dirty="0"/>
          </a:p>
          <a:p>
            <a:pPr indent="0" marL="0">
              <a:spcAft>
                <a:spcPts val="600"/>
              </a:spcAft>
              <a:buNone/>
            </a:pPr>
            <a:r>
              <a:rPr lang="en-US" sz="1800" dirty="0">
                <a:solidFill>
                  <a:srgbClr val="0F1B33"/>
                </a:solidFill>
                <a:latin typeface="Calibri" pitchFamily="34" charset="0"/>
                <a:ea typeface="Calibri" pitchFamily="34" charset="-122"/>
                <a:cs typeface="Calibri" pitchFamily="34" charset="-120"/>
              </a:rPr>
              <a:t>Per-action window lengths</a:t>
            </a:r>
            <a:endParaRPr lang="en-US" sz="18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2607A"/>
                </a:solidFill>
                <a:latin typeface="Calibri"/>
                <a:ea typeface="Calibri"/>
                <a:cs typeface="Calibri"/>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822960" y="2011680"/>
            <a:ext cx="10515600" cy="1463040"/>
          </a:xfrm>
          <a:prstGeom prst="rect">
            <a:avLst/>
          </a:prstGeom>
          <a:noFill/>
          <a:ln/>
        </p:spPr>
        <p:txBody>
          <a:bodyPr wrap="square" lIns="0" tIns="0" rIns="0" bIns="0" rtlCol="0" anchor="ctr"/>
          <a:lstStyle/>
          <a:p>
            <a:pPr algn="l" indent="0" marL="0">
              <a:buNone/>
            </a:pPr>
            <a:r>
              <a:rPr lang="en-US" sz="4800" b="1" dirty="0">
                <a:solidFill>
                  <a:srgbClr val="FFFFFF"/>
                </a:solidFill>
                <a:latin typeface="Cambria" pitchFamily="34" charset="0"/>
                <a:ea typeface="Cambria" pitchFamily="34" charset="-122"/>
                <a:cs typeface="Cambria" pitchFamily="34" charset="-120"/>
              </a:rPr>
              <a:t>Questions</a:t>
            </a:r>
            <a:endParaRPr lang="en-US" sz="4800" dirty="0"/>
          </a:p>
        </p:txBody>
      </p:sp>
      <p:sp>
        <p:nvSpPr>
          <p:cNvPr id="3" name="Text 1"/>
          <p:cNvSpPr txBox="1"/>
          <p:nvPr/>
        </p:nvSpPr>
        <p:spPr>
          <a:xfrm>
            <a:off x="822960" y="3566160"/>
            <a:ext cx="10515600" cy="548640"/>
          </a:xfrm>
          <a:prstGeom prst="rect">
            <a:avLst/>
          </a:prstGeom>
          <a:noFill/>
          <a:ln/>
        </p:spPr>
        <p:txBody>
          <a:bodyPr wrap="square" lIns="0" tIns="0" rIns="0" bIns="0" rtlCol="0" anchor="ctr"/>
          <a:lstStyle/>
          <a:p>
            <a:pPr indent="0" marL="0">
              <a:buNone/>
            </a:pPr>
            <a:r>
              <a:rPr lang="en-US" sz="2000" dirty="0">
                <a:solidFill>
                  <a:srgbClr val="CADCFC"/>
                </a:solidFill>
                <a:latin typeface="Calibri" pitchFamily="34" charset="0"/>
                <a:ea typeface="Calibri" pitchFamily="34" charset="-122"/>
                <a:cs typeface="Calibri" pitchFamily="34" charset="-120"/>
              </a:rPr>
              <a:t>Everything is in the repo: README, docs/, demo/, and the security review checklist</a:t>
            </a:r>
            <a:endParaRPr lang="en-US"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822960"/>
          </a:xfrm>
          <a:prstGeom prst="rect">
            <a:avLst/>
          </a:prstGeom>
          <a:noFill/>
          <a:ln/>
        </p:spPr>
        <p:txBody>
          <a:bodyPr wrap="square" lIns="0" tIns="0" rIns="0" bIns="0" rtlCol="0" anchor="ctr"/>
          <a:lstStyle/>
          <a:p>
            <a:pPr algn="l" indent="0" marL="0">
              <a:buNone/>
            </a:pPr>
            <a:r>
              <a:rPr lang="en-US" sz="3600" b="1" dirty="0">
                <a:solidFill>
                  <a:srgbClr val="12307A"/>
                </a:solidFill>
                <a:latin typeface="Cambria" pitchFamily="34" charset="0"/>
                <a:ea typeface="Cambria" pitchFamily="34" charset="-122"/>
                <a:cs typeface="Cambria" pitchFamily="34" charset="-120"/>
              </a:rPr>
              <a:t>Appendix: glossary</a:t>
            </a:r>
            <a:endParaRPr lang="en-US" sz="3600" dirty="0"/>
          </a:p>
        </p:txBody>
      </p:sp>
      <p:sp>
        <p:nvSpPr>
          <p:cNvPr id="4" name="Text 1"/>
          <p:cNvSpPr txBox="1"/>
          <p:nvPr/>
        </p:nvSpPr>
        <p:spPr>
          <a:xfrm>
            <a:off x="640080" y="1554480"/>
            <a:ext cx="5303520" cy="731520"/>
          </a:xfrm>
          <a:prstGeom prst="rect">
            <a:avLst/>
          </a:prstGeom>
          <a:noFill/>
          <a:ln/>
        </p:spPr>
        <p:txBody>
          <a:bodyPr wrap="square" lIns="0" tIns="0" rIns="0" bIns="0" rtlCol="0" anchor="ctr"/>
          <a:lstStyle/>
          <a:p>
            <a:pPr indent="0" marL="0">
              <a:buNone/>
            </a:pPr>
            <a:r>
              <a:rPr lang="en-US" sz="1700" b="1" dirty="0">
                <a:solidFill>
                  <a:srgbClr val="12307A"/>
                </a:solidFill>
                <a:latin typeface="Calibri" pitchFamily="34" charset="0"/>
                <a:ea typeface="Calibri" pitchFamily="34" charset="-122"/>
                <a:cs typeface="Calibri" pitchFamily="34" charset="-120"/>
              </a:rPr>
              <a:t>SSO  </a:t>
            </a:r>
            <a:pPr indent="0" marL="0">
              <a:buNone/>
            </a:pPr>
            <a:r>
              <a:rPr lang="en-US" sz="1700" dirty="0">
                <a:solidFill>
                  <a:srgbClr val="0F1B33"/>
                </a:solidFill>
                <a:latin typeface="Calibri" pitchFamily="34" charset="0"/>
                <a:ea typeface="Calibri" pitchFamily="34" charset="-122"/>
                <a:cs typeface="Calibri" pitchFamily="34" charset="-120"/>
              </a:rPr>
              <a:t>Log in once, use many apps</a:t>
            </a:r>
            <a:endParaRPr lang="en-US" sz="1700" dirty="0"/>
          </a:p>
        </p:txBody>
      </p:sp>
      <p:sp>
        <p:nvSpPr>
          <p:cNvPr id="5" name="Text 2"/>
          <p:cNvSpPr txBox="1"/>
          <p:nvPr/>
        </p:nvSpPr>
        <p:spPr>
          <a:xfrm>
            <a:off x="640080" y="2423160"/>
            <a:ext cx="5303520" cy="731520"/>
          </a:xfrm>
          <a:prstGeom prst="rect">
            <a:avLst/>
          </a:prstGeom>
          <a:noFill/>
          <a:ln/>
        </p:spPr>
        <p:txBody>
          <a:bodyPr wrap="square" lIns="0" tIns="0" rIns="0" bIns="0" rtlCol="0" anchor="ctr"/>
          <a:lstStyle/>
          <a:p>
            <a:pPr indent="0" marL="0">
              <a:buNone/>
            </a:pPr>
            <a:r>
              <a:rPr lang="en-US" sz="1700" b="1" dirty="0">
                <a:solidFill>
                  <a:srgbClr val="12307A"/>
                </a:solidFill>
                <a:latin typeface="Calibri" pitchFamily="34" charset="0"/>
                <a:ea typeface="Calibri" pitchFamily="34" charset="-122"/>
                <a:cs typeface="Calibri" pitchFamily="34" charset="-120"/>
              </a:rPr>
              <a:t>IdP  </a:t>
            </a:r>
            <a:pPr indent="0" marL="0">
              <a:buNone/>
            </a:pPr>
            <a:r>
              <a:rPr lang="en-US" sz="1700" dirty="0">
                <a:solidFill>
                  <a:srgbClr val="0F1B33"/>
                </a:solidFill>
                <a:latin typeface="Calibri" pitchFamily="34" charset="0"/>
                <a:ea typeface="Calibri" pitchFamily="34" charset="-122"/>
                <a:cs typeface="Calibri" pitchFamily="34" charset="-120"/>
              </a:rPr>
              <a:t>The login service (Keycloak here)</a:t>
            </a:r>
            <a:endParaRPr lang="en-US" sz="1700" dirty="0"/>
          </a:p>
        </p:txBody>
      </p:sp>
      <p:sp>
        <p:nvSpPr>
          <p:cNvPr id="6" name="Text 3"/>
          <p:cNvSpPr txBox="1"/>
          <p:nvPr/>
        </p:nvSpPr>
        <p:spPr>
          <a:xfrm>
            <a:off x="640080" y="3291840"/>
            <a:ext cx="5303520" cy="731520"/>
          </a:xfrm>
          <a:prstGeom prst="rect">
            <a:avLst/>
          </a:prstGeom>
          <a:noFill/>
          <a:ln/>
        </p:spPr>
        <p:txBody>
          <a:bodyPr wrap="square" lIns="0" tIns="0" rIns="0" bIns="0" rtlCol="0" anchor="ctr"/>
          <a:lstStyle/>
          <a:p>
            <a:pPr indent="0" marL="0">
              <a:buNone/>
            </a:pPr>
            <a:r>
              <a:rPr lang="en-US" sz="1700" b="1" dirty="0">
                <a:solidFill>
                  <a:srgbClr val="12307A"/>
                </a:solidFill>
                <a:latin typeface="Calibri" pitchFamily="34" charset="0"/>
                <a:ea typeface="Calibri" pitchFamily="34" charset="-122"/>
                <a:cs typeface="Calibri" pitchFamily="34" charset="-120"/>
              </a:rPr>
              <a:t>OIDC  </a:t>
            </a:r>
            <a:pPr indent="0" marL="0">
              <a:buNone/>
            </a:pPr>
            <a:r>
              <a:rPr lang="en-US" sz="1700" dirty="0">
                <a:solidFill>
                  <a:srgbClr val="0F1B33"/>
                </a:solidFill>
                <a:latin typeface="Calibri" pitchFamily="34" charset="0"/>
                <a:ea typeface="Calibri" pitchFamily="34" charset="-122"/>
                <a:cs typeface="Calibri" pitchFamily="34" charset="-120"/>
              </a:rPr>
              <a:t>The standard apps use to talk to the IdP</a:t>
            </a:r>
            <a:endParaRPr lang="en-US" sz="1700" dirty="0"/>
          </a:p>
        </p:txBody>
      </p:sp>
      <p:sp>
        <p:nvSpPr>
          <p:cNvPr id="7" name="Text 4"/>
          <p:cNvSpPr txBox="1"/>
          <p:nvPr/>
        </p:nvSpPr>
        <p:spPr>
          <a:xfrm>
            <a:off x="640080" y="4160520"/>
            <a:ext cx="5303520" cy="731520"/>
          </a:xfrm>
          <a:prstGeom prst="rect">
            <a:avLst/>
          </a:prstGeom>
          <a:noFill/>
          <a:ln/>
        </p:spPr>
        <p:txBody>
          <a:bodyPr wrap="square" lIns="0" tIns="0" rIns="0" bIns="0" rtlCol="0" anchor="ctr"/>
          <a:lstStyle/>
          <a:p>
            <a:pPr indent="0" marL="0">
              <a:buNone/>
            </a:pPr>
            <a:r>
              <a:rPr lang="en-US" sz="1700" b="1" dirty="0">
                <a:solidFill>
                  <a:srgbClr val="12307A"/>
                </a:solidFill>
                <a:latin typeface="Calibri" pitchFamily="34" charset="0"/>
                <a:ea typeface="Calibri" pitchFamily="34" charset="-122"/>
                <a:cs typeface="Calibri" pitchFamily="34" charset="-120"/>
              </a:rPr>
              <a:t>PKCE  </a:t>
            </a:r>
            <a:pPr indent="0" marL="0">
              <a:buNone/>
            </a:pPr>
            <a:r>
              <a:rPr lang="en-US" sz="1700" dirty="0">
                <a:solidFill>
                  <a:srgbClr val="0F1B33"/>
                </a:solidFill>
                <a:latin typeface="Calibri" pitchFamily="34" charset="0"/>
                <a:ea typeface="Calibri" pitchFamily="34" charset="-122"/>
                <a:cs typeface="Calibri" pitchFamily="34" charset="-120"/>
              </a:rPr>
              <a:t>Protects the login code from theft</a:t>
            </a:r>
            <a:endParaRPr lang="en-US" sz="1700" dirty="0"/>
          </a:p>
        </p:txBody>
      </p:sp>
      <p:sp>
        <p:nvSpPr>
          <p:cNvPr id="8" name="Text 5"/>
          <p:cNvSpPr txBox="1"/>
          <p:nvPr/>
        </p:nvSpPr>
        <p:spPr>
          <a:xfrm>
            <a:off x="640080" y="5029200"/>
            <a:ext cx="5303520" cy="731520"/>
          </a:xfrm>
          <a:prstGeom prst="rect">
            <a:avLst/>
          </a:prstGeom>
          <a:noFill/>
          <a:ln/>
        </p:spPr>
        <p:txBody>
          <a:bodyPr wrap="square" lIns="0" tIns="0" rIns="0" bIns="0" rtlCol="0" anchor="ctr"/>
          <a:lstStyle/>
          <a:p>
            <a:pPr indent="0" marL="0">
              <a:buNone/>
            </a:pPr>
            <a:r>
              <a:rPr lang="en-US" sz="1700" b="1" dirty="0">
                <a:solidFill>
                  <a:srgbClr val="12307A"/>
                </a:solidFill>
                <a:latin typeface="Calibri" pitchFamily="34" charset="0"/>
                <a:ea typeface="Calibri" pitchFamily="34" charset="-122"/>
                <a:cs typeface="Calibri" pitchFamily="34" charset="-120"/>
              </a:rPr>
              <a:t>Access token  </a:t>
            </a:r>
            <a:pPr indent="0" marL="0">
              <a:buNone/>
            </a:pPr>
            <a:r>
              <a:rPr lang="en-US" sz="1700" dirty="0">
                <a:solidFill>
                  <a:srgbClr val="0F1B33"/>
                </a:solidFill>
                <a:latin typeface="Calibri" pitchFamily="34" charset="0"/>
                <a:ea typeface="Calibri" pitchFamily="34" charset="-122"/>
                <a:cs typeface="Calibri" pitchFamily="34" charset="-120"/>
              </a:rPr>
              <a:t>Short-lived pass shown to the API</a:t>
            </a:r>
            <a:endParaRPr lang="en-US" sz="1700" dirty="0"/>
          </a:p>
        </p:txBody>
      </p:sp>
      <p:sp>
        <p:nvSpPr>
          <p:cNvPr id="9" name="Text 6"/>
          <p:cNvSpPr txBox="1"/>
          <p:nvPr/>
        </p:nvSpPr>
        <p:spPr>
          <a:xfrm>
            <a:off x="6217920" y="1554480"/>
            <a:ext cx="5303520" cy="731520"/>
          </a:xfrm>
          <a:prstGeom prst="rect">
            <a:avLst/>
          </a:prstGeom>
          <a:noFill/>
          <a:ln/>
        </p:spPr>
        <p:txBody>
          <a:bodyPr wrap="square" lIns="0" tIns="0" rIns="0" bIns="0" rtlCol="0" anchor="ctr"/>
          <a:lstStyle/>
          <a:p>
            <a:pPr indent="0" marL="0">
              <a:buNone/>
            </a:pPr>
            <a:r>
              <a:rPr lang="en-US" sz="1700" b="1" dirty="0">
                <a:solidFill>
                  <a:srgbClr val="12307A"/>
                </a:solidFill>
                <a:latin typeface="Calibri" pitchFamily="34" charset="0"/>
                <a:ea typeface="Calibri" pitchFamily="34" charset="-122"/>
                <a:cs typeface="Calibri" pitchFamily="34" charset="-120"/>
              </a:rPr>
              <a:t>acr  </a:t>
            </a:r>
            <a:pPr indent="0" marL="0">
              <a:buNone/>
            </a:pPr>
            <a:r>
              <a:rPr lang="en-US" sz="1700" dirty="0">
                <a:solidFill>
                  <a:srgbClr val="0F1B33"/>
                </a:solidFill>
                <a:latin typeface="Calibri" pitchFamily="34" charset="0"/>
                <a:ea typeface="Calibri" pitchFamily="34" charset="-122"/>
                <a:cs typeface="Calibri" pitchFamily="34" charset="-120"/>
              </a:rPr>
              <a:t>Token field: how strong the login was</a:t>
            </a:r>
            <a:endParaRPr lang="en-US" sz="1700" dirty="0"/>
          </a:p>
        </p:txBody>
      </p:sp>
      <p:sp>
        <p:nvSpPr>
          <p:cNvPr id="10" name="Text 7"/>
          <p:cNvSpPr txBox="1"/>
          <p:nvPr/>
        </p:nvSpPr>
        <p:spPr>
          <a:xfrm>
            <a:off x="6217920" y="2423160"/>
            <a:ext cx="5303520" cy="731520"/>
          </a:xfrm>
          <a:prstGeom prst="rect">
            <a:avLst/>
          </a:prstGeom>
          <a:noFill/>
          <a:ln/>
        </p:spPr>
        <p:txBody>
          <a:bodyPr wrap="square" lIns="0" tIns="0" rIns="0" bIns="0" rtlCol="0" anchor="ctr"/>
          <a:lstStyle/>
          <a:p>
            <a:pPr indent="0" marL="0">
              <a:buNone/>
            </a:pPr>
            <a:r>
              <a:rPr lang="en-US" sz="1700" b="1" dirty="0">
                <a:solidFill>
                  <a:srgbClr val="12307A"/>
                </a:solidFill>
                <a:latin typeface="Calibri" pitchFamily="34" charset="0"/>
                <a:ea typeface="Calibri" pitchFamily="34" charset="-122"/>
                <a:cs typeface="Calibri" pitchFamily="34" charset="-120"/>
              </a:rPr>
              <a:t>auth_time  </a:t>
            </a:r>
            <a:pPr indent="0" marL="0">
              <a:buNone/>
            </a:pPr>
            <a:r>
              <a:rPr lang="en-US" sz="1700" dirty="0">
                <a:solidFill>
                  <a:srgbClr val="0F1B33"/>
                </a:solidFill>
                <a:latin typeface="Calibri" pitchFamily="34" charset="0"/>
                <a:ea typeface="Calibri" pitchFamily="34" charset="-122"/>
                <a:cs typeface="Calibri" pitchFamily="34" charset="-120"/>
              </a:rPr>
              <a:t>Token field: when the user really logged in</a:t>
            </a:r>
            <a:endParaRPr lang="en-US" sz="1700" dirty="0"/>
          </a:p>
        </p:txBody>
      </p:sp>
      <p:sp>
        <p:nvSpPr>
          <p:cNvPr id="11" name="Text 8"/>
          <p:cNvSpPr txBox="1"/>
          <p:nvPr/>
        </p:nvSpPr>
        <p:spPr>
          <a:xfrm>
            <a:off x="6217920" y="3291840"/>
            <a:ext cx="5303520" cy="731520"/>
          </a:xfrm>
          <a:prstGeom prst="rect">
            <a:avLst/>
          </a:prstGeom>
          <a:noFill/>
          <a:ln/>
        </p:spPr>
        <p:txBody>
          <a:bodyPr wrap="square" lIns="0" tIns="0" rIns="0" bIns="0" rtlCol="0" anchor="ctr"/>
          <a:lstStyle/>
          <a:p>
            <a:pPr indent="0" marL="0">
              <a:buNone/>
            </a:pPr>
            <a:r>
              <a:rPr lang="en-US" sz="1700" b="1" dirty="0">
                <a:solidFill>
                  <a:srgbClr val="12307A"/>
                </a:solidFill>
                <a:latin typeface="Calibri" pitchFamily="34" charset="0"/>
                <a:ea typeface="Calibri" pitchFamily="34" charset="-122"/>
                <a:cs typeface="Calibri" pitchFamily="34" charset="-120"/>
              </a:rPr>
              <a:t>TOTP  </a:t>
            </a:r>
            <a:pPr indent="0" marL="0">
              <a:buNone/>
            </a:pPr>
            <a:r>
              <a:rPr lang="en-US" sz="1700" dirty="0">
                <a:solidFill>
                  <a:srgbClr val="0F1B33"/>
                </a:solidFill>
                <a:latin typeface="Calibri" pitchFamily="34" charset="0"/>
                <a:ea typeface="Calibri" pitchFamily="34" charset="-122"/>
                <a:cs typeface="Calibri" pitchFamily="34" charset="-120"/>
              </a:rPr>
              <a:t>6-digit code from an authenticator app</a:t>
            </a:r>
            <a:endParaRPr lang="en-US" sz="1700" dirty="0"/>
          </a:p>
        </p:txBody>
      </p:sp>
      <p:sp>
        <p:nvSpPr>
          <p:cNvPr id="12" name="Text 9"/>
          <p:cNvSpPr txBox="1"/>
          <p:nvPr/>
        </p:nvSpPr>
        <p:spPr>
          <a:xfrm>
            <a:off x="6217920" y="4160520"/>
            <a:ext cx="5303520" cy="731520"/>
          </a:xfrm>
          <a:prstGeom prst="rect">
            <a:avLst/>
          </a:prstGeom>
          <a:noFill/>
          <a:ln/>
        </p:spPr>
        <p:txBody>
          <a:bodyPr wrap="square" lIns="0" tIns="0" rIns="0" bIns="0" rtlCol="0" anchor="ctr"/>
          <a:lstStyle/>
          <a:p>
            <a:pPr indent="0" marL="0">
              <a:buNone/>
            </a:pPr>
            <a:r>
              <a:rPr lang="en-US" sz="1700" b="1" dirty="0">
                <a:solidFill>
                  <a:srgbClr val="12307A"/>
                </a:solidFill>
                <a:latin typeface="Calibri" pitchFamily="34" charset="0"/>
                <a:ea typeface="Calibri" pitchFamily="34" charset="-122"/>
                <a:cs typeface="Calibri" pitchFamily="34" charset="-120"/>
              </a:rPr>
              <a:t>Step-up  </a:t>
            </a:r>
            <a:pPr indent="0" marL="0">
              <a:buNone/>
            </a:pPr>
            <a:r>
              <a:rPr lang="en-US" sz="1700" dirty="0">
                <a:solidFill>
                  <a:srgbClr val="0F1B33"/>
                </a:solidFill>
                <a:latin typeface="Calibri" pitchFamily="34" charset="0"/>
                <a:ea typeface="Calibri" pitchFamily="34" charset="-122"/>
                <a:cs typeface="Calibri" pitchFamily="34" charset="-120"/>
              </a:rPr>
              <a:t>Extra proof only for risky actions</a:t>
            </a:r>
            <a:endParaRPr lang="en-US" sz="1700" dirty="0"/>
          </a:p>
        </p:txBody>
      </p:sp>
      <p:sp>
        <p:nvSpPr>
          <p:cNvPr id="13" name="Text 10"/>
          <p:cNvSpPr txBox="1"/>
          <p:nvPr/>
        </p:nvSpPr>
        <p:spPr>
          <a:xfrm>
            <a:off x="6217920" y="5029200"/>
            <a:ext cx="5303520" cy="731520"/>
          </a:xfrm>
          <a:prstGeom prst="rect">
            <a:avLst/>
          </a:prstGeom>
          <a:noFill/>
          <a:ln/>
        </p:spPr>
        <p:txBody>
          <a:bodyPr wrap="square" lIns="0" tIns="0" rIns="0" bIns="0" rtlCol="0" anchor="ctr"/>
          <a:lstStyle/>
          <a:p>
            <a:pPr indent="0" marL="0">
              <a:buNone/>
            </a:pPr>
            <a:r>
              <a:rPr lang="en-US" sz="1700" b="1" dirty="0">
                <a:solidFill>
                  <a:srgbClr val="12307A"/>
                </a:solidFill>
                <a:latin typeface="Calibri" pitchFamily="34" charset="0"/>
                <a:ea typeface="Calibri" pitchFamily="34" charset="-122"/>
                <a:cs typeface="Calibri" pitchFamily="34" charset="-120"/>
              </a:rPr>
              <a:t>JWKS  </a:t>
            </a:r>
            <a:pPr indent="0" marL="0">
              <a:buNone/>
            </a:pPr>
            <a:r>
              <a:rPr lang="en-US" sz="1700" dirty="0">
                <a:solidFill>
                  <a:srgbClr val="0F1B33"/>
                </a:solidFill>
                <a:latin typeface="Calibri" pitchFamily="34" charset="0"/>
                <a:ea typeface="Calibri" pitchFamily="34" charset="-122"/>
                <a:cs typeface="Calibri" pitchFamily="34" charset="-120"/>
              </a:rPr>
              <a:t>The IdP public keys used to check tokens</a:t>
            </a:r>
            <a:endParaRPr lang="en-US" sz="17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2607A"/>
                </a:solidFill>
                <a:latin typeface="Calibri"/>
                <a:ea typeface="Calibri"/>
                <a:cs typeface="Calibri"/>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822960"/>
          </a:xfrm>
          <a:prstGeom prst="rect">
            <a:avLst/>
          </a:prstGeom>
          <a:noFill/>
          <a:ln/>
        </p:spPr>
        <p:txBody>
          <a:bodyPr wrap="square" lIns="0" tIns="0" rIns="0" bIns="0" rtlCol="0" anchor="ctr"/>
          <a:lstStyle/>
          <a:p>
            <a:pPr algn="l" indent="0" marL="0">
              <a:buNone/>
            </a:pPr>
            <a:r>
              <a:rPr lang="en-US" sz="3600" b="1" dirty="0">
                <a:solidFill>
                  <a:srgbClr val="12307A"/>
                </a:solidFill>
                <a:latin typeface="Cambria" pitchFamily="34" charset="0"/>
                <a:ea typeface="Cambria" pitchFamily="34" charset="-122"/>
                <a:cs typeface="Cambria" pitchFamily="34" charset="-120"/>
              </a:rPr>
              <a:t>Appendix: FAQ</a:t>
            </a:r>
            <a:endParaRPr lang="en-US" sz="3600" dirty="0"/>
          </a:p>
        </p:txBody>
      </p:sp>
      <p:sp>
        <p:nvSpPr>
          <p:cNvPr id="4" name="Shape 1"/>
          <p:cNvSpPr/>
          <p:nvPr/>
        </p:nvSpPr>
        <p:spPr>
          <a:xfrm>
            <a:off x="640080" y="1463040"/>
            <a:ext cx="5303520" cy="1508760"/>
          </a:xfrm>
          <a:prstGeom prst="roundRect">
            <a:avLst>
              <a:gd name="adj" fmla="val 7273"/>
            </a:avLst>
          </a:prstGeom>
          <a:solidFill>
            <a:srgbClr val="F3F6FB"/>
          </a:solidFill>
          <a:ln w="12700">
            <a:solidFill>
              <a:srgbClr val="DDE4EF"/>
            </a:solidFill>
            <a:prstDash val="solid"/>
          </a:ln>
          <a:effectLst>
            <a:outerShdw sx="100000" sy="100000" kx="0" ky="0" algn="bl" rotWithShape="0" blurRad="76200" dist="25400" dir="5400000">
              <a:srgbClr val="000000">
                <a:alpha val="12000"/>
              </a:srgbClr>
            </a:outerShdw>
          </a:effectLst>
        </p:spPr>
      </p:sp>
      <p:sp>
        <p:nvSpPr>
          <p:cNvPr id="5" name="Text 2"/>
          <p:cNvSpPr txBox="1"/>
          <p:nvPr/>
        </p:nvSpPr>
        <p:spPr>
          <a:xfrm>
            <a:off x="868680" y="1627632"/>
            <a:ext cx="4846320" cy="731520"/>
          </a:xfrm>
          <a:prstGeom prst="rect">
            <a:avLst/>
          </a:prstGeom>
          <a:noFill/>
          <a:ln/>
        </p:spPr>
        <p:txBody>
          <a:bodyPr wrap="square" lIns="0" tIns="0" rIns="0" bIns="0" rtlCol="0" anchor="t"/>
          <a:lstStyle/>
          <a:p>
            <a:pPr indent="0" marL="0">
              <a:buNone/>
            </a:pPr>
            <a:r>
              <a:rPr lang="en-US" sz="2000" b="1" dirty="0">
                <a:solidFill>
                  <a:srgbClr val="12307A"/>
                </a:solidFill>
                <a:latin typeface="Cambria" pitchFamily="34" charset="0"/>
                <a:ea typeface="Cambria" pitchFamily="34" charset="-122"/>
                <a:cs typeface="Cambria" pitchFamily="34" charset="-120"/>
              </a:rPr>
              <a:t>Why not just MFA at login?</a:t>
            </a:r>
            <a:endParaRPr lang="en-US" sz="2000" dirty="0"/>
          </a:p>
        </p:txBody>
      </p:sp>
      <p:sp>
        <p:nvSpPr>
          <p:cNvPr id="6" name="Text 3"/>
          <p:cNvSpPr txBox="1"/>
          <p:nvPr/>
        </p:nvSpPr>
        <p:spPr>
          <a:xfrm>
            <a:off x="868680" y="2423160"/>
            <a:ext cx="4846320" cy="411480"/>
          </a:xfrm>
          <a:prstGeom prst="rect">
            <a:avLst/>
          </a:prstGeom>
          <a:noFill/>
          <a:ln/>
        </p:spPr>
        <p:txBody>
          <a:bodyPr wrap="square" lIns="0" tIns="0" rIns="0" bIns="0" rtlCol="0" anchor="t"/>
          <a:lstStyle/>
          <a:p>
            <a:pPr indent="0" marL="0">
              <a:spcAft>
                <a:spcPts val="600"/>
              </a:spcAft>
              <a:buNone/>
            </a:pPr>
            <a:r>
              <a:rPr lang="en-US" sz="1500" dirty="0">
                <a:solidFill>
                  <a:srgbClr val="0F1B33"/>
                </a:solidFill>
                <a:latin typeface="Calibri" pitchFamily="34" charset="0"/>
                <a:ea typeface="Calibri" pitchFamily="34" charset="-122"/>
                <a:cs typeface="Calibri" pitchFamily="34" charset="-120"/>
              </a:rPr>
              <a:t>It annoys users on every login; step-up asks only for risky actions.</a:t>
            </a:r>
            <a:endParaRPr lang="en-US" sz="1500" dirty="0"/>
          </a:p>
        </p:txBody>
      </p:sp>
      <p:sp>
        <p:nvSpPr>
          <p:cNvPr id="7" name="Shape 4"/>
          <p:cNvSpPr/>
          <p:nvPr/>
        </p:nvSpPr>
        <p:spPr>
          <a:xfrm>
            <a:off x="6217920" y="1463040"/>
            <a:ext cx="5303520" cy="1508760"/>
          </a:xfrm>
          <a:prstGeom prst="roundRect">
            <a:avLst>
              <a:gd name="adj" fmla="val 7273"/>
            </a:avLst>
          </a:prstGeom>
          <a:solidFill>
            <a:srgbClr val="F3F6FB"/>
          </a:solidFill>
          <a:ln w="12700">
            <a:solidFill>
              <a:srgbClr val="DDE4EF"/>
            </a:solidFill>
            <a:prstDash val="solid"/>
          </a:ln>
          <a:effectLst>
            <a:outerShdw sx="100000" sy="100000" kx="0" ky="0" algn="bl" rotWithShape="0" blurRad="76200" dist="25400" dir="5400000">
              <a:srgbClr val="000000">
                <a:alpha val="12000"/>
              </a:srgbClr>
            </a:outerShdw>
          </a:effectLst>
        </p:spPr>
      </p:sp>
      <p:sp>
        <p:nvSpPr>
          <p:cNvPr id="8" name="Text 5"/>
          <p:cNvSpPr txBox="1"/>
          <p:nvPr/>
        </p:nvSpPr>
        <p:spPr>
          <a:xfrm>
            <a:off x="6446520" y="1627632"/>
            <a:ext cx="4846320" cy="731520"/>
          </a:xfrm>
          <a:prstGeom prst="rect">
            <a:avLst/>
          </a:prstGeom>
          <a:noFill/>
          <a:ln/>
        </p:spPr>
        <p:txBody>
          <a:bodyPr wrap="square" lIns="0" tIns="0" rIns="0" bIns="0" rtlCol="0" anchor="t"/>
          <a:lstStyle/>
          <a:p>
            <a:pPr indent="0" marL="0">
              <a:buNone/>
            </a:pPr>
            <a:r>
              <a:rPr lang="en-US" sz="2000" b="1" dirty="0">
                <a:solidFill>
                  <a:srgbClr val="12307A"/>
                </a:solidFill>
                <a:latin typeface="Cambria" pitchFamily="34" charset="0"/>
                <a:ea typeface="Cambria" pitchFamily="34" charset="-122"/>
                <a:cs typeface="Cambria" pitchFamily="34" charset="-120"/>
              </a:rPr>
              <a:t>Where is the rule enforced?</a:t>
            </a:r>
            <a:endParaRPr lang="en-US" sz="2000" dirty="0"/>
          </a:p>
        </p:txBody>
      </p:sp>
      <p:sp>
        <p:nvSpPr>
          <p:cNvPr id="9" name="Text 6"/>
          <p:cNvSpPr txBox="1"/>
          <p:nvPr/>
        </p:nvSpPr>
        <p:spPr>
          <a:xfrm>
            <a:off x="6446520" y="2423160"/>
            <a:ext cx="4846320" cy="411480"/>
          </a:xfrm>
          <a:prstGeom prst="rect">
            <a:avLst/>
          </a:prstGeom>
          <a:noFill/>
          <a:ln/>
        </p:spPr>
        <p:txBody>
          <a:bodyPr wrap="square" lIns="0" tIns="0" rIns="0" bIns="0" rtlCol="0" anchor="t"/>
          <a:lstStyle/>
          <a:p>
            <a:pPr indent="0" marL="0">
              <a:spcAft>
                <a:spcPts val="600"/>
              </a:spcAft>
              <a:buNone/>
            </a:pPr>
            <a:r>
              <a:rPr lang="en-US" sz="1500" dirty="0">
                <a:solidFill>
                  <a:srgbClr val="0F1B33"/>
                </a:solidFill>
                <a:latin typeface="Calibri" pitchFamily="34" charset="0"/>
                <a:ea typeface="Calibri" pitchFamily="34" charset="-122"/>
                <a:cs typeface="Calibri" pitchFamily="34" charset="-120"/>
              </a:rPr>
              <a:t>In the API, from signed token claims.</a:t>
            </a:r>
            <a:endParaRPr lang="en-US" sz="1500" dirty="0"/>
          </a:p>
        </p:txBody>
      </p:sp>
      <p:sp>
        <p:nvSpPr>
          <p:cNvPr id="10" name="Shape 7"/>
          <p:cNvSpPr/>
          <p:nvPr/>
        </p:nvSpPr>
        <p:spPr>
          <a:xfrm>
            <a:off x="640080" y="3154680"/>
            <a:ext cx="5303520" cy="1508760"/>
          </a:xfrm>
          <a:prstGeom prst="roundRect">
            <a:avLst>
              <a:gd name="adj" fmla="val 7273"/>
            </a:avLst>
          </a:prstGeom>
          <a:solidFill>
            <a:srgbClr val="F3F6FB"/>
          </a:solidFill>
          <a:ln w="12700">
            <a:solidFill>
              <a:srgbClr val="DDE4EF"/>
            </a:solidFill>
            <a:prstDash val="solid"/>
          </a:ln>
          <a:effectLst>
            <a:outerShdw sx="100000" sy="100000" kx="0" ky="0" algn="bl" rotWithShape="0" blurRad="76200" dist="25400" dir="5400000">
              <a:srgbClr val="000000">
                <a:alpha val="12000"/>
              </a:srgbClr>
            </a:outerShdw>
          </a:effectLst>
        </p:spPr>
      </p:sp>
      <p:sp>
        <p:nvSpPr>
          <p:cNvPr id="11" name="Text 8"/>
          <p:cNvSpPr txBox="1"/>
          <p:nvPr/>
        </p:nvSpPr>
        <p:spPr>
          <a:xfrm>
            <a:off x="868680" y="3319272"/>
            <a:ext cx="4846320" cy="731520"/>
          </a:xfrm>
          <a:prstGeom prst="rect">
            <a:avLst/>
          </a:prstGeom>
          <a:noFill/>
          <a:ln/>
        </p:spPr>
        <p:txBody>
          <a:bodyPr wrap="square" lIns="0" tIns="0" rIns="0" bIns="0" rtlCol="0" anchor="t"/>
          <a:lstStyle/>
          <a:p>
            <a:pPr indent="0" marL="0">
              <a:buNone/>
            </a:pPr>
            <a:r>
              <a:rPr lang="en-US" sz="2000" b="1" dirty="0">
                <a:solidFill>
                  <a:srgbClr val="12307A"/>
                </a:solidFill>
                <a:latin typeface="Cambria" pitchFamily="34" charset="0"/>
                <a:ea typeface="Cambria" pitchFamily="34" charset="-122"/>
                <a:cs typeface="Cambria" pitchFamily="34" charset="-120"/>
              </a:rPr>
              <a:t>What if the IdP ignores the request?</a:t>
            </a:r>
            <a:endParaRPr lang="en-US" sz="2000" dirty="0"/>
          </a:p>
        </p:txBody>
      </p:sp>
      <p:sp>
        <p:nvSpPr>
          <p:cNvPr id="12" name="Text 9"/>
          <p:cNvSpPr txBox="1"/>
          <p:nvPr/>
        </p:nvSpPr>
        <p:spPr>
          <a:xfrm>
            <a:off x="868680" y="4114800"/>
            <a:ext cx="4846320" cy="411480"/>
          </a:xfrm>
          <a:prstGeom prst="rect">
            <a:avLst/>
          </a:prstGeom>
          <a:noFill/>
          <a:ln/>
        </p:spPr>
        <p:txBody>
          <a:bodyPr wrap="square" lIns="0" tIns="0" rIns="0" bIns="0" rtlCol="0" anchor="t"/>
          <a:lstStyle/>
          <a:p>
            <a:pPr indent="0" marL="0">
              <a:spcAft>
                <a:spcPts val="600"/>
              </a:spcAft>
              <a:buNone/>
            </a:pPr>
            <a:r>
              <a:rPr lang="en-US" sz="1500" dirty="0">
                <a:solidFill>
                  <a:srgbClr val="0F1B33"/>
                </a:solidFill>
                <a:latin typeface="Calibri" pitchFamily="34" charset="0"/>
                <a:ea typeface="Calibri" pitchFamily="34" charset="-122"/>
                <a:cs typeface="Calibri" pitchFamily="34" charset="-120"/>
              </a:rPr>
              <a:t>Client and API both check the returned level; the action is not performed.</a:t>
            </a:r>
            <a:endParaRPr lang="en-US" sz="1500" dirty="0"/>
          </a:p>
        </p:txBody>
      </p:sp>
      <p:sp>
        <p:nvSpPr>
          <p:cNvPr id="13" name="Shape 10"/>
          <p:cNvSpPr/>
          <p:nvPr/>
        </p:nvSpPr>
        <p:spPr>
          <a:xfrm>
            <a:off x="6217920" y="3154680"/>
            <a:ext cx="5303520" cy="1508760"/>
          </a:xfrm>
          <a:prstGeom prst="roundRect">
            <a:avLst>
              <a:gd name="adj" fmla="val 7273"/>
            </a:avLst>
          </a:prstGeom>
          <a:solidFill>
            <a:srgbClr val="F3F6FB"/>
          </a:solidFill>
          <a:ln w="12700">
            <a:solidFill>
              <a:srgbClr val="DDE4EF"/>
            </a:solidFill>
            <a:prstDash val="solid"/>
          </a:ln>
          <a:effectLst>
            <a:outerShdw sx="100000" sy="100000" kx="0" ky="0" algn="bl" rotWithShape="0" blurRad="76200" dist="25400" dir="5400000">
              <a:srgbClr val="000000">
                <a:alpha val="12000"/>
              </a:srgbClr>
            </a:outerShdw>
          </a:effectLst>
        </p:spPr>
      </p:sp>
      <p:sp>
        <p:nvSpPr>
          <p:cNvPr id="14" name="Text 11"/>
          <p:cNvSpPr txBox="1"/>
          <p:nvPr/>
        </p:nvSpPr>
        <p:spPr>
          <a:xfrm>
            <a:off x="6446520" y="3319272"/>
            <a:ext cx="4846320" cy="731520"/>
          </a:xfrm>
          <a:prstGeom prst="rect">
            <a:avLst/>
          </a:prstGeom>
          <a:noFill/>
          <a:ln/>
        </p:spPr>
        <p:txBody>
          <a:bodyPr wrap="square" lIns="0" tIns="0" rIns="0" bIns="0" rtlCol="0" anchor="t"/>
          <a:lstStyle/>
          <a:p>
            <a:pPr indent="0" marL="0">
              <a:buNone/>
            </a:pPr>
            <a:r>
              <a:rPr lang="en-US" sz="2000" b="1" dirty="0">
                <a:solidFill>
                  <a:srgbClr val="12307A"/>
                </a:solidFill>
                <a:latin typeface="Cambria" pitchFamily="34" charset="0"/>
                <a:ea typeface="Cambria" pitchFamily="34" charset="-122"/>
                <a:cs typeface="Cambria" pitchFamily="34" charset="-120"/>
              </a:rPr>
              <a:t>Is refresh used?</a:t>
            </a:r>
            <a:endParaRPr lang="en-US" sz="2000" dirty="0"/>
          </a:p>
        </p:txBody>
      </p:sp>
      <p:sp>
        <p:nvSpPr>
          <p:cNvPr id="15" name="Text 12"/>
          <p:cNvSpPr txBox="1"/>
          <p:nvPr/>
        </p:nvSpPr>
        <p:spPr>
          <a:xfrm>
            <a:off x="6446520" y="4114800"/>
            <a:ext cx="4846320" cy="411480"/>
          </a:xfrm>
          <a:prstGeom prst="rect">
            <a:avLst/>
          </a:prstGeom>
          <a:noFill/>
          <a:ln/>
        </p:spPr>
        <p:txBody>
          <a:bodyPr wrap="square" lIns="0" tIns="0" rIns="0" bIns="0" rtlCol="0" anchor="t"/>
          <a:lstStyle/>
          <a:p>
            <a:pPr indent="0" marL="0">
              <a:spcAft>
                <a:spcPts val="600"/>
              </a:spcAft>
              <a:buNone/>
            </a:pPr>
            <a:r>
              <a:rPr lang="en-US" sz="1500" dirty="0">
                <a:solidFill>
                  <a:srgbClr val="0F1B33"/>
                </a:solidFill>
                <a:latin typeface="Calibri" pitchFamily="34" charset="0"/>
                <a:ea typeface="Calibri" pitchFamily="34" charset="-122"/>
                <a:cs typeface="Calibri" pitchFamily="34" charset="-120"/>
              </a:rPr>
              <a:t>No. A refresh would keep the old login time anyway.</a:t>
            </a:r>
            <a:endParaRPr lang="en-US" sz="1500" dirty="0"/>
          </a:p>
        </p:txBody>
      </p:sp>
      <p:sp>
        <p:nvSpPr>
          <p:cNvPr id="16" name="Shape 13"/>
          <p:cNvSpPr/>
          <p:nvPr/>
        </p:nvSpPr>
        <p:spPr>
          <a:xfrm>
            <a:off x="640080" y="4846320"/>
            <a:ext cx="5303520" cy="1508760"/>
          </a:xfrm>
          <a:prstGeom prst="roundRect">
            <a:avLst>
              <a:gd name="adj" fmla="val 7273"/>
            </a:avLst>
          </a:prstGeom>
          <a:solidFill>
            <a:srgbClr val="F3F6FB"/>
          </a:solidFill>
          <a:ln w="12700">
            <a:solidFill>
              <a:srgbClr val="DDE4EF"/>
            </a:solidFill>
            <a:prstDash val="solid"/>
          </a:ln>
          <a:effectLst>
            <a:outerShdw sx="100000" sy="100000" kx="0" ky="0" algn="bl" rotWithShape="0" blurRad="76200" dist="25400" dir="5400000">
              <a:srgbClr val="000000">
                <a:alpha val="12000"/>
              </a:srgbClr>
            </a:outerShdw>
          </a:effectLst>
        </p:spPr>
      </p:sp>
      <p:sp>
        <p:nvSpPr>
          <p:cNvPr id="17" name="Text 14"/>
          <p:cNvSpPr txBox="1"/>
          <p:nvPr/>
        </p:nvSpPr>
        <p:spPr>
          <a:xfrm>
            <a:off x="868680" y="5010912"/>
            <a:ext cx="4846320" cy="731520"/>
          </a:xfrm>
          <a:prstGeom prst="rect">
            <a:avLst/>
          </a:prstGeom>
          <a:noFill/>
          <a:ln/>
        </p:spPr>
        <p:txBody>
          <a:bodyPr wrap="square" lIns="0" tIns="0" rIns="0" bIns="0" rtlCol="0" anchor="t"/>
          <a:lstStyle/>
          <a:p>
            <a:pPr indent="0" marL="0">
              <a:buNone/>
            </a:pPr>
            <a:r>
              <a:rPr lang="en-US" sz="2000" b="1" dirty="0">
                <a:solidFill>
                  <a:srgbClr val="12307A"/>
                </a:solidFill>
                <a:latin typeface="Cambria" pitchFamily="34" charset="0"/>
                <a:ea typeface="Cambria" pitchFamily="34" charset="-122"/>
                <a:cs typeface="Cambria" pitchFamily="34" charset="-120"/>
              </a:rPr>
              <a:t>Does it work with Entra or Okta?</a:t>
            </a:r>
            <a:endParaRPr lang="en-US" sz="2000" dirty="0"/>
          </a:p>
        </p:txBody>
      </p:sp>
      <p:sp>
        <p:nvSpPr>
          <p:cNvPr id="18" name="Text 15"/>
          <p:cNvSpPr txBox="1"/>
          <p:nvPr/>
        </p:nvSpPr>
        <p:spPr>
          <a:xfrm>
            <a:off x="868680" y="5806440"/>
            <a:ext cx="4846320" cy="411480"/>
          </a:xfrm>
          <a:prstGeom prst="rect">
            <a:avLst/>
          </a:prstGeom>
          <a:noFill/>
          <a:ln/>
        </p:spPr>
        <p:txBody>
          <a:bodyPr wrap="square" lIns="0" tIns="0" rIns="0" bIns="0" rtlCol="0" anchor="t"/>
          <a:lstStyle/>
          <a:p>
            <a:pPr indent="0" marL="0">
              <a:spcAft>
                <a:spcPts val="600"/>
              </a:spcAft>
              <a:buNone/>
            </a:pPr>
            <a:r>
              <a:rPr lang="en-US" sz="1500" dirty="0">
                <a:solidFill>
                  <a:srgbClr val="0F1B33"/>
                </a:solidFill>
                <a:latin typeface="Calibri" pitchFamily="34" charset="0"/>
                <a:ea typeface="Calibri" pitchFamily="34" charset="-122"/>
                <a:cs typeface="Calibri" pitchFamily="34" charset="-120"/>
              </a:rPr>
              <a:t>Templates exist; only Keycloak was tested.</a:t>
            </a:r>
            <a:endParaRPr lang="en-US" sz="1500" dirty="0"/>
          </a:p>
        </p:txBody>
      </p:sp>
      <p:sp>
        <p:nvSpPr>
          <p:cNvPr id="19" name="Shape 16"/>
          <p:cNvSpPr/>
          <p:nvPr/>
        </p:nvSpPr>
        <p:spPr>
          <a:xfrm>
            <a:off x="6217920" y="4846320"/>
            <a:ext cx="5303520" cy="1508760"/>
          </a:xfrm>
          <a:prstGeom prst="roundRect">
            <a:avLst>
              <a:gd name="adj" fmla="val 7273"/>
            </a:avLst>
          </a:prstGeom>
          <a:solidFill>
            <a:srgbClr val="F3F6FB"/>
          </a:solidFill>
          <a:ln w="12700">
            <a:solidFill>
              <a:srgbClr val="DDE4EF"/>
            </a:solidFill>
            <a:prstDash val="solid"/>
          </a:ln>
          <a:effectLst>
            <a:outerShdw sx="100000" sy="100000" kx="0" ky="0" algn="bl" rotWithShape="0" blurRad="76200" dist="25400" dir="5400000">
              <a:srgbClr val="000000">
                <a:alpha val="12000"/>
              </a:srgbClr>
            </a:outerShdw>
          </a:effectLst>
        </p:spPr>
      </p:sp>
      <p:sp>
        <p:nvSpPr>
          <p:cNvPr id="20" name="Text 17"/>
          <p:cNvSpPr txBox="1"/>
          <p:nvPr/>
        </p:nvSpPr>
        <p:spPr>
          <a:xfrm>
            <a:off x="6446520" y="5010912"/>
            <a:ext cx="4846320" cy="731520"/>
          </a:xfrm>
          <a:prstGeom prst="rect">
            <a:avLst/>
          </a:prstGeom>
          <a:noFill/>
          <a:ln/>
        </p:spPr>
        <p:txBody>
          <a:bodyPr wrap="square" lIns="0" tIns="0" rIns="0" bIns="0" rtlCol="0" anchor="t"/>
          <a:lstStyle/>
          <a:p>
            <a:pPr indent="0" marL="0">
              <a:buNone/>
            </a:pPr>
            <a:r>
              <a:rPr lang="en-US" sz="2000" b="1" dirty="0">
                <a:solidFill>
                  <a:srgbClr val="12307A"/>
                </a:solidFill>
                <a:latin typeface="Cambria" pitchFamily="34" charset="0"/>
                <a:ea typeface="Cambria" pitchFamily="34" charset="-122"/>
                <a:cs typeface="Cambria" pitchFamily="34" charset="-120"/>
              </a:rPr>
              <a:t>Why 60 seconds?</a:t>
            </a:r>
            <a:endParaRPr lang="en-US" sz="2000" dirty="0"/>
          </a:p>
        </p:txBody>
      </p:sp>
      <p:sp>
        <p:nvSpPr>
          <p:cNvPr id="21" name="Text 18"/>
          <p:cNvSpPr txBox="1"/>
          <p:nvPr/>
        </p:nvSpPr>
        <p:spPr>
          <a:xfrm>
            <a:off x="6446520" y="5806440"/>
            <a:ext cx="4846320" cy="411480"/>
          </a:xfrm>
          <a:prstGeom prst="rect">
            <a:avLst/>
          </a:prstGeom>
          <a:noFill/>
          <a:ln/>
        </p:spPr>
        <p:txBody>
          <a:bodyPr wrap="square" lIns="0" tIns="0" rIns="0" bIns="0" rtlCol="0" anchor="t"/>
          <a:lstStyle/>
          <a:p>
            <a:pPr indent="0" marL="0">
              <a:spcAft>
                <a:spcPts val="600"/>
              </a:spcAft>
              <a:buNone/>
            </a:pPr>
            <a:r>
              <a:rPr lang="en-US" sz="1500" dirty="0">
                <a:solidFill>
                  <a:srgbClr val="0F1B33"/>
                </a:solidFill>
                <a:latin typeface="Calibri" pitchFamily="34" charset="0"/>
                <a:ea typeface="Calibri" pitchFamily="34" charset="-122"/>
                <a:cs typeface="Calibri" pitchFamily="34" charset="-120"/>
              </a:rPr>
              <a:t>So expiry is visible in a live demo; it is a setting.</a:t>
            </a:r>
            <a:endParaRPr lang="en-US" sz="15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2607A"/>
                </a:solidFill>
                <a:latin typeface="Calibri"/>
                <a:ea typeface="Calibri"/>
                <a:cs typeface="Calibri"/>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822960"/>
          </a:xfrm>
          <a:prstGeom prst="rect">
            <a:avLst/>
          </a:prstGeom>
          <a:noFill/>
          <a:ln/>
        </p:spPr>
        <p:txBody>
          <a:bodyPr wrap="square" lIns="0" tIns="0" rIns="0" bIns="0" rtlCol="0" anchor="ctr"/>
          <a:lstStyle/>
          <a:p>
            <a:pPr algn="l" indent="0" marL="0">
              <a:buNone/>
            </a:pPr>
            <a:r>
              <a:rPr lang="en-US" sz="3600" b="1" dirty="0">
                <a:solidFill>
                  <a:srgbClr val="12307A"/>
                </a:solidFill>
                <a:latin typeface="Cambria" pitchFamily="34" charset="0"/>
                <a:ea typeface="Cambria" pitchFamily="34" charset="-122"/>
                <a:cs typeface="Cambria" pitchFamily="34" charset="-120"/>
              </a:rPr>
              <a:t>Appendix: repo map and ports</a:t>
            </a:r>
            <a:endParaRPr lang="en-US" sz="36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40080" y="1463040"/>
          <a:ext cx="10881360" cy="914400"/>
        </p:xfrm>
        <a:graphic>
          <a:graphicData uri="http://schemas.openxmlformats.org/drawingml/2006/table">
            <a:tbl>
              <a:tblPr/>
              <a:tblGrid>
                <a:gridCol w="3291840"/>
                <a:gridCol w="6309360"/>
                <a:gridCol w="1280160"/>
              </a:tblGrid>
              <a:tr h="50292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Folder</a:t>
                      </a:r>
                      <a:endParaRPr lang="en-US" sz="1600" dirty="0">
                        <a:latin typeface="Calibri" charset="0"/>
                        <a:ea typeface="Calibri" charset="0"/>
                        <a:cs typeface="Calibri" charset="0"/>
                      </a:endParaRPr>
                    </a:p>
                  </a:txBody>
                  <a:tcPr marL="91440" marR="91440" marT="45720" marB="45720">
                    <a:lnL w="12700" cap="flat" cmpd="sng" algn="ctr">
                      <a:solidFill>
                        <a:srgbClr val="DDE4EF"/>
                      </a:solidFill>
                      <a:prstDash val="solid"/>
                      <a:round/>
                      <a:headEnd type="none" w="med" len="med"/>
                      <a:tailEnd type="none" w="med" len="med"/>
                    </a:lnL>
                    <a:lnR w="12700" cap="flat" cmpd="sng" algn="ctr">
                      <a:solidFill>
                        <a:srgbClr val="DDE4EF"/>
                      </a:solidFill>
                      <a:prstDash val="solid"/>
                      <a:round/>
                      <a:headEnd type="none" w="med" len="med"/>
                      <a:tailEnd type="none" w="med" len="med"/>
                    </a:lnR>
                    <a:lnT w="12700" cap="flat" cmpd="sng" algn="ctr">
                      <a:solidFill>
                        <a:srgbClr val="DDE4EF"/>
                      </a:solidFill>
                      <a:prstDash val="solid"/>
                      <a:round/>
                      <a:headEnd type="none" w="med" len="med"/>
                      <a:tailEnd type="none" w="med" len="med"/>
                    </a:lnT>
                    <a:lnB w="12700" cap="flat" cmpd="sng" algn="ctr">
                      <a:solidFill>
                        <a:srgbClr val="DDE4EF"/>
                      </a:solidFill>
                      <a:prstDash val="solid"/>
                      <a:round/>
                      <a:headEnd type="none" w="med" len="med"/>
                      <a:tailEnd type="none" w="med" len="med"/>
                    </a:lnB>
                    <a:solidFill>
                      <a:srgbClr val="12307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Purpose</a:t>
                      </a:r>
                      <a:endParaRPr lang="en-US" sz="1600" dirty="0">
                        <a:latin typeface="Calibri" charset="0"/>
                        <a:ea typeface="Calibri" charset="0"/>
                        <a:cs typeface="Calibri" charset="0"/>
                      </a:endParaRPr>
                    </a:p>
                  </a:txBody>
                  <a:tcPr marL="91440" marR="91440" marT="45720" marB="45720">
                    <a:lnL w="12700" cap="flat" cmpd="sng" algn="ctr">
                      <a:solidFill>
                        <a:srgbClr val="DDE4EF"/>
                      </a:solidFill>
                      <a:prstDash val="solid"/>
                      <a:round/>
                      <a:headEnd type="none" w="med" len="med"/>
                      <a:tailEnd type="none" w="med" len="med"/>
                    </a:lnL>
                    <a:lnR w="12700" cap="flat" cmpd="sng" algn="ctr">
                      <a:solidFill>
                        <a:srgbClr val="DDE4EF"/>
                      </a:solidFill>
                      <a:prstDash val="solid"/>
                      <a:round/>
                      <a:headEnd type="none" w="med" len="med"/>
                      <a:tailEnd type="none" w="med" len="med"/>
                    </a:lnR>
                    <a:lnT w="12700" cap="flat" cmpd="sng" algn="ctr">
                      <a:solidFill>
                        <a:srgbClr val="DDE4EF"/>
                      </a:solidFill>
                      <a:prstDash val="solid"/>
                      <a:round/>
                      <a:headEnd type="none" w="med" len="med"/>
                      <a:tailEnd type="none" w="med" len="med"/>
                    </a:lnT>
                    <a:lnB w="12700" cap="flat" cmpd="sng" algn="ctr">
                      <a:solidFill>
                        <a:srgbClr val="DDE4EF"/>
                      </a:solidFill>
                      <a:prstDash val="solid"/>
                      <a:round/>
                      <a:headEnd type="none" w="med" len="med"/>
                      <a:tailEnd type="none" w="med" len="med"/>
                    </a:lnB>
                    <a:solidFill>
                      <a:srgbClr val="12307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Port</a:t>
                      </a:r>
                      <a:endParaRPr lang="en-US" sz="1600" dirty="0">
                        <a:latin typeface="Calibri" charset="0"/>
                        <a:ea typeface="Calibri" charset="0"/>
                        <a:cs typeface="Calibri" charset="0"/>
                      </a:endParaRPr>
                    </a:p>
                  </a:txBody>
                  <a:tcPr marL="91440" marR="91440" marT="45720" marB="45720">
                    <a:lnL w="12700" cap="flat" cmpd="sng" algn="ctr">
                      <a:solidFill>
                        <a:srgbClr val="DDE4EF"/>
                      </a:solidFill>
                      <a:prstDash val="solid"/>
                      <a:round/>
                      <a:headEnd type="none" w="med" len="med"/>
                      <a:tailEnd type="none" w="med" len="med"/>
                    </a:lnL>
                    <a:lnR w="12700" cap="flat" cmpd="sng" algn="ctr">
                      <a:solidFill>
                        <a:srgbClr val="DDE4EF"/>
                      </a:solidFill>
                      <a:prstDash val="solid"/>
                      <a:round/>
                      <a:headEnd type="none" w="med" len="med"/>
                      <a:tailEnd type="none" w="med" len="med"/>
                    </a:lnR>
                    <a:lnT w="12700" cap="flat" cmpd="sng" algn="ctr">
                      <a:solidFill>
                        <a:srgbClr val="DDE4EF"/>
                      </a:solidFill>
                      <a:prstDash val="solid"/>
                      <a:round/>
                      <a:headEnd type="none" w="med" len="med"/>
                      <a:tailEnd type="none" w="med" len="med"/>
                    </a:lnT>
                    <a:lnB w="12700" cap="flat" cmpd="sng" algn="ctr">
                      <a:solidFill>
                        <a:srgbClr val="DDE4EF"/>
                      </a:solidFill>
                      <a:prstDash val="solid"/>
                      <a:round/>
                      <a:headEnd type="none" w="med" len="med"/>
                      <a:tailEnd type="none" w="med" len="med"/>
                    </a:lnB>
                    <a:solidFill>
                      <a:srgbClr val="12307A"/>
                    </a:solidFill>
                  </a:tcPr>
                </a:tc>
              </a:tr>
              <a:tr h="502920">
                <a:tc>
                  <a:txBody>
                    <a:bodyPr/>
                    <a:lstStyle/>
                    <a:p>
                      <a:pPr indent="0" marL="0">
                        <a:buNone/>
                      </a:pPr>
                      <a:r>
                        <a:rPr lang="en-US" sz="1600" dirty="0">
                          <a:solidFill>
                            <a:srgbClr val="0F1B33"/>
                          </a:solidFill>
                          <a:latin typeface="Calibri" pitchFamily="34" charset="0"/>
                          <a:ea typeface="Calibri" pitchFamily="34" charset="-122"/>
                          <a:cs typeface="Calibri" pitchFamily="34" charset="-120"/>
                        </a:rPr>
                        <a:t>apps/react</a:t>
                      </a:r>
                      <a:endParaRPr lang="en-US" sz="1600" dirty="0">
                        <a:latin typeface="Calibri" charset="0"/>
                        <a:ea typeface="Calibri" charset="0"/>
                        <a:cs typeface="Calibri" charset="0"/>
                      </a:endParaRPr>
                    </a:p>
                  </a:txBody>
                  <a:tcPr marL="91440" marR="91440" marT="45720" marB="45720">
                    <a:lnL w="12700" cap="flat" cmpd="sng" algn="ctr">
                      <a:solidFill>
                        <a:srgbClr val="DDE4EF"/>
                      </a:solidFill>
                      <a:prstDash val="solid"/>
                      <a:round/>
                      <a:headEnd type="none" w="med" len="med"/>
                      <a:tailEnd type="none" w="med" len="med"/>
                    </a:lnL>
                    <a:lnR w="12700" cap="flat" cmpd="sng" algn="ctr">
                      <a:solidFill>
                        <a:srgbClr val="DDE4EF"/>
                      </a:solidFill>
                      <a:prstDash val="solid"/>
                      <a:round/>
                      <a:headEnd type="none" w="med" len="med"/>
                      <a:tailEnd type="none" w="med" len="med"/>
                    </a:lnR>
                    <a:lnT w="12700" cap="flat" cmpd="sng" algn="ctr">
                      <a:solidFill>
                        <a:srgbClr val="DDE4EF"/>
                      </a:solidFill>
                      <a:prstDash val="solid"/>
                      <a:round/>
                      <a:headEnd type="none" w="med" len="med"/>
                      <a:tailEnd type="none" w="med" len="med"/>
                    </a:lnT>
                    <a:lnB w="12700" cap="flat" cmpd="sng" algn="ctr">
                      <a:solidFill>
                        <a:srgbClr val="DDE4EF"/>
                      </a:solidFill>
                      <a:prstDash val="solid"/>
                      <a:round/>
                      <a:headEnd type="none" w="med" len="med"/>
                      <a:tailEnd type="none" w="med" len="med"/>
                    </a:lnB>
                  </a:tcPr>
                </a:tc>
                <a:tc>
                  <a:txBody>
                    <a:bodyPr/>
                    <a:lstStyle/>
                    <a:p>
                      <a:pPr indent="0" marL="0">
                        <a:buNone/>
                      </a:pPr>
                      <a:r>
                        <a:rPr lang="en-US" sz="1600" dirty="0">
                          <a:solidFill>
                            <a:srgbClr val="0F1B33"/>
                          </a:solidFill>
                          <a:latin typeface="Calibri" pitchFamily="34" charset="0"/>
                          <a:ea typeface="Calibri" pitchFamily="34" charset="-122"/>
                          <a:cs typeface="Calibri" pitchFamily="34" charset="-120"/>
                        </a:rPr>
                        <a:t>Customer Portal</a:t>
                      </a:r>
                      <a:endParaRPr lang="en-US" sz="1600" dirty="0">
                        <a:latin typeface="Calibri" charset="0"/>
                        <a:ea typeface="Calibri" charset="0"/>
                        <a:cs typeface="Calibri" charset="0"/>
                      </a:endParaRPr>
                    </a:p>
                  </a:txBody>
                  <a:tcPr marL="91440" marR="91440" marT="45720" marB="45720">
                    <a:lnL w="12700" cap="flat" cmpd="sng" algn="ctr">
                      <a:solidFill>
                        <a:srgbClr val="DDE4EF"/>
                      </a:solidFill>
                      <a:prstDash val="solid"/>
                      <a:round/>
                      <a:headEnd type="none" w="med" len="med"/>
                      <a:tailEnd type="none" w="med" len="med"/>
                    </a:lnL>
                    <a:lnR w="12700" cap="flat" cmpd="sng" algn="ctr">
                      <a:solidFill>
                        <a:srgbClr val="DDE4EF"/>
                      </a:solidFill>
                      <a:prstDash val="solid"/>
                      <a:round/>
                      <a:headEnd type="none" w="med" len="med"/>
                      <a:tailEnd type="none" w="med" len="med"/>
                    </a:lnR>
                    <a:lnT w="12700" cap="flat" cmpd="sng" algn="ctr">
                      <a:solidFill>
                        <a:srgbClr val="DDE4EF"/>
                      </a:solidFill>
                      <a:prstDash val="solid"/>
                      <a:round/>
                      <a:headEnd type="none" w="med" len="med"/>
                      <a:tailEnd type="none" w="med" len="med"/>
                    </a:lnT>
                    <a:lnB w="12700" cap="flat" cmpd="sng" algn="ctr">
                      <a:solidFill>
                        <a:srgbClr val="DDE4EF"/>
                      </a:solidFill>
                      <a:prstDash val="solid"/>
                      <a:round/>
                      <a:headEnd type="none" w="med" len="med"/>
                      <a:tailEnd type="none" w="med" len="med"/>
                    </a:lnB>
                  </a:tcPr>
                </a:tc>
                <a:tc>
                  <a:txBody>
                    <a:bodyPr/>
                    <a:lstStyle/>
                    <a:p>
                      <a:pPr indent="0" marL="0">
                        <a:buNone/>
                      </a:pPr>
                      <a:r>
                        <a:rPr lang="en-US" sz="1600" dirty="0">
                          <a:solidFill>
                            <a:srgbClr val="0F1B33"/>
                          </a:solidFill>
                          <a:latin typeface="Calibri" pitchFamily="34" charset="0"/>
                          <a:ea typeface="Calibri" pitchFamily="34" charset="-122"/>
                          <a:cs typeface="Calibri" pitchFamily="34" charset="-120"/>
                        </a:rPr>
                        <a:t>5300</a:t>
                      </a:r>
                      <a:endParaRPr lang="en-US" sz="1600" dirty="0">
                        <a:latin typeface="Calibri" charset="0"/>
                        <a:ea typeface="Calibri" charset="0"/>
                        <a:cs typeface="Calibri" charset="0"/>
                      </a:endParaRPr>
                    </a:p>
                  </a:txBody>
                  <a:tcPr marL="91440" marR="91440" marT="45720" marB="45720">
                    <a:lnL w="12700" cap="flat" cmpd="sng" algn="ctr">
                      <a:solidFill>
                        <a:srgbClr val="DDE4EF"/>
                      </a:solidFill>
                      <a:prstDash val="solid"/>
                      <a:round/>
                      <a:headEnd type="none" w="med" len="med"/>
                      <a:tailEnd type="none" w="med" len="med"/>
                    </a:lnL>
                    <a:lnR w="12700" cap="flat" cmpd="sng" algn="ctr">
                      <a:solidFill>
                        <a:srgbClr val="DDE4EF"/>
                      </a:solidFill>
                      <a:prstDash val="solid"/>
                      <a:round/>
                      <a:headEnd type="none" w="med" len="med"/>
                      <a:tailEnd type="none" w="med" len="med"/>
                    </a:lnR>
                    <a:lnT w="12700" cap="flat" cmpd="sng" algn="ctr">
                      <a:solidFill>
                        <a:srgbClr val="DDE4EF"/>
                      </a:solidFill>
                      <a:prstDash val="solid"/>
                      <a:round/>
                      <a:headEnd type="none" w="med" len="med"/>
                      <a:tailEnd type="none" w="med" len="med"/>
                    </a:lnT>
                    <a:lnB w="12700" cap="flat" cmpd="sng" algn="ctr">
                      <a:solidFill>
                        <a:srgbClr val="DDE4EF"/>
                      </a:solidFill>
                      <a:prstDash val="solid"/>
                      <a:round/>
                      <a:headEnd type="none" w="med" len="med"/>
                      <a:tailEnd type="none" w="med" len="med"/>
                    </a:lnB>
                  </a:tcPr>
                </a:tc>
              </a:tr>
              <a:tr h="502920">
                <a:tc>
                  <a:txBody>
                    <a:bodyPr/>
                    <a:lstStyle/>
                    <a:p>
                      <a:pPr indent="0" marL="0">
                        <a:buNone/>
                      </a:pPr>
                      <a:r>
                        <a:rPr lang="en-US" sz="1600" dirty="0">
                          <a:solidFill>
                            <a:srgbClr val="0F1B33"/>
                          </a:solidFill>
                          <a:latin typeface="Calibri" pitchFamily="34" charset="0"/>
                          <a:ea typeface="Calibri" pitchFamily="34" charset="-122"/>
                          <a:cs typeface="Calibri" pitchFamily="34" charset="-120"/>
                        </a:rPr>
                        <a:t>apps/angular</a:t>
                      </a:r>
                      <a:endParaRPr lang="en-US" sz="1600" dirty="0">
                        <a:latin typeface="Calibri" charset="0"/>
                        <a:ea typeface="Calibri" charset="0"/>
                        <a:cs typeface="Calibri" charset="0"/>
                      </a:endParaRPr>
                    </a:p>
                  </a:txBody>
                  <a:tcPr marL="91440" marR="91440" marT="45720" marB="45720">
                    <a:lnL w="12700" cap="flat" cmpd="sng" algn="ctr">
                      <a:solidFill>
                        <a:srgbClr val="DDE4EF"/>
                      </a:solidFill>
                      <a:prstDash val="solid"/>
                      <a:round/>
                      <a:headEnd type="none" w="med" len="med"/>
                      <a:tailEnd type="none" w="med" len="med"/>
                    </a:lnL>
                    <a:lnR w="12700" cap="flat" cmpd="sng" algn="ctr">
                      <a:solidFill>
                        <a:srgbClr val="DDE4EF"/>
                      </a:solidFill>
                      <a:prstDash val="solid"/>
                      <a:round/>
                      <a:headEnd type="none" w="med" len="med"/>
                      <a:tailEnd type="none" w="med" len="med"/>
                    </a:lnR>
                    <a:lnT w="12700" cap="flat" cmpd="sng" algn="ctr">
                      <a:solidFill>
                        <a:srgbClr val="DDE4EF"/>
                      </a:solidFill>
                      <a:prstDash val="solid"/>
                      <a:round/>
                      <a:headEnd type="none" w="med" len="med"/>
                      <a:tailEnd type="none" w="med" len="med"/>
                    </a:lnT>
                    <a:lnB w="12700" cap="flat" cmpd="sng" algn="ctr">
                      <a:solidFill>
                        <a:srgbClr val="DDE4EF"/>
                      </a:solidFill>
                      <a:prstDash val="solid"/>
                      <a:round/>
                      <a:headEnd type="none" w="med" len="med"/>
                      <a:tailEnd type="none" w="med" len="med"/>
                    </a:lnB>
                  </a:tcPr>
                </a:tc>
                <a:tc>
                  <a:txBody>
                    <a:bodyPr/>
                    <a:lstStyle/>
                    <a:p>
                      <a:pPr indent="0" marL="0">
                        <a:buNone/>
                      </a:pPr>
                      <a:r>
                        <a:rPr lang="en-US" sz="1600" dirty="0">
                          <a:solidFill>
                            <a:srgbClr val="0F1B33"/>
                          </a:solidFill>
                          <a:latin typeface="Calibri" pitchFamily="34" charset="0"/>
                          <a:ea typeface="Calibri" pitchFamily="34" charset="-122"/>
                          <a:cs typeface="Calibri" pitchFamily="34" charset="-120"/>
                        </a:rPr>
                        <a:t>Payments and Transfers</a:t>
                      </a:r>
                      <a:endParaRPr lang="en-US" sz="1600" dirty="0">
                        <a:latin typeface="Calibri" charset="0"/>
                        <a:ea typeface="Calibri" charset="0"/>
                        <a:cs typeface="Calibri" charset="0"/>
                      </a:endParaRPr>
                    </a:p>
                  </a:txBody>
                  <a:tcPr marL="91440" marR="91440" marT="45720" marB="45720">
                    <a:lnL w="12700" cap="flat" cmpd="sng" algn="ctr">
                      <a:solidFill>
                        <a:srgbClr val="DDE4EF"/>
                      </a:solidFill>
                      <a:prstDash val="solid"/>
                      <a:round/>
                      <a:headEnd type="none" w="med" len="med"/>
                      <a:tailEnd type="none" w="med" len="med"/>
                    </a:lnL>
                    <a:lnR w="12700" cap="flat" cmpd="sng" algn="ctr">
                      <a:solidFill>
                        <a:srgbClr val="DDE4EF"/>
                      </a:solidFill>
                      <a:prstDash val="solid"/>
                      <a:round/>
                      <a:headEnd type="none" w="med" len="med"/>
                      <a:tailEnd type="none" w="med" len="med"/>
                    </a:lnR>
                    <a:lnT w="12700" cap="flat" cmpd="sng" algn="ctr">
                      <a:solidFill>
                        <a:srgbClr val="DDE4EF"/>
                      </a:solidFill>
                      <a:prstDash val="solid"/>
                      <a:round/>
                      <a:headEnd type="none" w="med" len="med"/>
                      <a:tailEnd type="none" w="med" len="med"/>
                    </a:lnT>
                    <a:lnB w="12700" cap="flat" cmpd="sng" algn="ctr">
                      <a:solidFill>
                        <a:srgbClr val="DDE4EF"/>
                      </a:solidFill>
                      <a:prstDash val="solid"/>
                      <a:round/>
                      <a:headEnd type="none" w="med" len="med"/>
                      <a:tailEnd type="none" w="med" len="med"/>
                    </a:lnB>
                  </a:tcPr>
                </a:tc>
                <a:tc>
                  <a:txBody>
                    <a:bodyPr/>
                    <a:lstStyle/>
                    <a:p>
                      <a:pPr indent="0" marL="0">
                        <a:buNone/>
                      </a:pPr>
                      <a:r>
                        <a:rPr lang="en-US" sz="1600" dirty="0">
                          <a:solidFill>
                            <a:srgbClr val="0F1B33"/>
                          </a:solidFill>
                          <a:latin typeface="Calibri" pitchFamily="34" charset="0"/>
                          <a:ea typeface="Calibri" pitchFamily="34" charset="-122"/>
                          <a:cs typeface="Calibri" pitchFamily="34" charset="-120"/>
                        </a:rPr>
                        <a:t>5400</a:t>
                      </a:r>
                      <a:endParaRPr lang="en-US" sz="1600" dirty="0">
                        <a:latin typeface="Calibri" charset="0"/>
                        <a:ea typeface="Calibri" charset="0"/>
                        <a:cs typeface="Calibri" charset="0"/>
                      </a:endParaRPr>
                    </a:p>
                  </a:txBody>
                  <a:tcPr marL="91440" marR="91440" marT="45720" marB="45720">
                    <a:lnL w="12700" cap="flat" cmpd="sng" algn="ctr">
                      <a:solidFill>
                        <a:srgbClr val="DDE4EF"/>
                      </a:solidFill>
                      <a:prstDash val="solid"/>
                      <a:round/>
                      <a:headEnd type="none" w="med" len="med"/>
                      <a:tailEnd type="none" w="med" len="med"/>
                    </a:lnL>
                    <a:lnR w="12700" cap="flat" cmpd="sng" algn="ctr">
                      <a:solidFill>
                        <a:srgbClr val="DDE4EF"/>
                      </a:solidFill>
                      <a:prstDash val="solid"/>
                      <a:round/>
                      <a:headEnd type="none" w="med" len="med"/>
                      <a:tailEnd type="none" w="med" len="med"/>
                    </a:lnR>
                    <a:lnT w="12700" cap="flat" cmpd="sng" algn="ctr">
                      <a:solidFill>
                        <a:srgbClr val="DDE4EF"/>
                      </a:solidFill>
                      <a:prstDash val="solid"/>
                      <a:round/>
                      <a:headEnd type="none" w="med" len="med"/>
                      <a:tailEnd type="none" w="med" len="med"/>
                    </a:lnT>
                    <a:lnB w="12700" cap="flat" cmpd="sng" algn="ctr">
                      <a:solidFill>
                        <a:srgbClr val="DDE4EF"/>
                      </a:solidFill>
                      <a:prstDash val="solid"/>
                      <a:round/>
                      <a:headEnd type="none" w="med" len="med"/>
                      <a:tailEnd type="none" w="med" len="med"/>
                    </a:lnB>
                  </a:tcPr>
                </a:tc>
              </a:tr>
              <a:tr h="502920">
                <a:tc>
                  <a:txBody>
                    <a:bodyPr/>
                    <a:lstStyle/>
                    <a:p>
                      <a:pPr indent="0" marL="0">
                        <a:buNone/>
                      </a:pPr>
                      <a:r>
                        <a:rPr lang="en-US" sz="1600" dirty="0">
                          <a:solidFill>
                            <a:srgbClr val="0F1B33"/>
                          </a:solidFill>
                          <a:latin typeface="Calibri" pitchFamily="34" charset="0"/>
                          <a:ea typeface="Calibri" pitchFamily="34" charset="-122"/>
                          <a:cs typeface="Calibri" pitchFamily="34" charset="-120"/>
                        </a:rPr>
                        <a:t>apps/mvc</a:t>
                      </a:r>
                      <a:endParaRPr lang="en-US" sz="1600" dirty="0">
                        <a:latin typeface="Calibri" charset="0"/>
                        <a:ea typeface="Calibri" charset="0"/>
                        <a:cs typeface="Calibri" charset="0"/>
                      </a:endParaRPr>
                    </a:p>
                  </a:txBody>
                  <a:tcPr marL="91440" marR="91440" marT="45720" marB="45720">
                    <a:lnL w="12700" cap="flat" cmpd="sng" algn="ctr">
                      <a:solidFill>
                        <a:srgbClr val="DDE4EF"/>
                      </a:solidFill>
                      <a:prstDash val="solid"/>
                      <a:round/>
                      <a:headEnd type="none" w="med" len="med"/>
                      <a:tailEnd type="none" w="med" len="med"/>
                    </a:lnL>
                    <a:lnR w="12700" cap="flat" cmpd="sng" algn="ctr">
                      <a:solidFill>
                        <a:srgbClr val="DDE4EF"/>
                      </a:solidFill>
                      <a:prstDash val="solid"/>
                      <a:round/>
                      <a:headEnd type="none" w="med" len="med"/>
                      <a:tailEnd type="none" w="med" len="med"/>
                    </a:lnR>
                    <a:lnT w="12700" cap="flat" cmpd="sng" algn="ctr">
                      <a:solidFill>
                        <a:srgbClr val="DDE4EF"/>
                      </a:solidFill>
                      <a:prstDash val="solid"/>
                      <a:round/>
                      <a:headEnd type="none" w="med" len="med"/>
                      <a:tailEnd type="none" w="med" len="med"/>
                    </a:lnT>
                    <a:lnB w="12700" cap="flat" cmpd="sng" algn="ctr">
                      <a:solidFill>
                        <a:srgbClr val="DDE4EF"/>
                      </a:solidFill>
                      <a:prstDash val="solid"/>
                      <a:round/>
                      <a:headEnd type="none" w="med" len="med"/>
                      <a:tailEnd type="none" w="med" len="med"/>
                    </a:lnB>
                  </a:tcPr>
                </a:tc>
                <a:tc>
                  <a:txBody>
                    <a:bodyPr/>
                    <a:lstStyle/>
                    <a:p>
                      <a:pPr indent="0" marL="0">
                        <a:buNone/>
                      </a:pPr>
                      <a:r>
                        <a:rPr lang="en-US" sz="1600" dirty="0">
                          <a:solidFill>
                            <a:srgbClr val="0F1B33"/>
                          </a:solidFill>
                          <a:latin typeface="Calibri" pitchFamily="34" charset="0"/>
                          <a:ea typeface="Calibri" pitchFamily="34" charset="-122"/>
                          <a:cs typeface="Calibri" pitchFamily="34" charset="-120"/>
                        </a:rPr>
                        <a:t>Back Office</a:t>
                      </a:r>
                      <a:endParaRPr lang="en-US" sz="1600" dirty="0">
                        <a:latin typeface="Calibri" charset="0"/>
                        <a:ea typeface="Calibri" charset="0"/>
                        <a:cs typeface="Calibri" charset="0"/>
                      </a:endParaRPr>
                    </a:p>
                  </a:txBody>
                  <a:tcPr marL="91440" marR="91440" marT="45720" marB="45720">
                    <a:lnL w="12700" cap="flat" cmpd="sng" algn="ctr">
                      <a:solidFill>
                        <a:srgbClr val="DDE4EF"/>
                      </a:solidFill>
                      <a:prstDash val="solid"/>
                      <a:round/>
                      <a:headEnd type="none" w="med" len="med"/>
                      <a:tailEnd type="none" w="med" len="med"/>
                    </a:lnL>
                    <a:lnR w="12700" cap="flat" cmpd="sng" algn="ctr">
                      <a:solidFill>
                        <a:srgbClr val="DDE4EF"/>
                      </a:solidFill>
                      <a:prstDash val="solid"/>
                      <a:round/>
                      <a:headEnd type="none" w="med" len="med"/>
                      <a:tailEnd type="none" w="med" len="med"/>
                    </a:lnR>
                    <a:lnT w="12700" cap="flat" cmpd="sng" algn="ctr">
                      <a:solidFill>
                        <a:srgbClr val="DDE4EF"/>
                      </a:solidFill>
                      <a:prstDash val="solid"/>
                      <a:round/>
                      <a:headEnd type="none" w="med" len="med"/>
                      <a:tailEnd type="none" w="med" len="med"/>
                    </a:lnT>
                    <a:lnB w="12700" cap="flat" cmpd="sng" algn="ctr">
                      <a:solidFill>
                        <a:srgbClr val="DDE4EF"/>
                      </a:solidFill>
                      <a:prstDash val="solid"/>
                      <a:round/>
                      <a:headEnd type="none" w="med" len="med"/>
                      <a:tailEnd type="none" w="med" len="med"/>
                    </a:lnB>
                  </a:tcPr>
                </a:tc>
                <a:tc>
                  <a:txBody>
                    <a:bodyPr/>
                    <a:lstStyle/>
                    <a:p>
                      <a:pPr indent="0" marL="0">
                        <a:buNone/>
                      </a:pPr>
                      <a:r>
                        <a:rPr lang="en-US" sz="1600" dirty="0">
                          <a:solidFill>
                            <a:srgbClr val="0F1B33"/>
                          </a:solidFill>
                          <a:latin typeface="Calibri" pitchFamily="34" charset="0"/>
                          <a:ea typeface="Calibri" pitchFamily="34" charset="-122"/>
                          <a:cs typeface="Calibri" pitchFamily="34" charset="-120"/>
                        </a:rPr>
                        <a:t>5200</a:t>
                      </a:r>
                      <a:endParaRPr lang="en-US" sz="1600" dirty="0">
                        <a:latin typeface="Calibri" charset="0"/>
                        <a:ea typeface="Calibri" charset="0"/>
                        <a:cs typeface="Calibri" charset="0"/>
                      </a:endParaRPr>
                    </a:p>
                  </a:txBody>
                  <a:tcPr marL="91440" marR="91440" marT="45720" marB="45720">
                    <a:lnL w="12700" cap="flat" cmpd="sng" algn="ctr">
                      <a:solidFill>
                        <a:srgbClr val="DDE4EF"/>
                      </a:solidFill>
                      <a:prstDash val="solid"/>
                      <a:round/>
                      <a:headEnd type="none" w="med" len="med"/>
                      <a:tailEnd type="none" w="med" len="med"/>
                    </a:lnL>
                    <a:lnR w="12700" cap="flat" cmpd="sng" algn="ctr">
                      <a:solidFill>
                        <a:srgbClr val="DDE4EF"/>
                      </a:solidFill>
                      <a:prstDash val="solid"/>
                      <a:round/>
                      <a:headEnd type="none" w="med" len="med"/>
                      <a:tailEnd type="none" w="med" len="med"/>
                    </a:lnR>
                    <a:lnT w="12700" cap="flat" cmpd="sng" algn="ctr">
                      <a:solidFill>
                        <a:srgbClr val="DDE4EF"/>
                      </a:solidFill>
                      <a:prstDash val="solid"/>
                      <a:round/>
                      <a:headEnd type="none" w="med" len="med"/>
                      <a:tailEnd type="none" w="med" len="med"/>
                    </a:lnT>
                    <a:lnB w="12700" cap="flat" cmpd="sng" algn="ctr">
                      <a:solidFill>
                        <a:srgbClr val="DDE4EF"/>
                      </a:solidFill>
                      <a:prstDash val="solid"/>
                      <a:round/>
                      <a:headEnd type="none" w="med" len="med"/>
                      <a:tailEnd type="none" w="med" len="med"/>
                    </a:lnB>
                  </a:tcPr>
                </a:tc>
              </a:tr>
              <a:tr h="502920">
                <a:tc>
                  <a:txBody>
                    <a:bodyPr/>
                    <a:lstStyle/>
                    <a:p>
                      <a:pPr indent="0" marL="0">
                        <a:buNone/>
                      </a:pPr>
                      <a:r>
                        <a:rPr lang="en-US" sz="1600" dirty="0">
                          <a:solidFill>
                            <a:srgbClr val="0F1B33"/>
                          </a:solidFill>
                          <a:latin typeface="Calibri" pitchFamily="34" charset="0"/>
                          <a:ea typeface="Calibri" pitchFamily="34" charset="-122"/>
                          <a:cs typeface="Calibri" pitchFamily="34" charset="-120"/>
                        </a:rPr>
                        <a:t>api/</a:t>
                      </a:r>
                      <a:endParaRPr lang="en-US" sz="1600" dirty="0">
                        <a:latin typeface="Calibri" charset="0"/>
                        <a:ea typeface="Calibri" charset="0"/>
                        <a:cs typeface="Calibri" charset="0"/>
                      </a:endParaRPr>
                    </a:p>
                  </a:txBody>
                  <a:tcPr marL="91440" marR="91440" marT="45720" marB="45720">
                    <a:lnL w="12700" cap="flat" cmpd="sng" algn="ctr">
                      <a:solidFill>
                        <a:srgbClr val="DDE4EF"/>
                      </a:solidFill>
                      <a:prstDash val="solid"/>
                      <a:round/>
                      <a:headEnd type="none" w="med" len="med"/>
                      <a:tailEnd type="none" w="med" len="med"/>
                    </a:lnL>
                    <a:lnR w="12700" cap="flat" cmpd="sng" algn="ctr">
                      <a:solidFill>
                        <a:srgbClr val="DDE4EF"/>
                      </a:solidFill>
                      <a:prstDash val="solid"/>
                      <a:round/>
                      <a:headEnd type="none" w="med" len="med"/>
                      <a:tailEnd type="none" w="med" len="med"/>
                    </a:lnR>
                    <a:lnT w="12700" cap="flat" cmpd="sng" algn="ctr">
                      <a:solidFill>
                        <a:srgbClr val="DDE4EF"/>
                      </a:solidFill>
                      <a:prstDash val="solid"/>
                      <a:round/>
                      <a:headEnd type="none" w="med" len="med"/>
                      <a:tailEnd type="none" w="med" len="med"/>
                    </a:lnT>
                    <a:lnB w="12700" cap="flat" cmpd="sng" algn="ctr">
                      <a:solidFill>
                        <a:srgbClr val="DDE4EF"/>
                      </a:solidFill>
                      <a:prstDash val="solid"/>
                      <a:round/>
                      <a:headEnd type="none" w="med" len="med"/>
                      <a:tailEnd type="none" w="med" len="med"/>
                    </a:lnB>
                  </a:tcPr>
                </a:tc>
                <a:tc>
                  <a:txBody>
                    <a:bodyPr/>
                    <a:lstStyle/>
                    <a:p>
                      <a:pPr indent="0" marL="0">
                        <a:buNone/>
                      </a:pPr>
                      <a:r>
                        <a:rPr lang="en-US" sz="1600" dirty="0">
                          <a:solidFill>
                            <a:srgbClr val="0F1B33"/>
                          </a:solidFill>
                          <a:latin typeface="Calibri" pitchFamily="34" charset="0"/>
                          <a:ea typeface="Calibri" pitchFamily="34" charset="-122"/>
                          <a:cs typeface="Calibri" pitchFamily="34" charset="-120"/>
                        </a:rPr>
                        <a:t>Shared API, enforces step-up</a:t>
                      </a:r>
                      <a:endParaRPr lang="en-US" sz="1600" dirty="0">
                        <a:latin typeface="Calibri" charset="0"/>
                        <a:ea typeface="Calibri" charset="0"/>
                        <a:cs typeface="Calibri" charset="0"/>
                      </a:endParaRPr>
                    </a:p>
                  </a:txBody>
                  <a:tcPr marL="91440" marR="91440" marT="45720" marB="45720">
                    <a:lnL w="12700" cap="flat" cmpd="sng" algn="ctr">
                      <a:solidFill>
                        <a:srgbClr val="DDE4EF"/>
                      </a:solidFill>
                      <a:prstDash val="solid"/>
                      <a:round/>
                      <a:headEnd type="none" w="med" len="med"/>
                      <a:tailEnd type="none" w="med" len="med"/>
                    </a:lnL>
                    <a:lnR w="12700" cap="flat" cmpd="sng" algn="ctr">
                      <a:solidFill>
                        <a:srgbClr val="DDE4EF"/>
                      </a:solidFill>
                      <a:prstDash val="solid"/>
                      <a:round/>
                      <a:headEnd type="none" w="med" len="med"/>
                      <a:tailEnd type="none" w="med" len="med"/>
                    </a:lnR>
                    <a:lnT w="12700" cap="flat" cmpd="sng" algn="ctr">
                      <a:solidFill>
                        <a:srgbClr val="DDE4EF"/>
                      </a:solidFill>
                      <a:prstDash val="solid"/>
                      <a:round/>
                      <a:headEnd type="none" w="med" len="med"/>
                      <a:tailEnd type="none" w="med" len="med"/>
                    </a:lnT>
                    <a:lnB w="12700" cap="flat" cmpd="sng" algn="ctr">
                      <a:solidFill>
                        <a:srgbClr val="DDE4EF"/>
                      </a:solidFill>
                      <a:prstDash val="solid"/>
                      <a:round/>
                      <a:headEnd type="none" w="med" len="med"/>
                      <a:tailEnd type="none" w="med" len="med"/>
                    </a:lnB>
                  </a:tcPr>
                </a:tc>
                <a:tc>
                  <a:txBody>
                    <a:bodyPr/>
                    <a:lstStyle/>
                    <a:p>
                      <a:pPr indent="0" marL="0">
                        <a:buNone/>
                      </a:pPr>
                      <a:r>
                        <a:rPr lang="en-US" sz="1600" dirty="0">
                          <a:solidFill>
                            <a:srgbClr val="0F1B33"/>
                          </a:solidFill>
                          <a:latin typeface="Calibri" pitchFamily="34" charset="0"/>
                          <a:ea typeface="Calibri" pitchFamily="34" charset="-122"/>
                          <a:cs typeface="Calibri" pitchFamily="34" charset="-120"/>
                        </a:rPr>
                        <a:t>5100</a:t>
                      </a:r>
                      <a:endParaRPr lang="en-US" sz="1600" dirty="0">
                        <a:latin typeface="Calibri" charset="0"/>
                        <a:ea typeface="Calibri" charset="0"/>
                        <a:cs typeface="Calibri" charset="0"/>
                      </a:endParaRPr>
                    </a:p>
                  </a:txBody>
                  <a:tcPr marL="91440" marR="91440" marT="45720" marB="45720">
                    <a:lnL w="12700" cap="flat" cmpd="sng" algn="ctr">
                      <a:solidFill>
                        <a:srgbClr val="DDE4EF"/>
                      </a:solidFill>
                      <a:prstDash val="solid"/>
                      <a:round/>
                      <a:headEnd type="none" w="med" len="med"/>
                      <a:tailEnd type="none" w="med" len="med"/>
                    </a:lnL>
                    <a:lnR w="12700" cap="flat" cmpd="sng" algn="ctr">
                      <a:solidFill>
                        <a:srgbClr val="DDE4EF"/>
                      </a:solidFill>
                      <a:prstDash val="solid"/>
                      <a:round/>
                      <a:headEnd type="none" w="med" len="med"/>
                      <a:tailEnd type="none" w="med" len="med"/>
                    </a:lnR>
                    <a:lnT w="12700" cap="flat" cmpd="sng" algn="ctr">
                      <a:solidFill>
                        <a:srgbClr val="DDE4EF"/>
                      </a:solidFill>
                      <a:prstDash val="solid"/>
                      <a:round/>
                      <a:headEnd type="none" w="med" len="med"/>
                      <a:tailEnd type="none" w="med" len="med"/>
                    </a:lnT>
                    <a:lnB w="12700" cap="flat" cmpd="sng" algn="ctr">
                      <a:solidFill>
                        <a:srgbClr val="DDE4EF"/>
                      </a:solidFill>
                      <a:prstDash val="solid"/>
                      <a:round/>
                      <a:headEnd type="none" w="med" len="med"/>
                      <a:tailEnd type="none" w="med" len="med"/>
                    </a:lnB>
                  </a:tcPr>
                </a:tc>
              </a:tr>
              <a:tr h="502920">
                <a:tc>
                  <a:txBody>
                    <a:bodyPr/>
                    <a:lstStyle/>
                    <a:p>
                      <a:pPr indent="0" marL="0">
                        <a:buNone/>
                      </a:pPr>
                      <a:r>
                        <a:rPr lang="en-US" sz="1600" dirty="0">
                          <a:solidFill>
                            <a:srgbClr val="0F1B33"/>
                          </a:solidFill>
                          <a:latin typeface="Calibri" pitchFamily="34" charset="0"/>
                          <a:ea typeface="Calibri" pitchFamily="34" charset="-122"/>
                          <a:cs typeface="Calibri" pitchFamily="34" charset="-120"/>
                        </a:rPr>
                        <a:t>idp/</a:t>
                      </a:r>
                      <a:endParaRPr lang="en-US" sz="1600" dirty="0">
                        <a:latin typeface="Calibri" charset="0"/>
                        <a:ea typeface="Calibri" charset="0"/>
                        <a:cs typeface="Calibri" charset="0"/>
                      </a:endParaRPr>
                    </a:p>
                  </a:txBody>
                  <a:tcPr marL="91440" marR="91440" marT="45720" marB="45720">
                    <a:lnL w="12700" cap="flat" cmpd="sng" algn="ctr">
                      <a:solidFill>
                        <a:srgbClr val="DDE4EF"/>
                      </a:solidFill>
                      <a:prstDash val="solid"/>
                      <a:round/>
                      <a:headEnd type="none" w="med" len="med"/>
                      <a:tailEnd type="none" w="med" len="med"/>
                    </a:lnL>
                    <a:lnR w="12700" cap="flat" cmpd="sng" algn="ctr">
                      <a:solidFill>
                        <a:srgbClr val="DDE4EF"/>
                      </a:solidFill>
                      <a:prstDash val="solid"/>
                      <a:round/>
                      <a:headEnd type="none" w="med" len="med"/>
                      <a:tailEnd type="none" w="med" len="med"/>
                    </a:lnR>
                    <a:lnT w="12700" cap="flat" cmpd="sng" algn="ctr">
                      <a:solidFill>
                        <a:srgbClr val="DDE4EF"/>
                      </a:solidFill>
                      <a:prstDash val="solid"/>
                      <a:round/>
                      <a:headEnd type="none" w="med" len="med"/>
                      <a:tailEnd type="none" w="med" len="med"/>
                    </a:lnT>
                    <a:lnB w="12700" cap="flat" cmpd="sng" algn="ctr">
                      <a:solidFill>
                        <a:srgbClr val="DDE4EF"/>
                      </a:solidFill>
                      <a:prstDash val="solid"/>
                      <a:round/>
                      <a:headEnd type="none" w="med" len="med"/>
                      <a:tailEnd type="none" w="med" len="med"/>
                    </a:lnB>
                  </a:tcPr>
                </a:tc>
                <a:tc>
                  <a:txBody>
                    <a:bodyPr/>
                    <a:lstStyle/>
                    <a:p>
                      <a:pPr indent="0" marL="0">
                        <a:buNone/>
                      </a:pPr>
                      <a:r>
                        <a:rPr lang="en-US" sz="1600" dirty="0">
                          <a:solidFill>
                            <a:srgbClr val="0F1B33"/>
                          </a:solidFill>
                          <a:latin typeface="Calibri" pitchFamily="34" charset="0"/>
                          <a:ea typeface="Calibri" pitchFamily="34" charset="-122"/>
                          <a:cs typeface="Calibri" pitchFamily="34" charset="-120"/>
                        </a:rPr>
                        <a:t>Keycloak realm and IdP profiles</a:t>
                      </a:r>
                      <a:endParaRPr lang="en-US" sz="1600" dirty="0">
                        <a:latin typeface="Calibri" charset="0"/>
                        <a:ea typeface="Calibri" charset="0"/>
                        <a:cs typeface="Calibri" charset="0"/>
                      </a:endParaRPr>
                    </a:p>
                  </a:txBody>
                  <a:tcPr marL="91440" marR="91440" marT="45720" marB="45720">
                    <a:lnL w="12700" cap="flat" cmpd="sng" algn="ctr">
                      <a:solidFill>
                        <a:srgbClr val="DDE4EF"/>
                      </a:solidFill>
                      <a:prstDash val="solid"/>
                      <a:round/>
                      <a:headEnd type="none" w="med" len="med"/>
                      <a:tailEnd type="none" w="med" len="med"/>
                    </a:lnL>
                    <a:lnR w="12700" cap="flat" cmpd="sng" algn="ctr">
                      <a:solidFill>
                        <a:srgbClr val="DDE4EF"/>
                      </a:solidFill>
                      <a:prstDash val="solid"/>
                      <a:round/>
                      <a:headEnd type="none" w="med" len="med"/>
                      <a:tailEnd type="none" w="med" len="med"/>
                    </a:lnR>
                    <a:lnT w="12700" cap="flat" cmpd="sng" algn="ctr">
                      <a:solidFill>
                        <a:srgbClr val="DDE4EF"/>
                      </a:solidFill>
                      <a:prstDash val="solid"/>
                      <a:round/>
                      <a:headEnd type="none" w="med" len="med"/>
                      <a:tailEnd type="none" w="med" len="med"/>
                    </a:lnT>
                    <a:lnB w="12700" cap="flat" cmpd="sng" algn="ctr">
                      <a:solidFill>
                        <a:srgbClr val="DDE4EF"/>
                      </a:solidFill>
                      <a:prstDash val="solid"/>
                      <a:round/>
                      <a:headEnd type="none" w="med" len="med"/>
                      <a:tailEnd type="none" w="med" len="med"/>
                    </a:lnB>
                  </a:tcPr>
                </a:tc>
                <a:tc>
                  <a:txBody>
                    <a:bodyPr/>
                    <a:lstStyle/>
                    <a:p>
                      <a:pPr indent="0" marL="0">
                        <a:buNone/>
                      </a:pPr>
                      <a:r>
                        <a:rPr lang="en-US" sz="1600" dirty="0">
                          <a:solidFill>
                            <a:srgbClr val="0F1B33"/>
                          </a:solidFill>
                          <a:latin typeface="Calibri" pitchFamily="34" charset="0"/>
                          <a:ea typeface="Calibri" pitchFamily="34" charset="-122"/>
                          <a:cs typeface="Calibri" pitchFamily="34" charset="-120"/>
                        </a:rPr>
                        <a:t>8180</a:t>
                      </a:r>
                      <a:endParaRPr lang="en-US" sz="1600" dirty="0">
                        <a:latin typeface="Calibri" charset="0"/>
                        <a:ea typeface="Calibri" charset="0"/>
                        <a:cs typeface="Calibri" charset="0"/>
                      </a:endParaRPr>
                    </a:p>
                  </a:txBody>
                  <a:tcPr marL="91440" marR="91440" marT="45720" marB="45720">
                    <a:lnL w="12700" cap="flat" cmpd="sng" algn="ctr">
                      <a:solidFill>
                        <a:srgbClr val="DDE4EF"/>
                      </a:solidFill>
                      <a:prstDash val="solid"/>
                      <a:round/>
                      <a:headEnd type="none" w="med" len="med"/>
                      <a:tailEnd type="none" w="med" len="med"/>
                    </a:lnL>
                    <a:lnR w="12700" cap="flat" cmpd="sng" algn="ctr">
                      <a:solidFill>
                        <a:srgbClr val="DDE4EF"/>
                      </a:solidFill>
                      <a:prstDash val="solid"/>
                      <a:round/>
                      <a:headEnd type="none" w="med" len="med"/>
                      <a:tailEnd type="none" w="med" len="med"/>
                    </a:lnR>
                    <a:lnT w="12700" cap="flat" cmpd="sng" algn="ctr">
                      <a:solidFill>
                        <a:srgbClr val="DDE4EF"/>
                      </a:solidFill>
                      <a:prstDash val="solid"/>
                      <a:round/>
                      <a:headEnd type="none" w="med" len="med"/>
                      <a:tailEnd type="none" w="med" len="med"/>
                    </a:lnT>
                    <a:lnB w="12700" cap="flat" cmpd="sng" algn="ctr">
                      <a:solidFill>
                        <a:srgbClr val="DDE4EF"/>
                      </a:solidFill>
                      <a:prstDash val="solid"/>
                      <a:round/>
                      <a:headEnd type="none" w="med" len="med"/>
                      <a:tailEnd type="none" w="med" len="med"/>
                    </a:lnB>
                  </a:tcPr>
                </a:tc>
              </a:tr>
              <a:tr h="502920">
                <a:tc>
                  <a:txBody>
                    <a:bodyPr/>
                    <a:lstStyle/>
                    <a:p>
                      <a:pPr indent="0" marL="0">
                        <a:buNone/>
                      </a:pPr>
                      <a:r>
                        <a:rPr lang="en-US" sz="1600" dirty="0">
                          <a:solidFill>
                            <a:srgbClr val="0F1B33"/>
                          </a:solidFill>
                          <a:latin typeface="Calibri" pitchFamily="34" charset="0"/>
                          <a:ea typeface="Calibri" pitchFamily="34" charset="-122"/>
                          <a:cs typeface="Calibri" pitchFamily="34" charset="-120"/>
                        </a:rPr>
                        <a:t>packages/</a:t>
                      </a:r>
                      <a:endParaRPr lang="en-US" sz="1600" dirty="0">
                        <a:latin typeface="Calibri" charset="0"/>
                        <a:ea typeface="Calibri" charset="0"/>
                        <a:cs typeface="Calibri" charset="0"/>
                      </a:endParaRPr>
                    </a:p>
                  </a:txBody>
                  <a:tcPr marL="91440" marR="91440" marT="45720" marB="45720">
                    <a:lnL w="12700" cap="flat" cmpd="sng" algn="ctr">
                      <a:solidFill>
                        <a:srgbClr val="DDE4EF"/>
                      </a:solidFill>
                      <a:prstDash val="solid"/>
                      <a:round/>
                      <a:headEnd type="none" w="med" len="med"/>
                      <a:tailEnd type="none" w="med" len="med"/>
                    </a:lnL>
                    <a:lnR w="12700" cap="flat" cmpd="sng" algn="ctr">
                      <a:solidFill>
                        <a:srgbClr val="DDE4EF"/>
                      </a:solidFill>
                      <a:prstDash val="solid"/>
                      <a:round/>
                      <a:headEnd type="none" w="med" len="med"/>
                      <a:tailEnd type="none" w="med" len="med"/>
                    </a:lnR>
                    <a:lnT w="12700" cap="flat" cmpd="sng" algn="ctr">
                      <a:solidFill>
                        <a:srgbClr val="DDE4EF"/>
                      </a:solidFill>
                      <a:prstDash val="solid"/>
                      <a:round/>
                      <a:headEnd type="none" w="med" len="med"/>
                      <a:tailEnd type="none" w="med" len="med"/>
                    </a:lnT>
                    <a:lnB w="12700" cap="flat" cmpd="sng" algn="ctr">
                      <a:solidFill>
                        <a:srgbClr val="DDE4EF"/>
                      </a:solidFill>
                      <a:prstDash val="solid"/>
                      <a:round/>
                      <a:headEnd type="none" w="med" len="med"/>
                      <a:tailEnd type="none" w="med" len="med"/>
                    </a:lnB>
                  </a:tcPr>
                </a:tc>
                <a:tc>
                  <a:txBody>
                    <a:bodyPr/>
                    <a:lstStyle/>
                    <a:p>
                      <a:pPr indent="0" marL="0">
                        <a:buNone/>
                      </a:pPr>
                      <a:r>
                        <a:rPr lang="en-US" sz="1600" dirty="0">
                          <a:solidFill>
                            <a:srgbClr val="0F1B33"/>
                          </a:solidFill>
                          <a:latin typeface="Calibri" pitchFamily="34" charset="0"/>
                          <a:ea typeface="Calibri" pitchFamily="34" charset="-122"/>
                          <a:cs typeface="Calibri" pitchFamily="34" charset="-120"/>
                        </a:rPr>
                        <a:t>Shared profile loaders and look</a:t>
                      </a:r>
                      <a:endParaRPr lang="en-US" sz="1600" dirty="0">
                        <a:latin typeface="Calibri" charset="0"/>
                        <a:ea typeface="Calibri" charset="0"/>
                        <a:cs typeface="Calibri" charset="0"/>
                      </a:endParaRPr>
                    </a:p>
                  </a:txBody>
                  <a:tcPr marL="91440" marR="91440" marT="45720" marB="45720">
                    <a:lnL w="12700" cap="flat" cmpd="sng" algn="ctr">
                      <a:solidFill>
                        <a:srgbClr val="DDE4EF"/>
                      </a:solidFill>
                      <a:prstDash val="solid"/>
                      <a:round/>
                      <a:headEnd type="none" w="med" len="med"/>
                      <a:tailEnd type="none" w="med" len="med"/>
                    </a:lnL>
                    <a:lnR w="12700" cap="flat" cmpd="sng" algn="ctr">
                      <a:solidFill>
                        <a:srgbClr val="DDE4EF"/>
                      </a:solidFill>
                      <a:prstDash val="solid"/>
                      <a:round/>
                      <a:headEnd type="none" w="med" len="med"/>
                      <a:tailEnd type="none" w="med" len="med"/>
                    </a:lnR>
                    <a:lnT w="12700" cap="flat" cmpd="sng" algn="ctr">
                      <a:solidFill>
                        <a:srgbClr val="DDE4EF"/>
                      </a:solidFill>
                      <a:prstDash val="solid"/>
                      <a:round/>
                      <a:headEnd type="none" w="med" len="med"/>
                      <a:tailEnd type="none" w="med" len="med"/>
                    </a:lnT>
                    <a:lnB w="12700" cap="flat" cmpd="sng" algn="ctr">
                      <a:solidFill>
                        <a:srgbClr val="DDE4EF"/>
                      </a:solidFill>
                      <a:prstDash val="solid"/>
                      <a:round/>
                      <a:headEnd type="none" w="med" len="med"/>
                      <a:tailEnd type="none" w="med" len="med"/>
                    </a:lnB>
                  </a:tcPr>
                </a:tc>
                <a:tc>
                  <a:txBody>
                    <a:bodyPr/>
                    <a:lstStyle/>
                    <a:p>
                      <a:pPr indent="0" marL="0">
                        <a:buNone/>
                      </a:pPr>
                      <a:r>
                        <a:rPr lang="en-US" sz="1600" dirty="0">
                          <a:solidFill>
                            <a:srgbClr val="0F1B33"/>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91440" marR="91440" marT="45720" marB="45720">
                    <a:lnL w="12700" cap="flat" cmpd="sng" algn="ctr">
                      <a:solidFill>
                        <a:srgbClr val="DDE4EF"/>
                      </a:solidFill>
                      <a:prstDash val="solid"/>
                      <a:round/>
                      <a:headEnd type="none" w="med" len="med"/>
                      <a:tailEnd type="none" w="med" len="med"/>
                    </a:lnL>
                    <a:lnR w="12700" cap="flat" cmpd="sng" algn="ctr">
                      <a:solidFill>
                        <a:srgbClr val="DDE4EF"/>
                      </a:solidFill>
                      <a:prstDash val="solid"/>
                      <a:round/>
                      <a:headEnd type="none" w="med" len="med"/>
                      <a:tailEnd type="none" w="med" len="med"/>
                    </a:lnR>
                    <a:lnT w="12700" cap="flat" cmpd="sng" algn="ctr">
                      <a:solidFill>
                        <a:srgbClr val="DDE4EF"/>
                      </a:solidFill>
                      <a:prstDash val="solid"/>
                      <a:round/>
                      <a:headEnd type="none" w="med" len="med"/>
                      <a:tailEnd type="none" w="med" len="med"/>
                    </a:lnT>
                    <a:lnB w="12700" cap="flat" cmpd="sng" algn="ctr">
                      <a:solidFill>
                        <a:srgbClr val="DDE4EF"/>
                      </a:solidFill>
                      <a:prstDash val="solid"/>
                      <a:round/>
                      <a:headEnd type="none" w="med" len="med"/>
                      <a:tailEnd type="none" w="med" len="med"/>
                    </a:lnB>
                  </a:tcPr>
                </a:tc>
              </a:tr>
              <a:tr h="502920">
                <a:tc>
                  <a:txBody>
                    <a:bodyPr/>
                    <a:lstStyle/>
                    <a:p>
                      <a:pPr indent="0" marL="0">
                        <a:buNone/>
                      </a:pPr>
                      <a:r>
                        <a:rPr lang="en-US" sz="1600" dirty="0">
                          <a:solidFill>
                            <a:srgbClr val="0F1B33"/>
                          </a:solidFill>
                          <a:latin typeface="Calibri" pitchFamily="34" charset="0"/>
                          <a:ea typeface="Calibri" pitchFamily="34" charset="-122"/>
                          <a:cs typeface="Calibri" pitchFamily="34" charset="-120"/>
                        </a:rPr>
                        <a:t>tools/ , demo/ , docs/</a:t>
                      </a:r>
                      <a:endParaRPr lang="en-US" sz="1600" dirty="0">
                        <a:latin typeface="Calibri" charset="0"/>
                        <a:ea typeface="Calibri" charset="0"/>
                        <a:cs typeface="Calibri" charset="0"/>
                      </a:endParaRPr>
                    </a:p>
                  </a:txBody>
                  <a:tcPr marL="91440" marR="91440" marT="45720" marB="45720">
                    <a:lnL w="12700" cap="flat" cmpd="sng" algn="ctr">
                      <a:solidFill>
                        <a:srgbClr val="DDE4EF"/>
                      </a:solidFill>
                      <a:prstDash val="solid"/>
                      <a:round/>
                      <a:headEnd type="none" w="med" len="med"/>
                      <a:tailEnd type="none" w="med" len="med"/>
                    </a:lnL>
                    <a:lnR w="12700" cap="flat" cmpd="sng" algn="ctr">
                      <a:solidFill>
                        <a:srgbClr val="DDE4EF"/>
                      </a:solidFill>
                      <a:prstDash val="solid"/>
                      <a:round/>
                      <a:headEnd type="none" w="med" len="med"/>
                      <a:tailEnd type="none" w="med" len="med"/>
                    </a:lnR>
                    <a:lnT w="12700" cap="flat" cmpd="sng" algn="ctr">
                      <a:solidFill>
                        <a:srgbClr val="DDE4EF"/>
                      </a:solidFill>
                      <a:prstDash val="solid"/>
                      <a:round/>
                      <a:headEnd type="none" w="med" len="med"/>
                      <a:tailEnd type="none" w="med" len="med"/>
                    </a:lnT>
                    <a:lnB w="12700" cap="flat" cmpd="sng" algn="ctr">
                      <a:solidFill>
                        <a:srgbClr val="DDE4EF"/>
                      </a:solidFill>
                      <a:prstDash val="solid"/>
                      <a:round/>
                      <a:headEnd type="none" w="med" len="med"/>
                      <a:tailEnd type="none" w="med" len="med"/>
                    </a:lnB>
                  </a:tcPr>
                </a:tc>
                <a:tc>
                  <a:txBody>
                    <a:bodyPr/>
                    <a:lstStyle/>
                    <a:p>
                      <a:pPr indent="0" marL="0">
                        <a:buNone/>
                      </a:pPr>
                      <a:r>
                        <a:rPr lang="en-US" sz="1600" dirty="0">
                          <a:solidFill>
                            <a:srgbClr val="0F1B33"/>
                          </a:solidFill>
                          <a:latin typeface="Calibri" pitchFamily="34" charset="0"/>
                          <a:ea typeface="Calibri" pitchFamily="34" charset="-122"/>
                          <a:cs typeface="Calibri" pitchFamily="34" charset="-120"/>
                        </a:rPr>
                        <a:t>Probes, demo script, all documentation</a:t>
                      </a:r>
                      <a:endParaRPr lang="en-US" sz="1600" dirty="0">
                        <a:latin typeface="Calibri" charset="0"/>
                        <a:ea typeface="Calibri" charset="0"/>
                        <a:cs typeface="Calibri" charset="0"/>
                      </a:endParaRPr>
                    </a:p>
                  </a:txBody>
                  <a:tcPr marL="91440" marR="91440" marT="45720" marB="45720">
                    <a:lnL w="12700" cap="flat" cmpd="sng" algn="ctr">
                      <a:solidFill>
                        <a:srgbClr val="DDE4EF"/>
                      </a:solidFill>
                      <a:prstDash val="solid"/>
                      <a:round/>
                      <a:headEnd type="none" w="med" len="med"/>
                      <a:tailEnd type="none" w="med" len="med"/>
                    </a:lnL>
                    <a:lnR w="12700" cap="flat" cmpd="sng" algn="ctr">
                      <a:solidFill>
                        <a:srgbClr val="DDE4EF"/>
                      </a:solidFill>
                      <a:prstDash val="solid"/>
                      <a:round/>
                      <a:headEnd type="none" w="med" len="med"/>
                      <a:tailEnd type="none" w="med" len="med"/>
                    </a:lnR>
                    <a:lnT w="12700" cap="flat" cmpd="sng" algn="ctr">
                      <a:solidFill>
                        <a:srgbClr val="DDE4EF"/>
                      </a:solidFill>
                      <a:prstDash val="solid"/>
                      <a:round/>
                      <a:headEnd type="none" w="med" len="med"/>
                      <a:tailEnd type="none" w="med" len="med"/>
                    </a:lnT>
                    <a:lnB w="12700" cap="flat" cmpd="sng" algn="ctr">
                      <a:solidFill>
                        <a:srgbClr val="DDE4EF"/>
                      </a:solidFill>
                      <a:prstDash val="solid"/>
                      <a:round/>
                      <a:headEnd type="none" w="med" len="med"/>
                      <a:tailEnd type="none" w="med" len="med"/>
                    </a:lnB>
                  </a:tcPr>
                </a:tc>
                <a:tc>
                  <a:txBody>
                    <a:bodyPr/>
                    <a:lstStyle/>
                    <a:p>
                      <a:pPr indent="0" marL="0">
                        <a:buNone/>
                      </a:pPr>
                      <a:r>
                        <a:rPr lang="en-US" sz="1600" dirty="0">
                          <a:solidFill>
                            <a:srgbClr val="0F1B33"/>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91440" marR="91440" marT="45720" marB="45720">
                    <a:lnL w="12700" cap="flat" cmpd="sng" algn="ctr">
                      <a:solidFill>
                        <a:srgbClr val="DDE4EF"/>
                      </a:solidFill>
                      <a:prstDash val="solid"/>
                      <a:round/>
                      <a:headEnd type="none" w="med" len="med"/>
                      <a:tailEnd type="none" w="med" len="med"/>
                    </a:lnL>
                    <a:lnR w="12700" cap="flat" cmpd="sng" algn="ctr">
                      <a:solidFill>
                        <a:srgbClr val="DDE4EF"/>
                      </a:solidFill>
                      <a:prstDash val="solid"/>
                      <a:round/>
                      <a:headEnd type="none" w="med" len="med"/>
                      <a:tailEnd type="none" w="med" len="med"/>
                    </a:lnR>
                    <a:lnT w="12700" cap="flat" cmpd="sng" algn="ctr">
                      <a:solidFill>
                        <a:srgbClr val="DDE4EF"/>
                      </a:solidFill>
                      <a:prstDash val="solid"/>
                      <a:round/>
                      <a:headEnd type="none" w="med" len="med"/>
                      <a:tailEnd type="none" w="med" len="med"/>
                    </a:lnT>
                    <a:lnB w="12700" cap="flat" cmpd="sng" algn="ctr">
                      <a:solidFill>
                        <a:srgbClr val="DDE4EF"/>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2607A"/>
                </a:solidFill>
                <a:latin typeface="Calibri"/>
                <a:ea typeface="Calibri"/>
                <a:cs typeface="Calibri"/>
              </a:defRPr>
            </a:lvl1pPr>
          </a:lstStyle>
          <a:p>
            <a:pPr algn="l"/>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One login, extra proof only when it matters</dc:title>
  <dc:subject>PptxGenJS Presentation</dc:subject>
  <dc:creator>Acme Bank SSO step-up PoC</dc:creator>
  <cp:lastModifiedBy>Acme Bank SSO step-up PoC</cp:lastModifiedBy>
  <cp:revision>1</cp:revision>
  <dcterms:created xsi:type="dcterms:W3CDTF">2026-10-23T14:48:00Z</dcterms:created>
  <dcterms:modified xsi:type="dcterms:W3CDTF">2026-10-23T14:48:00Z</dcterms:modified>
</cp:coreProperties>
</file>